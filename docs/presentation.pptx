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y="5143500" cx="9144000"/>
  <p:notesSz cx="6858000" cy="9144000"/>
  <p:embeddedFontLst>
    <p:embeddedFont>
      <p:font typeface="Roboto"/>
      <p:regular r:id="rId36"/>
      <p:bold r:id="rId37"/>
      <p:italic r:id="rId38"/>
      <p:boldItalic r:id="rId39"/>
    </p:embeddedFont>
    <p:embeddedFont>
      <p:font typeface="Nunito"/>
      <p:regular r:id="rId40"/>
      <p:bold r:id="rId41"/>
      <p:italic r:id="rId42"/>
      <p:bold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Nunito-regular.fntdata"/><Relationship Id="rId20" Type="http://schemas.openxmlformats.org/officeDocument/2006/relationships/slide" Target="slides/slide15.xml"/><Relationship Id="rId42" Type="http://schemas.openxmlformats.org/officeDocument/2006/relationships/font" Target="fonts/Nunito-italic.fntdata"/><Relationship Id="rId41" Type="http://schemas.openxmlformats.org/officeDocument/2006/relationships/font" Target="fonts/Nunito-bold.fntdata"/><Relationship Id="rId22" Type="http://schemas.openxmlformats.org/officeDocument/2006/relationships/slide" Target="slides/slide17.xml"/><Relationship Id="rId21" Type="http://schemas.openxmlformats.org/officeDocument/2006/relationships/slide" Target="slides/slide16.xml"/><Relationship Id="rId43" Type="http://schemas.openxmlformats.org/officeDocument/2006/relationships/font" Target="fonts/Nunito-boldItalic.fntdata"/><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Roboto-bold.fntdata"/><Relationship Id="rId14" Type="http://schemas.openxmlformats.org/officeDocument/2006/relationships/slide" Target="slides/slide9.xml"/><Relationship Id="rId36" Type="http://schemas.openxmlformats.org/officeDocument/2006/relationships/font" Target="fonts/Roboto-regular.fntdata"/><Relationship Id="rId17" Type="http://schemas.openxmlformats.org/officeDocument/2006/relationships/slide" Target="slides/slide12.xml"/><Relationship Id="rId39" Type="http://schemas.openxmlformats.org/officeDocument/2006/relationships/font" Target="fonts/Roboto-boldItalic.fntdata"/><Relationship Id="rId16" Type="http://schemas.openxmlformats.org/officeDocument/2006/relationships/slide" Target="slides/slide11.xml"/><Relationship Id="rId38" Type="http://schemas.openxmlformats.org/officeDocument/2006/relationships/font" Target="fonts/Roboto-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n.wikipedia.org/wiki/Probability" TargetMode="External"/><Relationship Id="rId3" Type="http://schemas.openxmlformats.org/officeDocument/2006/relationships/hyperlink" Target="https://en.wikipedia.org/wiki/Event_(probability_theory)"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Hello Everyone !!! I hope everyone is doing good !!!! Welcome to SPAMbase !!! Our team consists Xinrui, YangYang, Min and Yihan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2a1d0d502bd_0_3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2a1d0d502bd_0_3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As you can see on the slide where a husky is sniffing out the spam mails and I am sure we huskies in the team has done very good job in filtering the spam mails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2a1a66ebdf0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2a1a66ebdf0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Let me give you a tour of general workflow on this !!! </a:t>
            </a:r>
            <a:r>
              <a:rPr lang="en"/>
              <a:t>Our objective is to </a:t>
            </a:r>
            <a:r>
              <a:rPr lang="en"/>
              <a:t>build</a:t>
            </a:r>
            <a:r>
              <a:rPr lang="en"/>
              <a:t> a robust spam filtering mails using Bayes Theorem !! Let me handover to Xinrui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2a1d0d502bd_0_3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2a1d0d502bd_0_3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2a1a66ebdf0_0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2a1a66ebdf0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Bayes’ theorem is the most fundamental concept in probability theory. </a:t>
            </a:r>
            <a:r>
              <a:rPr lang="en" sz="1050">
                <a:solidFill>
                  <a:srgbClr val="202122"/>
                </a:solidFill>
                <a:highlight>
                  <a:srgbClr val="FFFFFF"/>
                </a:highlight>
              </a:rPr>
              <a:t> </a:t>
            </a:r>
            <a:r>
              <a:rPr lang="en" sz="1050">
                <a:solidFill>
                  <a:srgbClr val="3366CC"/>
                </a:solidFill>
                <a:highlight>
                  <a:srgbClr val="FFFFFF"/>
                </a:highlight>
                <a:uFill>
                  <a:noFill/>
                </a:uFill>
                <a:hlinkClick r:id="rId2">
                  <a:extLst>
                    <a:ext uri="{A12FA001-AC4F-418D-AE19-62706E023703}">
                      <ahyp:hlinkClr val="tx"/>
                    </a:ext>
                  </a:extLst>
                </a:hlinkClick>
              </a:rPr>
              <a:t>probability</a:t>
            </a:r>
            <a:r>
              <a:rPr lang="en" sz="1050">
                <a:solidFill>
                  <a:srgbClr val="202122"/>
                </a:solidFill>
                <a:highlight>
                  <a:srgbClr val="FFFFFF"/>
                </a:highlight>
              </a:rPr>
              <a:t> of an </a:t>
            </a:r>
            <a:r>
              <a:rPr lang="en" sz="1050">
                <a:solidFill>
                  <a:srgbClr val="3366CC"/>
                </a:solidFill>
                <a:highlight>
                  <a:srgbClr val="FFFFFF"/>
                </a:highlight>
                <a:uFill>
                  <a:noFill/>
                </a:uFill>
                <a:hlinkClick r:id="rId3">
                  <a:extLst>
                    <a:ext uri="{A12FA001-AC4F-418D-AE19-62706E023703}">
                      <ahyp:hlinkClr val="tx"/>
                    </a:ext>
                  </a:extLst>
                </a:hlinkClick>
              </a:rPr>
              <a:t>event</a:t>
            </a:r>
            <a:r>
              <a:rPr lang="en" sz="1050">
                <a:solidFill>
                  <a:srgbClr val="202122"/>
                </a:solidFill>
                <a:highlight>
                  <a:srgbClr val="FFFFFF"/>
                </a:highlight>
              </a:rPr>
              <a:t>, based on prior knowledge of conditions that might be related to the event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2a1d0d502bd_2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2a1d0d502bd_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2a1d0d502bd_2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2a1d0d502bd_2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2a2457785b6_1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2a2457785b6_1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2a1a66ebdf0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2a1a66ebdf0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Hello, everyone! The </a:t>
            </a:r>
            <a:r>
              <a:rPr lang="en"/>
              <a:t>second</a:t>
            </a:r>
            <a:r>
              <a:rPr lang="en"/>
              <a:t> part of our project is about data processing. Our data is from UC Irvine Machine Learning Repository called SMS Spam Collection. The data processing is very important. Because data is the input of models, if it is well-organized, it will boost your </a:t>
            </a:r>
            <a:r>
              <a:rPr lang="en"/>
              <a:t>efficiency through the whole project and can help you better understand the relationship between features.</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2a1a66ebdf0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2a1a66ebdf0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divide the data into two sections, 25 percent for testing and 75 percent for training. They are all </a:t>
            </a:r>
            <a:r>
              <a:rPr lang="en"/>
              <a:t>original text format. In this way, model can be evaluated by the new, unseen data.</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2a1a66ebdf0_0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2a1a66ebdf0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 how it works? There is an example. Firstly when we receive the letter, it will be splitted into words by space and punctuation.Then we got a matrix. Each row represents a document so the first line is letter 1. It has three words so there are three one. And then each c</a:t>
            </a:r>
            <a:r>
              <a:rPr lang="en" sz="1200">
                <a:solidFill>
                  <a:srgbClr val="374151"/>
                </a:solidFill>
                <a:latin typeface="Roboto"/>
                <a:ea typeface="Roboto"/>
                <a:cs typeface="Roboto"/>
                <a:sym typeface="Roboto"/>
              </a:rPr>
              <a:t>olumn represents a unique term. For example the first column is for the word I. In this way, data will be ready for the training model.</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2a2457785b6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2a2457785b6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2a1d0d502bd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2a1d0d502bd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only use two lines of code to train the model.</a:t>
            </a:r>
            <a:endParaRPr/>
          </a:p>
          <a:p>
            <a:pPr indent="0" lvl="0" marL="0" rtl="0" algn="l">
              <a:spcBef>
                <a:spcPts val="0"/>
              </a:spcBef>
              <a:spcAft>
                <a:spcPts val="0"/>
              </a:spcAft>
              <a:buNone/>
            </a:pPr>
            <a:r>
              <a:rPr lang="en"/>
              <a:t>How does it work? Let’s see!</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2a1d0d502bd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2a1d0d502bd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 Based on the Baye’s </a:t>
            </a:r>
            <a:r>
              <a:rPr lang="en"/>
              <a:t>theorem</a:t>
            </a:r>
            <a:r>
              <a:rPr lang="en"/>
              <a:t>, we know that, to recognize the spam email, the main task for us is to compare these two </a:t>
            </a:r>
            <a:r>
              <a:rPr lang="en"/>
              <a:t>probability</a:t>
            </a:r>
            <a:r>
              <a:rPr lang="en"/>
              <a:t>.</a:t>
            </a:r>
            <a:endParaRPr/>
          </a:p>
          <a:p>
            <a:pPr indent="-298450" lvl="0" marL="457200" rtl="0" algn="l">
              <a:spcBef>
                <a:spcPts val="0"/>
              </a:spcBef>
              <a:spcAft>
                <a:spcPts val="0"/>
              </a:spcAft>
              <a:buSzPts val="1100"/>
              <a:buAutoNum type="arabicPeriod"/>
            </a:pPr>
            <a:r>
              <a:rPr lang="en"/>
              <a:t>Before that, we have to </a:t>
            </a:r>
            <a:r>
              <a:rPr lang="en"/>
              <a:t>calculate these two parameters first using this formula. </a:t>
            </a:r>
            <a:r>
              <a:rPr lang="en">
                <a:solidFill>
                  <a:schemeClr val="dk1"/>
                </a:solidFill>
              </a:rPr>
              <a:t>Let’s see, we have 3 parameters</a:t>
            </a:r>
            <a:endParaRPr/>
          </a:p>
          <a:p>
            <a:pPr indent="-298450" lvl="1" marL="914400" rtl="0" algn="l">
              <a:spcBef>
                <a:spcPts val="0"/>
              </a:spcBef>
              <a:spcAft>
                <a:spcPts val="0"/>
              </a:spcAft>
              <a:buSzPts val="1100"/>
              <a:buAutoNum type="alphaLcPeriod"/>
            </a:pPr>
            <a:r>
              <a:rPr lang="en"/>
              <a:t>P(ham)/P(spam) and P(words): the ratio of these two kinds of email are based on each database, and the frequency of the words are based on each email —&gt; so these two parameters are really based on the database we use, we can calculate it beforehand</a:t>
            </a:r>
            <a:endParaRPr/>
          </a:p>
          <a:p>
            <a:pPr indent="-298450" lvl="1" marL="914400" rtl="0" algn="l">
              <a:spcBef>
                <a:spcPts val="0"/>
              </a:spcBef>
              <a:spcAft>
                <a:spcPts val="0"/>
              </a:spcAft>
              <a:buSzPts val="1100"/>
              <a:buAutoNum type="alphaLcPeriod"/>
            </a:pPr>
            <a:r>
              <a:rPr lang="en"/>
              <a:t>So what we really want to find when training: is the probability of, if it is a ham or spam email, what is the frequency of every words</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2a1d0d502bd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2a1d0d502bd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same with these probability</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2a1d0d502bd_0_2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2a1d0d502bd_0_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2. After calculation, now we can </a:t>
            </a:r>
            <a:r>
              <a:rPr lang="en"/>
              <a:t>compare these two probability</a:t>
            </a:r>
            <a:endParaRPr/>
          </a:p>
          <a:p>
            <a:pPr indent="0" lvl="0" marL="0" rtl="0" algn="l">
              <a:spcBef>
                <a:spcPts val="0"/>
              </a:spcBef>
              <a:spcAft>
                <a:spcPts val="0"/>
              </a:spcAft>
              <a:buNone/>
            </a:pPr>
            <a:r>
              <a:rPr lang="en"/>
              <a:t>One thing we have to pay attention is that:</a:t>
            </a:r>
            <a:endParaRPr/>
          </a:p>
          <a:p>
            <a:pPr indent="-298450" lvl="0" marL="914400" rtl="0" algn="l">
              <a:spcBef>
                <a:spcPts val="0"/>
              </a:spcBef>
              <a:spcAft>
                <a:spcPts val="0"/>
              </a:spcAft>
              <a:buSzPts val="1100"/>
              <a:buAutoNum type="arabicPeriod"/>
            </a:pPr>
            <a:r>
              <a:rPr lang="en"/>
              <a:t>The denominator are the same</a:t>
            </a:r>
            <a:endParaRPr/>
          </a:p>
          <a:p>
            <a:pPr indent="-298450" lvl="0" marL="914400" rtl="0" algn="l">
              <a:spcBef>
                <a:spcPts val="0"/>
              </a:spcBef>
              <a:spcAft>
                <a:spcPts val="0"/>
              </a:spcAft>
              <a:buSzPts val="1100"/>
              <a:buAutoNum type="arabicPeriod"/>
            </a:pPr>
            <a:r>
              <a:rPr lang="en"/>
              <a:t>So we only need to get two training data:</a:t>
            </a:r>
            <a:endParaRPr/>
          </a:p>
          <a:p>
            <a:pPr indent="-298450" lvl="1" marL="1371600" rtl="0" algn="l">
              <a:spcBef>
                <a:spcPts val="0"/>
              </a:spcBef>
              <a:spcAft>
                <a:spcPts val="0"/>
              </a:spcAft>
              <a:buSzPts val="1100"/>
              <a:buAutoNum type="alphaLcPeriod"/>
            </a:pPr>
            <a:r>
              <a:rPr lang="en"/>
              <a:t>The ratio of the spam and ham in the database</a:t>
            </a:r>
            <a:endParaRPr/>
          </a:p>
          <a:p>
            <a:pPr indent="-298450" lvl="1" marL="1371600" rtl="0" algn="l">
              <a:spcBef>
                <a:spcPts val="0"/>
              </a:spcBef>
              <a:spcAft>
                <a:spcPts val="0"/>
              </a:spcAft>
              <a:buSzPts val="1100"/>
              <a:buAutoNum type="alphaLcPeriod"/>
            </a:pPr>
            <a:r>
              <a:rPr lang="en"/>
              <a:t>In spam and ham, the frequency of each words</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2a1d0d502bd_0_3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2a1d0d502bd_0_3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Let’s the training process</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2a1d0d502bd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2a1d0d502bd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Remember, the main task is the find two </a:t>
            </a:r>
            <a:r>
              <a:rPr lang="en"/>
              <a:t>parameters</a:t>
            </a:r>
            <a:endParaRPr/>
          </a:p>
          <a:p>
            <a:pPr indent="-298450" lvl="0" marL="457200" rtl="0" algn="l">
              <a:spcBef>
                <a:spcPts val="0"/>
              </a:spcBef>
              <a:spcAft>
                <a:spcPts val="0"/>
              </a:spcAft>
              <a:buSzPts val="1100"/>
              <a:buAutoNum type="arabicPeriod"/>
            </a:pPr>
            <a:r>
              <a:rPr lang="en"/>
              <a:t>First, for the whole database, we calculate the probability of spam the ham email</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2a1d0d502bd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2a1d0d502bd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2. And for each email, each words, let’s just pick some words for example</a:t>
            </a:r>
            <a:endParaRPr/>
          </a:p>
          <a:p>
            <a:pPr indent="0" lvl="0" marL="0" rtl="0" algn="l">
              <a:spcBef>
                <a:spcPts val="0"/>
              </a:spcBef>
              <a:spcAft>
                <a:spcPts val="0"/>
              </a:spcAft>
              <a:buNone/>
            </a:pPr>
            <a:r>
              <a:rPr lang="en"/>
              <a:t>	We got the matrix, which is </a:t>
            </a:r>
            <a:r>
              <a:rPr lang="en"/>
              <a:t>the</a:t>
            </a:r>
            <a:r>
              <a:rPr lang="en"/>
              <a:t> </a:t>
            </a:r>
            <a:r>
              <a:rPr lang="en"/>
              <a:t>frequency</a:t>
            </a:r>
            <a:r>
              <a:rPr lang="en"/>
              <a:t> of them in an email</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2a1d0d502bd_0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2a1d0d502bd_0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And then </a:t>
            </a:r>
            <a:r>
              <a:rPr lang="en"/>
              <a:t>calculate the second parameter</a:t>
            </a:r>
            <a:endParaRPr/>
          </a:p>
          <a:p>
            <a:pPr indent="0" lvl="0" marL="0" rtl="0" algn="l">
              <a:spcBef>
                <a:spcPts val="0"/>
              </a:spcBef>
              <a:spcAft>
                <a:spcPts val="0"/>
              </a:spcAft>
              <a:buNone/>
            </a:pPr>
            <a:r>
              <a:rPr lang="en"/>
              <a:t>This is a bar chart showing the frequency of every words</a:t>
            </a:r>
            <a:endParaRPr/>
          </a:p>
          <a:p>
            <a:pPr indent="0" lvl="0" marL="0" rtl="0" algn="l">
              <a:spcBef>
                <a:spcPts val="0"/>
              </a:spcBef>
              <a:spcAft>
                <a:spcPts val="0"/>
              </a:spcAft>
              <a:buNone/>
            </a:pPr>
            <a:r>
              <a:rPr lang="en"/>
              <a:t>For example, the word “win”:</a:t>
            </a:r>
            <a:endParaRPr/>
          </a:p>
          <a:p>
            <a:pPr indent="-298450" lvl="0" marL="457200" rtl="0" algn="l">
              <a:spcBef>
                <a:spcPts val="0"/>
              </a:spcBef>
              <a:spcAft>
                <a:spcPts val="0"/>
              </a:spcAft>
              <a:buSzPts val="1100"/>
              <a:buAutoNum type="arabicPeriod"/>
            </a:pPr>
            <a:r>
              <a:rPr lang="en"/>
              <a:t>It has occurred 20 times totally</a:t>
            </a:r>
            <a:endParaRPr/>
          </a:p>
          <a:p>
            <a:pPr indent="-298450" lvl="1" marL="914400" rtl="0" algn="l">
              <a:spcBef>
                <a:spcPts val="0"/>
              </a:spcBef>
              <a:spcAft>
                <a:spcPts val="0"/>
              </a:spcAft>
              <a:buSzPts val="1100"/>
              <a:buAutoNum type="alphaLcPeriod"/>
            </a:pPr>
            <a:r>
              <a:rPr lang="en"/>
              <a:t>In spam email, it has occurred 18 times</a:t>
            </a:r>
            <a:endParaRPr/>
          </a:p>
          <a:p>
            <a:pPr indent="-298450" lvl="1" marL="914400" rtl="0" algn="l">
              <a:spcBef>
                <a:spcPts val="0"/>
              </a:spcBef>
              <a:spcAft>
                <a:spcPts val="0"/>
              </a:spcAft>
              <a:buSzPts val="1100"/>
              <a:buAutoNum type="alphaLcPeriod"/>
            </a:pPr>
            <a:r>
              <a:rPr lang="en"/>
              <a:t>So we use 2 divided by 20 to get the probability is 0.1</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same with the following probability</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2a1d0d502bd_0_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2a1d0d502bd_0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we have worked </a:t>
            </a:r>
            <a:r>
              <a:rPr lang="en"/>
              <a:t>out</a:t>
            </a:r>
            <a:r>
              <a:rPr lang="en"/>
              <a:t> the two parameters we want, so we </a:t>
            </a:r>
            <a:r>
              <a:rPr lang="en"/>
              <a:t>apply these data to the formula</a:t>
            </a:r>
            <a:endParaRPr/>
          </a:p>
          <a:p>
            <a:pPr indent="-298450" lvl="0" marL="457200" rtl="0" algn="l">
              <a:spcBef>
                <a:spcPts val="0"/>
              </a:spcBef>
              <a:spcAft>
                <a:spcPts val="0"/>
              </a:spcAft>
              <a:buSzPts val="1100"/>
              <a:buAutoNum type="arabicPeriod"/>
            </a:pPr>
            <a:r>
              <a:rPr lang="en"/>
              <a:t>For the probability of spam in the condition of the words is 0.08</a:t>
            </a:r>
            <a:endParaRPr/>
          </a:p>
          <a:p>
            <a:pPr indent="-298450" lvl="0" marL="457200" rtl="0" algn="l">
              <a:spcBef>
                <a:spcPts val="0"/>
              </a:spcBef>
              <a:spcAft>
                <a:spcPts val="0"/>
              </a:spcAft>
              <a:buSzPts val="1100"/>
              <a:buAutoNum type="arabicPeriod"/>
            </a:pPr>
            <a:r>
              <a:rPr lang="en"/>
              <a:t>For the other one is 0.002</a:t>
            </a:r>
            <a:endParaRPr/>
          </a:p>
          <a:p>
            <a:pPr indent="-298450" lvl="0" marL="457200" rtl="0" algn="l">
              <a:spcBef>
                <a:spcPts val="0"/>
              </a:spcBef>
              <a:spcAft>
                <a:spcPts val="0"/>
              </a:spcAft>
              <a:buSzPts val="1100"/>
              <a:buAutoNum type="arabicPeriod"/>
            </a:pPr>
            <a:r>
              <a:rPr lang="en"/>
              <a:t>So Definitely the Probability of spam email is more than ham email</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2a1d0d502bd_0_4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1" name="Google Shape;401;g2a1d0d502bd_0_4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 the final result is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2a1d0d502bd_0_4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1" name="Google Shape;411;g2a1d0d502bd_0_4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Yeah so that’s how it works</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2a1d0d502bd_0_3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7" name="Google Shape;417;g2a1d0d502bd_0_3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2a1a66ebdf0_0_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2" name="Google Shape;422;g2a1a66ebdf0_0_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2a1d0d51385_3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8" name="Google Shape;428;g2a1d0d51385_3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2a1d0d51385_3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4" name="Google Shape;434;g2a1d0d51385_3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2a1d0d51385_3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2" name="Google Shape;442;g2a1d0d51385_3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2a1a66ebdf0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2a1a66ebdf0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have presented the model’s performances and </a:t>
            </a:r>
            <a:r>
              <a:rPr lang="en"/>
              <a:t>their</a:t>
            </a:r>
            <a:r>
              <a:rPr lang="en"/>
              <a:t> metrics all the way long !!! We </a:t>
            </a:r>
            <a:r>
              <a:rPr lang="en"/>
              <a:t>addressed areas for improvements and potential enhancements !!! Displayed the metrics all along !!! Thank you everybody for listening I hope you understood our project well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2a1a66ebdf0_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4" name="Google Shape;454;g2a1a66ebdf0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9"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509632"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255200"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1159826"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905395"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7279439"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6917201"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 name="Google Shape;34;p2"/>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35" name="Google Shape;35;p2"/>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36" name="Google Shape;36;p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37"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 name="Google Shape;47;p3"/>
          <p:cNvSpPr txBox="1"/>
          <p:nvPr>
            <p:ph type="title"/>
          </p:nvPr>
        </p:nvSpPr>
        <p:spPr>
          <a:xfrm>
            <a:off x="1888684" y="1746100"/>
            <a:ext cx="5377500" cy="16461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p:txBody>
      </p:sp>
      <p:sp>
        <p:nvSpPr>
          <p:cNvPr id="48" name="Google Shape;48;p3"/>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49"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4" name="Google Shape;54;p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56"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1" name="Google Shape;61;p5"/>
          <p:cNvSpPr txBox="1"/>
          <p:nvPr>
            <p:ph idx="1" type="body"/>
          </p:nvPr>
        </p:nvSpPr>
        <p:spPr>
          <a:xfrm>
            <a:off x="819150"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2" name="Google Shape;62;p5"/>
          <p:cNvSpPr txBox="1"/>
          <p:nvPr>
            <p:ph idx="2" type="body"/>
          </p:nvPr>
        </p:nvSpPr>
        <p:spPr>
          <a:xfrm>
            <a:off x="4638675"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3" name="Google Shape;63;p5"/>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64"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9" name="Google Shape;69;p6"/>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70"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a:off x="31" y="2824500"/>
            <a:ext cx="7370400" cy="23190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7"/>
          <p:cNvSpPr txBox="1"/>
          <p:nvPr>
            <p:ph type="title"/>
          </p:nvPr>
        </p:nvSpPr>
        <p:spPr>
          <a:xfrm>
            <a:off x="819150" y="845600"/>
            <a:ext cx="3709200" cy="1383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5" name="Google Shape;75;p7"/>
          <p:cNvSpPr txBox="1"/>
          <p:nvPr>
            <p:ph idx="1" type="body"/>
          </p:nvPr>
        </p:nvSpPr>
        <p:spPr>
          <a:xfrm>
            <a:off x="830700" y="2319050"/>
            <a:ext cx="3709200" cy="2119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6" name="Google Shape;76;p7"/>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77"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a:off x="4093430"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a:off x="3961956"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a:off x="7279439"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a:off x="6917201"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 name="Google Shape;93;p8"/>
          <p:cNvSpPr txBox="1"/>
          <p:nvPr>
            <p:ph type="title"/>
          </p:nvPr>
        </p:nvSpPr>
        <p:spPr>
          <a:xfrm>
            <a:off x="1393929" y="1301146"/>
            <a:ext cx="6366900" cy="25392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p:txBody>
      </p:sp>
      <p:sp>
        <p:nvSpPr>
          <p:cNvPr id="94" name="Google Shape;94;p8"/>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95"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txBox="1"/>
          <p:nvPr>
            <p:ph type="title"/>
          </p:nvPr>
        </p:nvSpPr>
        <p:spPr>
          <a:xfrm>
            <a:off x="819150" y="845600"/>
            <a:ext cx="6424200" cy="705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00" name="Google Shape;100;p9"/>
          <p:cNvSpPr txBox="1"/>
          <p:nvPr>
            <p:ph idx="1" type="subTitle"/>
          </p:nvPr>
        </p:nvSpPr>
        <p:spPr>
          <a:xfrm>
            <a:off x="819150" y="1550700"/>
            <a:ext cx="5859900" cy="393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101" name="Google Shape;101;p9"/>
          <p:cNvSpPr txBox="1"/>
          <p:nvPr>
            <p:ph idx="2" type="body"/>
          </p:nvPr>
        </p:nvSpPr>
        <p:spPr>
          <a:xfrm>
            <a:off x="819150" y="2467050"/>
            <a:ext cx="5859900" cy="209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2" name="Google Shape;102;p9"/>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103"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0"/>
          <p:cNvSpPr txBox="1"/>
          <p:nvPr>
            <p:ph idx="1" type="body"/>
          </p:nvPr>
        </p:nvSpPr>
        <p:spPr>
          <a:xfrm>
            <a:off x="328025" y="4163500"/>
            <a:ext cx="7415100" cy="605100"/>
          </a:xfrm>
          <a:prstGeom prst="rect">
            <a:avLst/>
          </a:prstGeom>
        </p:spPr>
        <p:txBody>
          <a:bodyPr anchorCtr="0" anchor="b"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8" name="Google Shape;108;p10"/>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09"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11"/>
          <p:cNvSpPr txBox="1"/>
          <p:nvPr>
            <p:ph hasCustomPrompt="1" type="title"/>
          </p:nvPr>
        </p:nvSpPr>
        <p:spPr>
          <a:xfrm>
            <a:off x="1385850" y="1383850"/>
            <a:ext cx="6372300" cy="1379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p:nvPr>
            <p:ph idx="1" type="body"/>
          </p:nvPr>
        </p:nvSpPr>
        <p:spPr>
          <a:xfrm>
            <a:off x="1385850" y="2863850"/>
            <a:ext cx="6372300" cy="6411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SzPts val="13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121" name="Google Shape;121;p11"/>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 name="Shape 122"/>
        <p:cNvGrpSpPr/>
        <p:nvPr/>
      </p:nvGrpSpPr>
      <p:grpSpPr>
        <a:xfrm>
          <a:off x="0" y="0"/>
          <a:ext cx="0" cy="0"/>
          <a:chOff x="0" y="0"/>
          <a:chExt cx="0" cy="0"/>
        </a:xfrm>
      </p:grpSpPr>
      <p:sp>
        <p:nvSpPr>
          <p:cNvPr id="123" name="Google Shape;123;p1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p:txBody>
      </p:sp>
      <p:sp>
        <p:nvSpPr>
          <p:cNvPr id="7" name="Google Shape;7;p1"/>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indent="-298450" lvl="1" marL="914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indent="-298450" lvl="2" marL="1371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indent="-298450" lvl="3" marL="1828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indent="-298450" lvl="4" marL="22860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indent="-298450" lvl="5" marL="27432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indent="-298450" lvl="6" marL="3200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indent="-298450" lvl="7" marL="3657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indent="-298450" lvl="8" marL="4114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p:txBody>
      </p:sp>
      <p:sp>
        <p:nvSpPr>
          <p:cNvPr id="8" name="Google Shape;8;p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16.png"/><Relationship Id="rId10" Type="http://schemas.openxmlformats.org/officeDocument/2006/relationships/image" Target="../media/image7.png"/><Relationship Id="rId9" Type="http://schemas.openxmlformats.org/officeDocument/2006/relationships/image" Target="../media/image13.png"/><Relationship Id="rId5" Type="http://schemas.openxmlformats.org/officeDocument/2006/relationships/image" Target="../media/image19.png"/><Relationship Id="rId6" Type="http://schemas.openxmlformats.org/officeDocument/2006/relationships/image" Target="../media/image2.jpg"/><Relationship Id="rId7" Type="http://schemas.openxmlformats.org/officeDocument/2006/relationships/image" Target="../media/image6.png"/><Relationship Id="rId8"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8.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hyperlink" Target="https://en.wikipedia.org/wiki/Mutually_independent"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0.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0.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4.png"/><Relationship Id="rId4" Type="http://schemas.openxmlformats.org/officeDocument/2006/relationships/image" Target="../media/image26.png"/><Relationship Id="rId5" Type="http://schemas.openxmlformats.org/officeDocument/2006/relationships/image" Target="../media/image2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hyperlink" Target="https://doi.org/10.24432/C53G6X" TargetMode="External"/><Relationship Id="rId4" Type="http://schemas.openxmlformats.org/officeDocument/2006/relationships/hyperlink" Target="http://www.youtube.com/watch?v=O2L2Uv9pdDA&amp;t=429s&amp;ab_channel=StatQuestwithJoshStarmer" TargetMode="External"/><Relationship Id="rId5" Type="http://schemas.openxmlformats.org/officeDocument/2006/relationships/hyperlink" Target="https://towardsdatascience.com/laplace-smoothing-in-na%C3%AFve-bayes-algorithm-9c237a8bdece" TargetMode="External"/><Relationship Id="rId6" Type="http://schemas.openxmlformats.org/officeDocument/2006/relationships/hyperlink" Target="https://towardsdatascience.com/understanding-na%C3%AFve-bayes-algorithm-f9816f6f74c0" TargetMode="External"/><Relationship Id="rId7" Type="http://schemas.openxmlformats.org/officeDocument/2006/relationships/hyperlink" Target="https://www.kdnuggets.com/2020/07/spam-filter-python-naive-bayes-scratch.html"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3"/>
          <p:cNvSpPr txBox="1"/>
          <p:nvPr>
            <p:ph type="ctrTitle"/>
          </p:nvPr>
        </p:nvSpPr>
        <p:spPr>
          <a:xfrm>
            <a:off x="1891350" y="2141275"/>
            <a:ext cx="5361300" cy="9753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SPAMbase</a:t>
            </a:r>
            <a:endParaRPr/>
          </a:p>
        </p:txBody>
      </p:sp>
      <p:sp>
        <p:nvSpPr>
          <p:cNvPr id="129" name="Google Shape;129;p13"/>
          <p:cNvSpPr txBox="1"/>
          <p:nvPr>
            <p:ph idx="1" type="subTitle"/>
          </p:nvPr>
        </p:nvSpPr>
        <p:spPr>
          <a:xfrm>
            <a:off x="1891350" y="2981508"/>
            <a:ext cx="5361300" cy="52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An Approach to Efficient Email Classification</a:t>
            </a:r>
            <a:endParaRPr/>
          </a:p>
        </p:txBody>
      </p:sp>
      <p:pic>
        <p:nvPicPr>
          <p:cNvPr id="130" name="Google Shape;130;p13"/>
          <p:cNvPicPr preferRelativeResize="0"/>
          <p:nvPr/>
        </p:nvPicPr>
        <p:blipFill>
          <a:blip r:embed="rId3">
            <a:alphaModFix/>
          </a:blip>
          <a:stretch>
            <a:fillRect/>
          </a:stretch>
        </p:blipFill>
        <p:spPr>
          <a:xfrm>
            <a:off x="6621551" y="3935751"/>
            <a:ext cx="2640701" cy="132035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28"/>
                                        </p:tgtEl>
                                        <p:attrNameLst>
                                          <p:attrName>style.visibility</p:attrName>
                                        </p:attrNameLst>
                                      </p:cBhvr>
                                      <p:to>
                                        <p:strVal val="visible"/>
                                      </p:to>
                                    </p:set>
                                    <p:anim calcmode="lin" valueType="num">
                                      <p:cBhvr additive="base">
                                        <p:cTn dur="1000"/>
                                        <p:tgtEl>
                                          <p:spTgt spid="12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9"/>
                                        </p:tgtEl>
                                        <p:attrNameLst>
                                          <p:attrName>style.visibility</p:attrName>
                                        </p:attrNameLst>
                                      </p:cBhvr>
                                      <p:to>
                                        <p:strVal val="visible"/>
                                      </p:to>
                                    </p:set>
                                    <p:anim calcmode="lin" valueType="num">
                                      <p:cBhvr additive="base">
                                        <p:cTn dur="1000"/>
                                        <p:tgtEl>
                                          <p:spTgt spid="129"/>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4"/>
          <p:cNvSpPr txBox="1"/>
          <p:nvPr>
            <p:ph type="title"/>
          </p:nvPr>
        </p:nvSpPr>
        <p:spPr>
          <a:xfrm>
            <a:off x="5538675" y="2058750"/>
            <a:ext cx="2270700" cy="59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Introduction</a:t>
            </a:r>
            <a:endParaRPr/>
          </a:p>
        </p:txBody>
      </p:sp>
      <p:pic>
        <p:nvPicPr>
          <p:cNvPr id="136" name="Google Shape;136;p14"/>
          <p:cNvPicPr preferRelativeResize="0"/>
          <p:nvPr/>
        </p:nvPicPr>
        <p:blipFill>
          <a:blip r:embed="rId3">
            <a:alphaModFix/>
          </a:blip>
          <a:stretch>
            <a:fillRect/>
          </a:stretch>
        </p:blipFill>
        <p:spPr>
          <a:xfrm>
            <a:off x="443400" y="627100"/>
            <a:ext cx="3945674" cy="394567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gtEl>
                                        <p:attrNameLst>
                                          <p:attrName>style.visibility</p:attrName>
                                        </p:attrNameLst>
                                      </p:cBhvr>
                                      <p:to>
                                        <p:strVal val="visible"/>
                                      </p:to>
                                    </p:set>
                                    <p:animEffect filter="fade" transition="in">
                                      <p:cBhvr>
                                        <p:cTn dur="1000"/>
                                        <p:tgtEl>
                                          <p:spTgt spid="1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5"/>
          <p:cNvSpPr txBox="1"/>
          <p:nvPr>
            <p:ph type="title"/>
          </p:nvPr>
        </p:nvSpPr>
        <p:spPr>
          <a:xfrm>
            <a:off x="819150" y="845600"/>
            <a:ext cx="7505700" cy="697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Workflow</a:t>
            </a:r>
            <a:endParaRPr/>
          </a:p>
        </p:txBody>
      </p:sp>
      <p:sp>
        <p:nvSpPr>
          <p:cNvPr id="142" name="Google Shape;142;p15"/>
          <p:cNvSpPr txBox="1"/>
          <p:nvPr>
            <p:ph idx="1" type="body"/>
          </p:nvPr>
        </p:nvSpPr>
        <p:spPr>
          <a:xfrm>
            <a:off x="819150" y="1449100"/>
            <a:ext cx="7380000" cy="28887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 sz="1400"/>
              <a:t>Objective:</a:t>
            </a:r>
            <a:endParaRPr sz="1400"/>
          </a:p>
          <a:p>
            <a:pPr indent="0" lvl="0" marL="0" rtl="0" algn="l">
              <a:lnSpc>
                <a:spcPct val="105000"/>
              </a:lnSpc>
              <a:spcBef>
                <a:spcPts val="1200"/>
              </a:spcBef>
              <a:spcAft>
                <a:spcPts val="0"/>
              </a:spcAft>
              <a:buNone/>
            </a:pPr>
            <a:r>
              <a:rPr lang="en" sz="1400"/>
              <a:t>T</a:t>
            </a:r>
            <a:r>
              <a:rPr lang="en">
                <a:solidFill>
                  <a:srgbClr val="374151"/>
                </a:solidFill>
                <a:latin typeface="Roboto"/>
                <a:ea typeface="Roboto"/>
                <a:cs typeface="Roboto"/>
                <a:sym typeface="Roboto"/>
              </a:rPr>
              <a:t>o build a robust spam filter using probabilistic principles with Bayes Theorem.</a:t>
            </a:r>
            <a:endParaRPr sz="1400"/>
          </a:p>
          <a:p>
            <a:pPr indent="0" lvl="0" marL="0" rtl="0" algn="l">
              <a:lnSpc>
                <a:spcPct val="105000"/>
              </a:lnSpc>
              <a:spcBef>
                <a:spcPts val="1200"/>
              </a:spcBef>
              <a:spcAft>
                <a:spcPts val="0"/>
              </a:spcAft>
              <a:buNone/>
            </a:pPr>
            <a:r>
              <a:rPr lang="en">
                <a:solidFill>
                  <a:srgbClr val="374151"/>
                </a:solidFill>
                <a:latin typeface="Roboto"/>
                <a:ea typeface="Roboto"/>
                <a:cs typeface="Roboto"/>
                <a:sym typeface="Roboto"/>
              </a:rPr>
              <a:t>List the steps involved in the workflow:</a:t>
            </a:r>
            <a:endParaRPr>
              <a:solidFill>
                <a:srgbClr val="374151"/>
              </a:solidFill>
              <a:latin typeface="Roboto"/>
              <a:ea typeface="Roboto"/>
              <a:cs typeface="Roboto"/>
              <a:sym typeface="Roboto"/>
            </a:endParaRPr>
          </a:p>
          <a:p>
            <a:pPr indent="-228600" lvl="0" marL="457200" rtl="0" algn="l">
              <a:lnSpc>
                <a:spcPct val="105000"/>
              </a:lnSpc>
              <a:spcBef>
                <a:spcPts val="1200"/>
              </a:spcBef>
              <a:spcAft>
                <a:spcPts val="0"/>
              </a:spcAft>
              <a:buClr>
                <a:srgbClr val="374151"/>
              </a:buClr>
              <a:buSzPts val="1300"/>
              <a:buFont typeface="Roboto"/>
              <a:buNone/>
            </a:pPr>
            <a:r>
              <a:rPr lang="en">
                <a:solidFill>
                  <a:srgbClr val="374151"/>
                </a:solidFill>
                <a:latin typeface="Roboto"/>
                <a:ea typeface="Roboto"/>
                <a:cs typeface="Roboto"/>
                <a:sym typeface="Roboto"/>
              </a:rPr>
              <a:t>Bayesian</a:t>
            </a:r>
            <a:r>
              <a:rPr lang="en">
                <a:solidFill>
                  <a:srgbClr val="374151"/>
                </a:solidFill>
                <a:latin typeface="Roboto"/>
                <a:ea typeface="Roboto"/>
                <a:cs typeface="Roboto"/>
                <a:sym typeface="Roboto"/>
              </a:rPr>
              <a:t> Approach</a:t>
            </a:r>
            <a:endParaRPr>
              <a:solidFill>
                <a:srgbClr val="374151"/>
              </a:solidFill>
              <a:latin typeface="Roboto"/>
              <a:ea typeface="Roboto"/>
              <a:cs typeface="Roboto"/>
              <a:sym typeface="Roboto"/>
            </a:endParaRPr>
          </a:p>
          <a:p>
            <a:pPr indent="-228600" lvl="0" marL="457200" rtl="0" algn="l">
              <a:lnSpc>
                <a:spcPct val="105000"/>
              </a:lnSpc>
              <a:spcBef>
                <a:spcPts val="0"/>
              </a:spcBef>
              <a:spcAft>
                <a:spcPts val="0"/>
              </a:spcAft>
              <a:buClr>
                <a:srgbClr val="374151"/>
              </a:buClr>
              <a:buSzPts val="1300"/>
              <a:buFont typeface="Roboto"/>
              <a:buNone/>
            </a:pPr>
            <a:r>
              <a:rPr lang="en">
                <a:solidFill>
                  <a:srgbClr val="374151"/>
                </a:solidFill>
                <a:latin typeface="Roboto"/>
                <a:ea typeface="Roboto"/>
                <a:cs typeface="Roboto"/>
                <a:sym typeface="Roboto"/>
              </a:rPr>
              <a:t>Data Processing</a:t>
            </a:r>
            <a:endParaRPr>
              <a:solidFill>
                <a:srgbClr val="374151"/>
              </a:solidFill>
              <a:latin typeface="Roboto"/>
              <a:ea typeface="Roboto"/>
              <a:cs typeface="Roboto"/>
              <a:sym typeface="Roboto"/>
            </a:endParaRPr>
          </a:p>
          <a:p>
            <a:pPr indent="-228600" lvl="0" marL="457200" rtl="0" algn="l">
              <a:lnSpc>
                <a:spcPct val="105000"/>
              </a:lnSpc>
              <a:spcBef>
                <a:spcPts val="0"/>
              </a:spcBef>
              <a:spcAft>
                <a:spcPts val="0"/>
              </a:spcAft>
              <a:buClr>
                <a:srgbClr val="374151"/>
              </a:buClr>
              <a:buSzPts val="1300"/>
              <a:buFont typeface="Roboto"/>
              <a:buNone/>
            </a:pPr>
            <a:r>
              <a:rPr lang="en">
                <a:solidFill>
                  <a:srgbClr val="374151"/>
                </a:solidFill>
                <a:latin typeface="Roboto"/>
                <a:ea typeface="Roboto"/>
                <a:cs typeface="Roboto"/>
                <a:sym typeface="Roboto"/>
              </a:rPr>
              <a:t>Model Training</a:t>
            </a:r>
            <a:endParaRPr>
              <a:solidFill>
                <a:srgbClr val="374151"/>
              </a:solidFill>
              <a:latin typeface="Roboto"/>
              <a:ea typeface="Roboto"/>
              <a:cs typeface="Roboto"/>
              <a:sym typeface="Roboto"/>
            </a:endParaRPr>
          </a:p>
          <a:p>
            <a:pPr indent="-228600" lvl="0" marL="457200" rtl="0" algn="l">
              <a:lnSpc>
                <a:spcPct val="105000"/>
              </a:lnSpc>
              <a:spcBef>
                <a:spcPts val="0"/>
              </a:spcBef>
              <a:spcAft>
                <a:spcPts val="0"/>
              </a:spcAft>
              <a:buClr>
                <a:srgbClr val="374151"/>
              </a:buClr>
              <a:buSzPts val="1300"/>
              <a:buFont typeface="Roboto"/>
              <a:buNone/>
            </a:pPr>
            <a:r>
              <a:rPr lang="en">
                <a:solidFill>
                  <a:srgbClr val="374151"/>
                </a:solidFill>
                <a:latin typeface="Roboto"/>
                <a:ea typeface="Roboto"/>
                <a:cs typeface="Roboto"/>
                <a:sym typeface="Roboto"/>
              </a:rPr>
              <a:t>Model Evaluation</a:t>
            </a:r>
            <a:endParaRPr>
              <a:solidFill>
                <a:srgbClr val="374151"/>
              </a:solidFill>
              <a:latin typeface="Roboto"/>
              <a:ea typeface="Roboto"/>
              <a:cs typeface="Roboto"/>
              <a:sym typeface="Roboto"/>
            </a:endParaRPr>
          </a:p>
          <a:p>
            <a:pPr indent="0" lvl="0" marL="0" rtl="0" algn="l">
              <a:lnSpc>
                <a:spcPct val="105000"/>
              </a:lnSpc>
              <a:spcBef>
                <a:spcPts val="0"/>
              </a:spcBef>
              <a:spcAft>
                <a:spcPts val="0"/>
              </a:spcAft>
              <a:buNone/>
            </a:pPr>
            <a:r>
              <a:t/>
            </a:r>
            <a:endParaRPr sz="1400"/>
          </a:p>
          <a:p>
            <a:pPr indent="0" lvl="0" marL="0" rtl="0" algn="l">
              <a:lnSpc>
                <a:spcPct val="105000"/>
              </a:lnSpc>
              <a:spcBef>
                <a:spcPts val="1200"/>
              </a:spcBef>
              <a:spcAft>
                <a:spcPts val="1200"/>
              </a:spcAft>
              <a:buNone/>
            </a:pPr>
            <a:r>
              <a:rPr lang="en">
                <a:solidFill>
                  <a:srgbClr val="374151"/>
                </a:solidFill>
                <a:latin typeface="Roboto"/>
                <a:ea typeface="Roboto"/>
                <a:cs typeface="Roboto"/>
                <a:sym typeface="Roboto"/>
              </a:rPr>
              <a:t>Def - Access and load the dataset containing emails (spam and non-spam).</a:t>
            </a:r>
            <a:endParaRPr sz="14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41"/>
                                        </p:tgtEl>
                                        <p:attrNameLst>
                                          <p:attrName>style.visibility</p:attrName>
                                        </p:attrNameLst>
                                      </p:cBhvr>
                                      <p:to>
                                        <p:strVal val="visible"/>
                                      </p:to>
                                    </p:set>
                                    <p:anim calcmode="lin" valueType="num">
                                      <p:cBhvr additive="base">
                                        <p:cTn dur="1000"/>
                                        <p:tgtEl>
                                          <p:spTgt spid="141"/>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
                                        </p:tgtEl>
                                        <p:attrNameLst>
                                          <p:attrName>style.visibility</p:attrName>
                                        </p:attrNameLst>
                                      </p:cBhvr>
                                      <p:to>
                                        <p:strVal val="visible"/>
                                      </p:to>
                                    </p:set>
                                    <p:animEffect filter="fade" transition="in">
                                      <p:cBhvr>
                                        <p:cTn dur="1"/>
                                        <p:tgtEl>
                                          <p:spTgt spid="1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6"/>
          <p:cNvSpPr txBox="1"/>
          <p:nvPr>
            <p:ph type="title"/>
          </p:nvPr>
        </p:nvSpPr>
        <p:spPr>
          <a:xfrm>
            <a:off x="3141600" y="2274150"/>
            <a:ext cx="2860800" cy="59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Bayes’ theorem</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47"/>
                                        </p:tgtEl>
                                        <p:attrNameLst>
                                          <p:attrName>style.visibility</p:attrName>
                                        </p:attrNameLst>
                                      </p:cBhvr>
                                      <p:to>
                                        <p:strVal val="visible"/>
                                      </p:to>
                                    </p:set>
                                    <p:anim calcmode="lin" valueType="num">
                                      <p:cBhvr additive="base">
                                        <p:cTn dur="1000"/>
                                        <p:tgtEl>
                                          <p:spTgt spid="147"/>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7"/>
          <p:cNvSpPr txBox="1"/>
          <p:nvPr>
            <p:ph type="title"/>
          </p:nvPr>
        </p:nvSpPr>
        <p:spPr>
          <a:xfrm>
            <a:off x="837150" y="33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Bayesian</a:t>
            </a:r>
            <a:r>
              <a:rPr lang="en"/>
              <a:t> Approach</a:t>
            </a:r>
            <a:endParaRPr/>
          </a:p>
        </p:txBody>
      </p:sp>
      <p:sp>
        <p:nvSpPr>
          <p:cNvPr id="153" name="Google Shape;153;p17"/>
          <p:cNvSpPr txBox="1"/>
          <p:nvPr>
            <p:ph idx="1" type="body"/>
          </p:nvPr>
        </p:nvSpPr>
        <p:spPr>
          <a:xfrm>
            <a:off x="837150" y="951850"/>
            <a:ext cx="7862700" cy="30450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lang="en" sz="1200">
                <a:solidFill>
                  <a:srgbClr val="374151"/>
                </a:solidFill>
                <a:latin typeface="Roboto"/>
                <a:ea typeface="Roboto"/>
                <a:cs typeface="Roboto"/>
                <a:sym typeface="Roboto"/>
              </a:rPr>
              <a:t>Bayes' theorem is expressed as:</a:t>
            </a:r>
            <a:endParaRPr sz="1200">
              <a:solidFill>
                <a:srgbClr val="374151"/>
              </a:solidFill>
              <a:latin typeface="Roboto"/>
              <a:ea typeface="Roboto"/>
              <a:cs typeface="Roboto"/>
              <a:sym typeface="Roboto"/>
            </a:endParaRPr>
          </a:p>
          <a:p>
            <a:pPr indent="0" lvl="0" marL="0" rtl="0" algn="l">
              <a:lnSpc>
                <a:spcPct val="100000"/>
              </a:lnSpc>
              <a:spcBef>
                <a:spcPts val="0"/>
              </a:spcBef>
              <a:spcAft>
                <a:spcPts val="0"/>
              </a:spcAft>
              <a:buNone/>
            </a:pPr>
            <a:r>
              <a:t/>
            </a:r>
            <a:endParaRPr sz="1200">
              <a:solidFill>
                <a:srgbClr val="374151"/>
              </a:solidFill>
              <a:latin typeface="Roboto"/>
              <a:ea typeface="Roboto"/>
              <a:cs typeface="Roboto"/>
              <a:sym typeface="Roboto"/>
            </a:endParaRPr>
          </a:p>
          <a:p>
            <a:pPr indent="0" lvl="0" marL="0" marR="0" rtl="0" algn="l">
              <a:lnSpc>
                <a:spcPct val="115000"/>
              </a:lnSpc>
              <a:spcBef>
                <a:spcPts val="0"/>
              </a:spcBef>
              <a:spcAft>
                <a:spcPts val="0"/>
              </a:spcAft>
              <a:buNone/>
            </a:pPr>
            <a:r>
              <a:rPr i="1" lang="en" sz="1450">
                <a:solidFill>
                  <a:srgbClr val="374151"/>
                </a:solidFill>
                <a:latin typeface="Times New Roman"/>
                <a:ea typeface="Times New Roman"/>
                <a:cs typeface="Times New Roman"/>
                <a:sym typeface="Times New Roman"/>
              </a:rPr>
              <a:t>P</a:t>
            </a:r>
            <a:r>
              <a:rPr lang="en" sz="1450">
                <a:solidFill>
                  <a:srgbClr val="374151"/>
                </a:solidFill>
                <a:latin typeface="Times New Roman"/>
                <a:ea typeface="Times New Roman"/>
                <a:cs typeface="Times New Roman"/>
                <a:sym typeface="Times New Roman"/>
              </a:rPr>
              <a:t>(</a:t>
            </a:r>
            <a:r>
              <a:rPr i="1" lang="en" sz="1450">
                <a:solidFill>
                  <a:srgbClr val="374151"/>
                </a:solidFill>
                <a:latin typeface="Times New Roman"/>
                <a:ea typeface="Times New Roman"/>
                <a:cs typeface="Times New Roman"/>
                <a:sym typeface="Times New Roman"/>
              </a:rPr>
              <a:t>A</a:t>
            </a:r>
            <a:r>
              <a:rPr lang="en" sz="1450">
                <a:solidFill>
                  <a:srgbClr val="374151"/>
                </a:solidFill>
                <a:latin typeface="Times New Roman"/>
                <a:ea typeface="Times New Roman"/>
                <a:cs typeface="Times New Roman"/>
                <a:sym typeface="Times New Roman"/>
              </a:rPr>
              <a:t>∣</a:t>
            </a:r>
            <a:r>
              <a:rPr i="1" lang="en" sz="1450">
                <a:solidFill>
                  <a:srgbClr val="374151"/>
                </a:solidFill>
                <a:latin typeface="Times New Roman"/>
                <a:ea typeface="Times New Roman"/>
                <a:cs typeface="Times New Roman"/>
                <a:sym typeface="Times New Roman"/>
              </a:rPr>
              <a:t>B</a:t>
            </a:r>
            <a:r>
              <a:rPr lang="en" sz="1450">
                <a:solidFill>
                  <a:srgbClr val="374151"/>
                </a:solidFill>
                <a:latin typeface="Times New Roman"/>
                <a:ea typeface="Times New Roman"/>
                <a:cs typeface="Times New Roman"/>
                <a:sym typeface="Times New Roman"/>
              </a:rPr>
              <a:t>)=</a:t>
            </a:r>
            <a:r>
              <a:rPr i="1" lang="en" sz="1450">
                <a:solidFill>
                  <a:srgbClr val="374151"/>
                </a:solidFill>
                <a:latin typeface="Times New Roman"/>
                <a:ea typeface="Times New Roman"/>
                <a:cs typeface="Times New Roman"/>
                <a:sym typeface="Times New Roman"/>
              </a:rPr>
              <a:t>P</a:t>
            </a:r>
            <a:r>
              <a:rPr lang="en" sz="1450">
                <a:solidFill>
                  <a:srgbClr val="374151"/>
                </a:solidFill>
                <a:latin typeface="Times New Roman"/>
                <a:ea typeface="Times New Roman"/>
                <a:cs typeface="Times New Roman"/>
                <a:sym typeface="Times New Roman"/>
              </a:rPr>
              <a:t>(</a:t>
            </a:r>
            <a:r>
              <a:rPr i="1" lang="en" sz="1450">
                <a:solidFill>
                  <a:srgbClr val="374151"/>
                </a:solidFill>
                <a:latin typeface="Times New Roman"/>
                <a:ea typeface="Times New Roman"/>
                <a:cs typeface="Times New Roman"/>
                <a:sym typeface="Times New Roman"/>
              </a:rPr>
              <a:t>B</a:t>
            </a:r>
            <a:r>
              <a:rPr lang="en" sz="1450">
                <a:solidFill>
                  <a:srgbClr val="374151"/>
                </a:solidFill>
                <a:latin typeface="Times New Roman"/>
                <a:ea typeface="Times New Roman"/>
                <a:cs typeface="Times New Roman"/>
                <a:sym typeface="Times New Roman"/>
              </a:rPr>
              <a:t>∣</a:t>
            </a:r>
            <a:r>
              <a:rPr i="1" lang="en" sz="1450">
                <a:solidFill>
                  <a:srgbClr val="374151"/>
                </a:solidFill>
                <a:latin typeface="Times New Roman"/>
                <a:ea typeface="Times New Roman"/>
                <a:cs typeface="Times New Roman"/>
                <a:sym typeface="Times New Roman"/>
              </a:rPr>
              <a:t>A</a:t>
            </a:r>
            <a:r>
              <a:rPr lang="en" sz="1450">
                <a:solidFill>
                  <a:srgbClr val="374151"/>
                </a:solidFill>
                <a:latin typeface="Times New Roman"/>
                <a:ea typeface="Times New Roman"/>
                <a:cs typeface="Times New Roman"/>
                <a:sym typeface="Times New Roman"/>
              </a:rPr>
              <a:t>)</a:t>
            </a:r>
            <a:r>
              <a:rPr i="1" lang="en" sz="1450">
                <a:solidFill>
                  <a:srgbClr val="374151"/>
                </a:solidFill>
                <a:latin typeface="Times New Roman"/>
                <a:ea typeface="Times New Roman"/>
                <a:cs typeface="Times New Roman"/>
                <a:sym typeface="Times New Roman"/>
              </a:rPr>
              <a:t>⋅P</a:t>
            </a:r>
            <a:r>
              <a:rPr lang="en" sz="1450">
                <a:solidFill>
                  <a:srgbClr val="374151"/>
                </a:solidFill>
                <a:latin typeface="Times New Roman"/>
                <a:ea typeface="Times New Roman"/>
                <a:cs typeface="Times New Roman"/>
                <a:sym typeface="Times New Roman"/>
              </a:rPr>
              <a:t>(</a:t>
            </a:r>
            <a:r>
              <a:rPr i="1" lang="en" sz="1450">
                <a:solidFill>
                  <a:srgbClr val="374151"/>
                </a:solidFill>
                <a:latin typeface="Times New Roman"/>
                <a:ea typeface="Times New Roman"/>
                <a:cs typeface="Times New Roman"/>
                <a:sym typeface="Times New Roman"/>
              </a:rPr>
              <a:t>A</a:t>
            </a:r>
            <a:r>
              <a:rPr lang="en" sz="1450">
                <a:solidFill>
                  <a:srgbClr val="374151"/>
                </a:solidFill>
                <a:latin typeface="Times New Roman"/>
                <a:ea typeface="Times New Roman"/>
                <a:cs typeface="Times New Roman"/>
                <a:sym typeface="Times New Roman"/>
              </a:rPr>
              <a:t>)</a:t>
            </a:r>
            <a:r>
              <a:rPr i="1" lang="en" sz="1450">
                <a:solidFill>
                  <a:srgbClr val="374151"/>
                </a:solidFill>
                <a:latin typeface="Times New Roman"/>
                <a:ea typeface="Times New Roman"/>
                <a:cs typeface="Times New Roman"/>
                <a:sym typeface="Times New Roman"/>
              </a:rPr>
              <a:t> / P</a:t>
            </a:r>
            <a:r>
              <a:rPr lang="en" sz="1450">
                <a:solidFill>
                  <a:srgbClr val="374151"/>
                </a:solidFill>
                <a:latin typeface="Times New Roman"/>
                <a:ea typeface="Times New Roman"/>
                <a:cs typeface="Times New Roman"/>
                <a:sym typeface="Times New Roman"/>
              </a:rPr>
              <a:t>(</a:t>
            </a:r>
            <a:r>
              <a:rPr i="1" lang="en" sz="1450">
                <a:solidFill>
                  <a:srgbClr val="374151"/>
                </a:solidFill>
                <a:latin typeface="Times New Roman"/>
                <a:ea typeface="Times New Roman"/>
                <a:cs typeface="Times New Roman"/>
                <a:sym typeface="Times New Roman"/>
              </a:rPr>
              <a:t>B</a:t>
            </a:r>
            <a:r>
              <a:rPr lang="en" sz="1450">
                <a:solidFill>
                  <a:srgbClr val="374151"/>
                </a:solidFill>
                <a:latin typeface="Times New Roman"/>
                <a:ea typeface="Times New Roman"/>
                <a:cs typeface="Times New Roman"/>
                <a:sym typeface="Times New Roman"/>
              </a:rPr>
              <a:t>)</a:t>
            </a:r>
            <a:endParaRPr sz="1150">
              <a:solidFill>
                <a:srgbClr val="374151"/>
              </a:solidFill>
              <a:latin typeface="Times New Roman"/>
              <a:ea typeface="Times New Roman"/>
              <a:cs typeface="Times New Roman"/>
              <a:sym typeface="Times New Roman"/>
            </a:endParaRPr>
          </a:p>
          <a:p>
            <a:pPr indent="-311150" lvl="0" marL="457200" marR="0" rtl="0" algn="l">
              <a:lnSpc>
                <a:spcPct val="115000"/>
              </a:lnSpc>
              <a:spcBef>
                <a:spcPts val="0"/>
              </a:spcBef>
              <a:spcAft>
                <a:spcPts val="0"/>
              </a:spcAft>
              <a:buClr>
                <a:srgbClr val="374151"/>
              </a:buClr>
              <a:buSzPts val="1300"/>
              <a:buChar char="●"/>
            </a:pPr>
            <a:r>
              <a:rPr i="1" lang="en" sz="1450">
                <a:solidFill>
                  <a:srgbClr val="374151"/>
                </a:solidFill>
                <a:latin typeface="Times New Roman"/>
                <a:ea typeface="Times New Roman"/>
                <a:cs typeface="Times New Roman"/>
                <a:sym typeface="Times New Roman"/>
              </a:rPr>
              <a:t>P</a:t>
            </a:r>
            <a:r>
              <a:rPr lang="en" sz="1450">
                <a:solidFill>
                  <a:srgbClr val="374151"/>
                </a:solidFill>
                <a:latin typeface="Times New Roman"/>
                <a:ea typeface="Times New Roman"/>
                <a:cs typeface="Times New Roman"/>
                <a:sym typeface="Times New Roman"/>
              </a:rPr>
              <a:t>(</a:t>
            </a:r>
            <a:r>
              <a:rPr i="1" lang="en" sz="1450">
                <a:solidFill>
                  <a:srgbClr val="374151"/>
                </a:solidFill>
                <a:latin typeface="Times New Roman"/>
                <a:ea typeface="Times New Roman"/>
                <a:cs typeface="Times New Roman"/>
                <a:sym typeface="Times New Roman"/>
              </a:rPr>
              <a:t>B</a:t>
            </a:r>
            <a:r>
              <a:rPr lang="en" sz="1450">
                <a:solidFill>
                  <a:srgbClr val="374151"/>
                </a:solidFill>
                <a:latin typeface="Times New Roman"/>
                <a:ea typeface="Times New Roman"/>
                <a:cs typeface="Times New Roman"/>
                <a:sym typeface="Times New Roman"/>
              </a:rPr>
              <a:t>∣</a:t>
            </a:r>
            <a:r>
              <a:rPr i="1" lang="en" sz="1450">
                <a:solidFill>
                  <a:srgbClr val="374151"/>
                </a:solidFill>
                <a:latin typeface="Times New Roman"/>
                <a:ea typeface="Times New Roman"/>
                <a:cs typeface="Times New Roman"/>
                <a:sym typeface="Times New Roman"/>
              </a:rPr>
              <a:t>A</a:t>
            </a:r>
            <a:r>
              <a:rPr lang="en" sz="1450">
                <a:solidFill>
                  <a:srgbClr val="374151"/>
                </a:solidFill>
                <a:latin typeface="Times New Roman"/>
                <a:ea typeface="Times New Roman"/>
                <a:cs typeface="Times New Roman"/>
                <a:sym typeface="Times New Roman"/>
              </a:rPr>
              <a:t>)</a:t>
            </a:r>
            <a:r>
              <a:rPr lang="en" sz="1200">
                <a:solidFill>
                  <a:srgbClr val="374151"/>
                </a:solidFill>
                <a:latin typeface="Roboto"/>
                <a:ea typeface="Roboto"/>
                <a:cs typeface="Roboto"/>
                <a:sym typeface="Roboto"/>
              </a:rPr>
              <a:t> is the conditional probability of event B occurring given that event A has occurred.</a:t>
            </a:r>
            <a:endParaRPr sz="1450">
              <a:solidFill>
                <a:srgbClr val="374151"/>
              </a:solidFill>
              <a:latin typeface="Times New Roman"/>
              <a:ea typeface="Times New Roman"/>
              <a:cs typeface="Times New Roman"/>
              <a:sym typeface="Times New Roman"/>
            </a:endParaRPr>
          </a:p>
          <a:p>
            <a:pPr indent="-234950" lvl="0" marL="457200" marR="0" rtl="0" algn="ctr">
              <a:lnSpc>
                <a:spcPct val="115000"/>
              </a:lnSpc>
              <a:spcBef>
                <a:spcPts val="0"/>
              </a:spcBef>
              <a:spcAft>
                <a:spcPts val="0"/>
              </a:spcAft>
              <a:buClr>
                <a:srgbClr val="374151"/>
              </a:buClr>
              <a:buSzPts val="100"/>
              <a:buFont typeface="Times New Roman"/>
              <a:buChar char="●"/>
            </a:pPr>
            <a:r>
              <a:rPr lang="en" sz="100">
                <a:solidFill>
                  <a:srgbClr val="374151"/>
                </a:solidFill>
                <a:latin typeface="Times New Roman"/>
                <a:ea typeface="Times New Roman"/>
                <a:cs typeface="Times New Roman"/>
                <a:sym typeface="Times New Roman"/>
              </a:rPr>
              <a:t>​</a:t>
            </a:r>
            <a:endParaRPr sz="1450">
              <a:solidFill>
                <a:srgbClr val="374151"/>
              </a:solidFill>
              <a:latin typeface="Times New Roman"/>
              <a:ea typeface="Times New Roman"/>
              <a:cs typeface="Times New Roman"/>
              <a:sym typeface="Times New Roman"/>
            </a:endParaRPr>
          </a:p>
          <a:p>
            <a:pPr indent="-234950" lvl="0" marL="457200" marR="0" rtl="0" algn="ctr">
              <a:lnSpc>
                <a:spcPct val="115000"/>
              </a:lnSpc>
              <a:spcBef>
                <a:spcPts val="0"/>
              </a:spcBef>
              <a:spcAft>
                <a:spcPts val="0"/>
              </a:spcAft>
              <a:buClr>
                <a:srgbClr val="374151"/>
              </a:buClr>
              <a:buSzPts val="100"/>
              <a:buFont typeface="Times New Roman"/>
              <a:buChar char="●"/>
            </a:pPr>
            <a:r>
              <a:rPr lang="en" sz="100">
                <a:solidFill>
                  <a:srgbClr val="374151"/>
                </a:solidFill>
                <a:latin typeface="Times New Roman"/>
                <a:ea typeface="Times New Roman"/>
                <a:cs typeface="Times New Roman"/>
                <a:sym typeface="Times New Roman"/>
              </a:rPr>
              <a:t>​</a:t>
            </a:r>
            <a:endParaRPr sz="1200">
              <a:solidFill>
                <a:srgbClr val="374151"/>
              </a:solidFill>
              <a:latin typeface="Roboto"/>
              <a:ea typeface="Roboto"/>
              <a:cs typeface="Roboto"/>
              <a:sym typeface="Roboto"/>
            </a:endParaRPr>
          </a:p>
          <a:p>
            <a:pPr indent="-304800" lvl="0" marL="457200" rtl="0" algn="l">
              <a:lnSpc>
                <a:spcPct val="120000"/>
              </a:lnSpc>
              <a:spcBef>
                <a:spcPts val="0"/>
              </a:spcBef>
              <a:spcAft>
                <a:spcPts val="0"/>
              </a:spcAft>
              <a:buClr>
                <a:srgbClr val="374151"/>
              </a:buClr>
              <a:buSzPts val="1200"/>
              <a:buFont typeface="Roboto"/>
              <a:buChar char="●"/>
            </a:pPr>
            <a:r>
              <a:rPr i="1" lang="en" sz="1450">
                <a:solidFill>
                  <a:srgbClr val="374151"/>
                </a:solidFill>
                <a:latin typeface="Times New Roman"/>
                <a:ea typeface="Times New Roman"/>
                <a:cs typeface="Times New Roman"/>
                <a:sym typeface="Times New Roman"/>
              </a:rPr>
              <a:t>P</a:t>
            </a:r>
            <a:r>
              <a:rPr lang="en" sz="1450">
                <a:solidFill>
                  <a:srgbClr val="374151"/>
                </a:solidFill>
                <a:latin typeface="Times New Roman"/>
                <a:ea typeface="Times New Roman"/>
                <a:cs typeface="Times New Roman"/>
                <a:sym typeface="Times New Roman"/>
              </a:rPr>
              <a:t>(</a:t>
            </a:r>
            <a:r>
              <a:rPr i="1" lang="en" sz="1450">
                <a:solidFill>
                  <a:srgbClr val="374151"/>
                </a:solidFill>
                <a:latin typeface="Times New Roman"/>
                <a:ea typeface="Times New Roman"/>
                <a:cs typeface="Times New Roman"/>
                <a:sym typeface="Times New Roman"/>
              </a:rPr>
              <a:t>A</a:t>
            </a:r>
            <a:r>
              <a:rPr lang="en" sz="1450">
                <a:solidFill>
                  <a:srgbClr val="374151"/>
                </a:solidFill>
                <a:latin typeface="Times New Roman"/>
                <a:ea typeface="Times New Roman"/>
                <a:cs typeface="Times New Roman"/>
                <a:sym typeface="Times New Roman"/>
              </a:rPr>
              <a:t>)</a:t>
            </a:r>
            <a:r>
              <a:rPr lang="en" sz="1200">
                <a:solidFill>
                  <a:srgbClr val="374151"/>
                </a:solidFill>
                <a:latin typeface="Roboto"/>
                <a:ea typeface="Roboto"/>
                <a:cs typeface="Roboto"/>
                <a:sym typeface="Roboto"/>
              </a:rPr>
              <a:t> and</a:t>
            </a:r>
            <a:r>
              <a:rPr lang="en" sz="1450">
                <a:solidFill>
                  <a:srgbClr val="374151"/>
                </a:solidFill>
                <a:latin typeface="Times New Roman"/>
                <a:ea typeface="Times New Roman"/>
                <a:cs typeface="Times New Roman"/>
                <a:sym typeface="Times New Roman"/>
              </a:rPr>
              <a:t> </a:t>
            </a:r>
            <a:r>
              <a:rPr i="1" lang="en" sz="1450">
                <a:solidFill>
                  <a:srgbClr val="374151"/>
                </a:solidFill>
                <a:latin typeface="Times New Roman"/>
                <a:ea typeface="Times New Roman"/>
                <a:cs typeface="Times New Roman"/>
                <a:sym typeface="Times New Roman"/>
              </a:rPr>
              <a:t>P</a:t>
            </a:r>
            <a:r>
              <a:rPr lang="en" sz="1450">
                <a:solidFill>
                  <a:srgbClr val="374151"/>
                </a:solidFill>
                <a:latin typeface="Times New Roman"/>
                <a:ea typeface="Times New Roman"/>
                <a:cs typeface="Times New Roman"/>
                <a:sym typeface="Times New Roman"/>
              </a:rPr>
              <a:t>(</a:t>
            </a:r>
            <a:r>
              <a:rPr i="1" lang="en" sz="1450">
                <a:solidFill>
                  <a:srgbClr val="374151"/>
                </a:solidFill>
                <a:latin typeface="Times New Roman"/>
                <a:ea typeface="Times New Roman"/>
                <a:cs typeface="Times New Roman"/>
                <a:sym typeface="Times New Roman"/>
              </a:rPr>
              <a:t>B</a:t>
            </a:r>
            <a:r>
              <a:rPr lang="en" sz="1450">
                <a:solidFill>
                  <a:srgbClr val="374151"/>
                </a:solidFill>
                <a:latin typeface="Times New Roman"/>
                <a:ea typeface="Times New Roman"/>
                <a:cs typeface="Times New Roman"/>
                <a:sym typeface="Times New Roman"/>
              </a:rPr>
              <a:t>)</a:t>
            </a:r>
            <a:r>
              <a:rPr lang="en" sz="1200">
                <a:solidFill>
                  <a:srgbClr val="374151"/>
                </a:solidFill>
                <a:latin typeface="Roboto"/>
                <a:ea typeface="Roboto"/>
                <a:cs typeface="Roboto"/>
                <a:sym typeface="Roboto"/>
              </a:rPr>
              <a:t> are the probabilities of events A and B occurring independently.</a:t>
            </a:r>
            <a:endParaRPr sz="1200">
              <a:solidFill>
                <a:srgbClr val="374151"/>
              </a:solidFill>
              <a:latin typeface="Roboto"/>
              <a:ea typeface="Roboto"/>
              <a:cs typeface="Roboto"/>
              <a:sym typeface="Roboto"/>
            </a:endParaRPr>
          </a:p>
          <a:p>
            <a:pPr indent="-304800" lvl="0" marL="457200" rtl="0" algn="l">
              <a:spcBef>
                <a:spcPts val="0"/>
              </a:spcBef>
              <a:spcAft>
                <a:spcPts val="0"/>
              </a:spcAft>
              <a:buClr>
                <a:srgbClr val="374151"/>
              </a:buClr>
              <a:buSzPts val="1200"/>
              <a:buFont typeface="Roboto"/>
              <a:buChar char="●"/>
            </a:pPr>
            <a:r>
              <a:rPr i="1" lang="en" sz="1450">
                <a:solidFill>
                  <a:srgbClr val="374151"/>
                </a:solidFill>
                <a:highlight>
                  <a:srgbClr val="E69138"/>
                </a:highlight>
                <a:latin typeface="Times New Roman"/>
                <a:ea typeface="Times New Roman"/>
                <a:cs typeface="Times New Roman"/>
                <a:sym typeface="Times New Roman"/>
              </a:rPr>
              <a:t>P</a:t>
            </a:r>
            <a:r>
              <a:rPr lang="en" sz="1450">
                <a:solidFill>
                  <a:srgbClr val="374151"/>
                </a:solidFill>
                <a:highlight>
                  <a:srgbClr val="E69138"/>
                </a:highlight>
                <a:latin typeface="Times New Roman"/>
                <a:ea typeface="Times New Roman"/>
                <a:cs typeface="Times New Roman"/>
                <a:sym typeface="Times New Roman"/>
              </a:rPr>
              <a:t>(</a:t>
            </a:r>
            <a:r>
              <a:rPr i="1" lang="en" sz="1450">
                <a:solidFill>
                  <a:srgbClr val="374151"/>
                </a:solidFill>
                <a:highlight>
                  <a:srgbClr val="E69138"/>
                </a:highlight>
                <a:latin typeface="Times New Roman"/>
                <a:ea typeface="Times New Roman"/>
                <a:cs typeface="Times New Roman"/>
                <a:sym typeface="Times New Roman"/>
              </a:rPr>
              <a:t>A</a:t>
            </a:r>
            <a:r>
              <a:rPr lang="en" sz="1450">
                <a:solidFill>
                  <a:srgbClr val="374151"/>
                </a:solidFill>
                <a:highlight>
                  <a:srgbClr val="E69138"/>
                </a:highlight>
                <a:latin typeface="Times New Roman"/>
                <a:ea typeface="Times New Roman"/>
                <a:cs typeface="Times New Roman"/>
                <a:sym typeface="Times New Roman"/>
              </a:rPr>
              <a:t>∣</a:t>
            </a:r>
            <a:r>
              <a:rPr i="1" lang="en" sz="1450">
                <a:solidFill>
                  <a:srgbClr val="374151"/>
                </a:solidFill>
                <a:highlight>
                  <a:srgbClr val="E69138"/>
                </a:highlight>
                <a:latin typeface="Times New Roman"/>
                <a:ea typeface="Times New Roman"/>
                <a:cs typeface="Times New Roman"/>
                <a:sym typeface="Times New Roman"/>
              </a:rPr>
              <a:t>B</a:t>
            </a:r>
            <a:r>
              <a:rPr lang="en" sz="1450">
                <a:solidFill>
                  <a:srgbClr val="374151"/>
                </a:solidFill>
                <a:highlight>
                  <a:srgbClr val="E69138"/>
                </a:highlight>
                <a:latin typeface="Times New Roman"/>
                <a:ea typeface="Times New Roman"/>
                <a:cs typeface="Times New Roman"/>
                <a:sym typeface="Times New Roman"/>
              </a:rPr>
              <a:t>)</a:t>
            </a:r>
            <a:r>
              <a:rPr lang="en" sz="1200">
                <a:solidFill>
                  <a:srgbClr val="374151"/>
                </a:solidFill>
                <a:latin typeface="Roboto"/>
                <a:ea typeface="Roboto"/>
                <a:cs typeface="Roboto"/>
                <a:sym typeface="Roboto"/>
              </a:rPr>
              <a:t> is the conditional probability of event A occurring given that event B has occurred. Also called posterior probability.</a:t>
            </a:r>
            <a:endParaRPr sz="1200">
              <a:solidFill>
                <a:srgbClr val="374151"/>
              </a:solidFill>
              <a:latin typeface="Roboto"/>
              <a:ea typeface="Roboto"/>
              <a:cs typeface="Roboto"/>
              <a:sym typeface="Roboto"/>
            </a:endParaRPr>
          </a:p>
          <a:p>
            <a:pPr indent="0" lvl="0" marL="0" rtl="0" algn="l">
              <a:lnSpc>
                <a:spcPct val="115000"/>
              </a:lnSpc>
              <a:spcBef>
                <a:spcPts val="0"/>
              </a:spcBef>
              <a:spcAft>
                <a:spcPts val="0"/>
              </a:spcAft>
              <a:buNone/>
            </a:pPr>
            <a:r>
              <a:t/>
            </a:r>
            <a:endParaRPr sz="1200">
              <a:solidFill>
                <a:srgbClr val="374151"/>
              </a:solidFill>
              <a:latin typeface="Roboto"/>
              <a:ea typeface="Roboto"/>
              <a:cs typeface="Roboto"/>
              <a:sym typeface="Roboto"/>
            </a:endParaRPr>
          </a:p>
          <a:p>
            <a:pPr indent="0" lvl="0" marL="0" rtl="0" algn="l">
              <a:lnSpc>
                <a:spcPct val="115000"/>
              </a:lnSpc>
              <a:spcBef>
                <a:spcPts val="0"/>
              </a:spcBef>
              <a:spcAft>
                <a:spcPts val="0"/>
              </a:spcAft>
              <a:buNone/>
            </a:pPr>
            <a:r>
              <a:t/>
            </a:r>
            <a:endParaRPr/>
          </a:p>
        </p:txBody>
      </p:sp>
      <p:sp>
        <p:nvSpPr>
          <p:cNvPr id="154" name="Google Shape;154;p17"/>
          <p:cNvSpPr txBox="1"/>
          <p:nvPr/>
        </p:nvSpPr>
        <p:spPr>
          <a:xfrm>
            <a:off x="797725" y="2786000"/>
            <a:ext cx="7862700" cy="1715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100">
                <a:solidFill>
                  <a:srgbClr val="374151"/>
                </a:solidFill>
                <a:latin typeface="Roboto"/>
                <a:ea typeface="Roboto"/>
                <a:cs typeface="Roboto"/>
                <a:sym typeface="Roboto"/>
              </a:rPr>
              <a:t>Spam Filtering Example:</a:t>
            </a:r>
            <a:endParaRPr sz="1100">
              <a:solidFill>
                <a:srgbClr val="374151"/>
              </a:solidFill>
              <a:latin typeface="Roboto"/>
              <a:ea typeface="Roboto"/>
              <a:cs typeface="Roboto"/>
              <a:sym typeface="Roboto"/>
            </a:endParaRPr>
          </a:p>
          <a:p>
            <a:pPr indent="0" lvl="0" marL="0" rtl="0" algn="l">
              <a:lnSpc>
                <a:spcPct val="115000"/>
              </a:lnSpc>
              <a:spcBef>
                <a:spcPts val="0"/>
              </a:spcBef>
              <a:spcAft>
                <a:spcPts val="0"/>
              </a:spcAft>
              <a:buNone/>
            </a:pPr>
            <a:r>
              <a:t/>
            </a:r>
            <a:endParaRPr sz="900">
              <a:solidFill>
                <a:srgbClr val="374151"/>
              </a:solidFill>
              <a:latin typeface="Roboto"/>
              <a:ea typeface="Roboto"/>
              <a:cs typeface="Roboto"/>
              <a:sym typeface="Roboto"/>
            </a:endParaRPr>
          </a:p>
          <a:p>
            <a:pPr indent="0" lvl="0" marL="0" rtl="0" algn="l">
              <a:lnSpc>
                <a:spcPct val="115000"/>
              </a:lnSpc>
              <a:spcBef>
                <a:spcPts val="0"/>
              </a:spcBef>
              <a:spcAft>
                <a:spcPts val="0"/>
              </a:spcAft>
              <a:buNone/>
            </a:pPr>
            <a:r>
              <a:rPr lang="en" sz="1100">
                <a:solidFill>
                  <a:srgbClr val="374151"/>
                </a:solidFill>
                <a:latin typeface="Roboto"/>
                <a:ea typeface="Roboto"/>
                <a:cs typeface="Roboto"/>
                <a:sym typeface="Roboto"/>
              </a:rPr>
              <a:t>In email spam filtering, the goal is to determine whether an incoming email is a spam or normal email based on its content.</a:t>
            </a:r>
            <a:endParaRPr sz="1000">
              <a:solidFill>
                <a:srgbClr val="374151"/>
              </a:solidFill>
              <a:latin typeface="Roboto"/>
              <a:ea typeface="Roboto"/>
              <a:cs typeface="Roboto"/>
              <a:sym typeface="Roboto"/>
            </a:endParaRPr>
          </a:p>
          <a:p>
            <a:pPr indent="-304800" lvl="0" marL="457200" rtl="0" algn="l">
              <a:lnSpc>
                <a:spcPct val="115000"/>
              </a:lnSpc>
              <a:spcBef>
                <a:spcPts val="0"/>
              </a:spcBef>
              <a:spcAft>
                <a:spcPts val="0"/>
              </a:spcAft>
              <a:buClr>
                <a:srgbClr val="374151"/>
              </a:buClr>
              <a:buSzPts val="1200"/>
              <a:buFont typeface="Roboto"/>
              <a:buChar char="●"/>
            </a:pPr>
            <a:r>
              <a:rPr i="1" lang="en" sz="1350">
                <a:solidFill>
                  <a:srgbClr val="374151"/>
                </a:solidFill>
                <a:latin typeface="Times New Roman"/>
                <a:ea typeface="Times New Roman"/>
                <a:cs typeface="Times New Roman"/>
                <a:sym typeface="Times New Roman"/>
              </a:rPr>
              <a:t>P</a:t>
            </a:r>
            <a:r>
              <a:rPr lang="en" sz="1350">
                <a:solidFill>
                  <a:srgbClr val="374151"/>
                </a:solidFill>
                <a:latin typeface="Times New Roman"/>
                <a:ea typeface="Times New Roman"/>
                <a:cs typeface="Times New Roman"/>
                <a:sym typeface="Times New Roman"/>
              </a:rPr>
              <a:t>(Word∣Spam)</a:t>
            </a:r>
            <a:r>
              <a:rPr lang="en" sz="1100">
                <a:solidFill>
                  <a:srgbClr val="374151"/>
                </a:solidFill>
                <a:latin typeface="Roboto"/>
                <a:ea typeface="Roboto"/>
                <a:cs typeface="Roboto"/>
                <a:sym typeface="Roboto"/>
              </a:rPr>
              <a:t> is the probability that the word appears in spam emails.</a:t>
            </a:r>
            <a:endParaRPr sz="1100">
              <a:solidFill>
                <a:srgbClr val="374151"/>
              </a:solidFill>
              <a:latin typeface="Roboto"/>
              <a:ea typeface="Roboto"/>
              <a:cs typeface="Roboto"/>
              <a:sym typeface="Roboto"/>
            </a:endParaRPr>
          </a:p>
          <a:p>
            <a:pPr indent="-298450" lvl="0" marL="457200" rtl="0" algn="l">
              <a:lnSpc>
                <a:spcPct val="120000"/>
              </a:lnSpc>
              <a:spcBef>
                <a:spcPts val="0"/>
              </a:spcBef>
              <a:spcAft>
                <a:spcPts val="0"/>
              </a:spcAft>
              <a:buClr>
                <a:srgbClr val="374151"/>
              </a:buClr>
              <a:buSzPts val="1100"/>
              <a:buFont typeface="Roboto"/>
              <a:buChar char="●"/>
            </a:pPr>
            <a:r>
              <a:rPr i="1" lang="en" sz="1450">
                <a:solidFill>
                  <a:srgbClr val="374151"/>
                </a:solidFill>
                <a:latin typeface="Times New Roman"/>
                <a:ea typeface="Times New Roman"/>
                <a:cs typeface="Times New Roman"/>
                <a:sym typeface="Times New Roman"/>
              </a:rPr>
              <a:t>P</a:t>
            </a:r>
            <a:r>
              <a:rPr lang="en" sz="1450">
                <a:solidFill>
                  <a:srgbClr val="374151"/>
                </a:solidFill>
                <a:latin typeface="Times New Roman"/>
                <a:ea typeface="Times New Roman"/>
                <a:cs typeface="Times New Roman"/>
                <a:sym typeface="Times New Roman"/>
              </a:rPr>
              <a:t>(</a:t>
            </a:r>
            <a:r>
              <a:rPr i="1" lang="en" sz="1450">
                <a:solidFill>
                  <a:srgbClr val="374151"/>
                </a:solidFill>
                <a:latin typeface="Times New Roman"/>
                <a:ea typeface="Times New Roman"/>
                <a:cs typeface="Times New Roman"/>
                <a:sym typeface="Times New Roman"/>
              </a:rPr>
              <a:t>word</a:t>
            </a:r>
            <a:r>
              <a:rPr lang="en" sz="1450">
                <a:solidFill>
                  <a:srgbClr val="374151"/>
                </a:solidFill>
                <a:latin typeface="Times New Roman"/>
                <a:ea typeface="Times New Roman"/>
                <a:cs typeface="Times New Roman"/>
                <a:sym typeface="Times New Roman"/>
              </a:rPr>
              <a:t>)</a:t>
            </a:r>
            <a:r>
              <a:rPr lang="en" sz="1200">
                <a:solidFill>
                  <a:srgbClr val="374151"/>
                </a:solidFill>
                <a:latin typeface="Roboto"/>
                <a:ea typeface="Roboto"/>
                <a:cs typeface="Roboto"/>
                <a:sym typeface="Roboto"/>
              </a:rPr>
              <a:t>  is the probability of email consists of certain context </a:t>
            </a:r>
            <a:endParaRPr sz="1200">
              <a:solidFill>
                <a:srgbClr val="374151"/>
              </a:solidFill>
              <a:latin typeface="Roboto"/>
              <a:ea typeface="Roboto"/>
              <a:cs typeface="Roboto"/>
              <a:sym typeface="Roboto"/>
            </a:endParaRPr>
          </a:p>
          <a:p>
            <a:pPr indent="-304800" lvl="0" marL="457200" rtl="0" algn="l">
              <a:lnSpc>
                <a:spcPct val="120000"/>
              </a:lnSpc>
              <a:spcBef>
                <a:spcPts val="0"/>
              </a:spcBef>
              <a:spcAft>
                <a:spcPts val="0"/>
              </a:spcAft>
              <a:buClr>
                <a:srgbClr val="374151"/>
              </a:buClr>
              <a:buSzPts val="1200"/>
              <a:buFont typeface="Roboto"/>
              <a:buChar char="●"/>
            </a:pPr>
            <a:r>
              <a:rPr i="1" lang="en" sz="1450">
                <a:solidFill>
                  <a:srgbClr val="374151"/>
                </a:solidFill>
                <a:latin typeface="Times New Roman"/>
                <a:ea typeface="Times New Roman"/>
                <a:cs typeface="Times New Roman"/>
                <a:sym typeface="Times New Roman"/>
              </a:rPr>
              <a:t>P</a:t>
            </a:r>
            <a:r>
              <a:rPr lang="en" sz="1450">
                <a:solidFill>
                  <a:srgbClr val="374151"/>
                </a:solidFill>
                <a:latin typeface="Times New Roman"/>
                <a:ea typeface="Times New Roman"/>
                <a:cs typeface="Times New Roman"/>
                <a:sym typeface="Times New Roman"/>
              </a:rPr>
              <a:t>(</a:t>
            </a:r>
            <a:r>
              <a:rPr i="1" lang="en" sz="1450">
                <a:solidFill>
                  <a:srgbClr val="374151"/>
                </a:solidFill>
                <a:latin typeface="Times New Roman"/>
                <a:ea typeface="Times New Roman"/>
                <a:cs typeface="Times New Roman"/>
                <a:sym typeface="Times New Roman"/>
              </a:rPr>
              <a:t>Spam</a:t>
            </a:r>
            <a:r>
              <a:rPr lang="en" sz="1450">
                <a:solidFill>
                  <a:srgbClr val="374151"/>
                </a:solidFill>
                <a:latin typeface="Times New Roman"/>
                <a:ea typeface="Times New Roman"/>
                <a:cs typeface="Times New Roman"/>
                <a:sym typeface="Times New Roman"/>
              </a:rPr>
              <a:t>)</a:t>
            </a:r>
            <a:r>
              <a:rPr lang="en" sz="1200">
                <a:solidFill>
                  <a:srgbClr val="374151"/>
                </a:solidFill>
                <a:latin typeface="Roboto"/>
                <a:ea typeface="Roboto"/>
                <a:cs typeface="Roboto"/>
                <a:sym typeface="Roboto"/>
              </a:rPr>
              <a:t> is the possibility of spam email occurs in our inbox</a:t>
            </a:r>
            <a:endParaRPr sz="1200">
              <a:solidFill>
                <a:srgbClr val="374151"/>
              </a:solidFill>
              <a:latin typeface="Roboto"/>
              <a:ea typeface="Roboto"/>
              <a:cs typeface="Roboto"/>
              <a:sym typeface="Roboto"/>
            </a:endParaRPr>
          </a:p>
          <a:p>
            <a:pPr indent="-304800" lvl="0" marL="457200" rtl="0" algn="l">
              <a:lnSpc>
                <a:spcPct val="115000"/>
              </a:lnSpc>
              <a:spcBef>
                <a:spcPts val="0"/>
              </a:spcBef>
              <a:spcAft>
                <a:spcPts val="0"/>
              </a:spcAft>
              <a:buClr>
                <a:srgbClr val="374151"/>
              </a:buClr>
              <a:buSzPts val="1200"/>
              <a:buFont typeface="Roboto"/>
              <a:buChar char="●"/>
            </a:pPr>
            <a:r>
              <a:rPr i="1" lang="en" sz="1350">
                <a:solidFill>
                  <a:srgbClr val="374151"/>
                </a:solidFill>
                <a:highlight>
                  <a:srgbClr val="FF9900"/>
                </a:highlight>
                <a:latin typeface="Times New Roman"/>
                <a:ea typeface="Times New Roman"/>
                <a:cs typeface="Times New Roman"/>
                <a:sym typeface="Times New Roman"/>
              </a:rPr>
              <a:t>P</a:t>
            </a:r>
            <a:r>
              <a:rPr lang="en" sz="1350">
                <a:solidFill>
                  <a:srgbClr val="374151"/>
                </a:solidFill>
                <a:highlight>
                  <a:srgbClr val="FF9900"/>
                </a:highlight>
                <a:latin typeface="Times New Roman"/>
                <a:ea typeface="Times New Roman"/>
                <a:cs typeface="Times New Roman"/>
                <a:sym typeface="Times New Roman"/>
              </a:rPr>
              <a:t>(Spam∣Word)</a:t>
            </a:r>
            <a:r>
              <a:rPr lang="en" sz="1100">
                <a:solidFill>
                  <a:srgbClr val="374151"/>
                </a:solidFill>
                <a:latin typeface="Roboto"/>
                <a:ea typeface="Roboto"/>
                <a:cs typeface="Roboto"/>
                <a:sym typeface="Roboto"/>
              </a:rPr>
              <a:t> is the probability that an email is spam given a certain word in the email. </a:t>
            </a:r>
            <a:r>
              <a:rPr lang="en" sz="1100">
                <a:solidFill>
                  <a:srgbClr val="374151"/>
                </a:solidFill>
                <a:highlight>
                  <a:srgbClr val="E69138"/>
                </a:highlight>
                <a:latin typeface="Roboto"/>
                <a:ea typeface="Roboto"/>
                <a:cs typeface="Roboto"/>
                <a:sym typeface="Roboto"/>
              </a:rPr>
              <a:t>(What we want to Know)</a:t>
            </a:r>
            <a:endParaRPr sz="1300">
              <a:highlight>
                <a:srgbClr val="E69138"/>
              </a:high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pic>
        <p:nvPicPr>
          <p:cNvPr id="159" name="Google Shape;159;p18"/>
          <p:cNvPicPr preferRelativeResize="0"/>
          <p:nvPr/>
        </p:nvPicPr>
        <p:blipFill>
          <a:blip r:embed="rId3">
            <a:alphaModFix/>
          </a:blip>
          <a:stretch>
            <a:fillRect/>
          </a:stretch>
        </p:blipFill>
        <p:spPr>
          <a:xfrm>
            <a:off x="472975" y="267075"/>
            <a:ext cx="2111626" cy="2111626"/>
          </a:xfrm>
          <a:prstGeom prst="rect">
            <a:avLst/>
          </a:prstGeom>
          <a:noFill/>
          <a:ln>
            <a:noFill/>
          </a:ln>
        </p:spPr>
      </p:pic>
      <p:pic>
        <p:nvPicPr>
          <p:cNvPr id="160" name="Google Shape;160;p18"/>
          <p:cNvPicPr preferRelativeResize="0"/>
          <p:nvPr/>
        </p:nvPicPr>
        <p:blipFill>
          <a:blip r:embed="rId4">
            <a:alphaModFix/>
          </a:blip>
          <a:stretch>
            <a:fillRect/>
          </a:stretch>
        </p:blipFill>
        <p:spPr>
          <a:xfrm>
            <a:off x="472975" y="2503825"/>
            <a:ext cx="2111626" cy="2111626"/>
          </a:xfrm>
          <a:prstGeom prst="rect">
            <a:avLst/>
          </a:prstGeom>
          <a:noFill/>
          <a:ln>
            <a:noFill/>
          </a:ln>
        </p:spPr>
      </p:pic>
      <p:pic>
        <p:nvPicPr>
          <p:cNvPr id="161" name="Google Shape;161;p18"/>
          <p:cNvPicPr preferRelativeResize="0"/>
          <p:nvPr/>
        </p:nvPicPr>
        <p:blipFill>
          <a:blip r:embed="rId5">
            <a:alphaModFix/>
          </a:blip>
          <a:stretch>
            <a:fillRect/>
          </a:stretch>
        </p:blipFill>
        <p:spPr>
          <a:xfrm>
            <a:off x="2677875" y="335000"/>
            <a:ext cx="2936211" cy="2236750"/>
          </a:xfrm>
          <a:prstGeom prst="rect">
            <a:avLst/>
          </a:prstGeom>
          <a:noFill/>
          <a:ln>
            <a:noFill/>
          </a:ln>
        </p:spPr>
      </p:pic>
      <p:pic>
        <p:nvPicPr>
          <p:cNvPr id="162" name="Google Shape;162;p18"/>
          <p:cNvPicPr preferRelativeResize="0"/>
          <p:nvPr/>
        </p:nvPicPr>
        <p:blipFill>
          <a:blip r:embed="rId6">
            <a:alphaModFix/>
          </a:blip>
          <a:stretch>
            <a:fillRect/>
          </a:stretch>
        </p:blipFill>
        <p:spPr>
          <a:xfrm>
            <a:off x="2677875" y="2427750"/>
            <a:ext cx="3573801" cy="1909075"/>
          </a:xfrm>
          <a:prstGeom prst="rect">
            <a:avLst/>
          </a:prstGeom>
          <a:noFill/>
          <a:ln>
            <a:noFill/>
          </a:ln>
        </p:spPr>
      </p:pic>
      <p:pic>
        <p:nvPicPr>
          <p:cNvPr id="163" name="Google Shape;163;p18"/>
          <p:cNvPicPr preferRelativeResize="0"/>
          <p:nvPr/>
        </p:nvPicPr>
        <p:blipFill>
          <a:blip r:embed="rId7">
            <a:alphaModFix/>
          </a:blip>
          <a:stretch>
            <a:fillRect/>
          </a:stretch>
        </p:blipFill>
        <p:spPr>
          <a:xfrm>
            <a:off x="6458611" y="479925"/>
            <a:ext cx="2136707" cy="1685925"/>
          </a:xfrm>
          <a:prstGeom prst="rect">
            <a:avLst/>
          </a:prstGeom>
          <a:noFill/>
          <a:ln>
            <a:noFill/>
          </a:ln>
        </p:spPr>
      </p:pic>
      <p:pic>
        <p:nvPicPr>
          <p:cNvPr id="164" name="Google Shape;164;p18"/>
          <p:cNvPicPr preferRelativeResize="0"/>
          <p:nvPr/>
        </p:nvPicPr>
        <p:blipFill>
          <a:blip r:embed="rId8">
            <a:alphaModFix/>
          </a:blip>
          <a:stretch>
            <a:fillRect/>
          </a:stretch>
        </p:blipFill>
        <p:spPr>
          <a:xfrm>
            <a:off x="6344950" y="2427750"/>
            <a:ext cx="2209925" cy="1743700"/>
          </a:xfrm>
          <a:prstGeom prst="rect">
            <a:avLst/>
          </a:prstGeom>
          <a:noFill/>
          <a:ln>
            <a:noFill/>
          </a:ln>
        </p:spPr>
      </p:pic>
      <p:pic>
        <p:nvPicPr>
          <p:cNvPr id="165" name="Google Shape;165;p18"/>
          <p:cNvPicPr preferRelativeResize="0"/>
          <p:nvPr/>
        </p:nvPicPr>
        <p:blipFill>
          <a:blip r:embed="rId9">
            <a:alphaModFix/>
          </a:blip>
          <a:stretch>
            <a:fillRect/>
          </a:stretch>
        </p:blipFill>
        <p:spPr>
          <a:xfrm>
            <a:off x="6821738" y="1861275"/>
            <a:ext cx="1256361" cy="304575"/>
          </a:xfrm>
          <a:prstGeom prst="rect">
            <a:avLst/>
          </a:prstGeom>
          <a:noFill/>
          <a:ln>
            <a:noFill/>
          </a:ln>
        </p:spPr>
      </p:pic>
      <p:pic>
        <p:nvPicPr>
          <p:cNvPr id="166" name="Google Shape;166;p18"/>
          <p:cNvPicPr preferRelativeResize="0"/>
          <p:nvPr/>
        </p:nvPicPr>
        <p:blipFill>
          <a:blip r:embed="rId10">
            <a:alphaModFix/>
          </a:blip>
          <a:stretch>
            <a:fillRect/>
          </a:stretch>
        </p:blipFill>
        <p:spPr>
          <a:xfrm>
            <a:off x="6821750" y="3908825"/>
            <a:ext cx="1440175" cy="3491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19"/>
          <p:cNvSpPr txBox="1"/>
          <p:nvPr>
            <p:ph type="title"/>
          </p:nvPr>
        </p:nvSpPr>
        <p:spPr>
          <a:xfrm>
            <a:off x="2435125" y="786475"/>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“Dear Friend”</a:t>
            </a:r>
            <a:endParaRPr/>
          </a:p>
        </p:txBody>
      </p:sp>
      <p:pic>
        <p:nvPicPr>
          <p:cNvPr id="172" name="Google Shape;172;p19"/>
          <p:cNvPicPr preferRelativeResize="0"/>
          <p:nvPr/>
        </p:nvPicPr>
        <p:blipFill>
          <a:blip r:embed="rId3">
            <a:alphaModFix/>
          </a:blip>
          <a:stretch>
            <a:fillRect/>
          </a:stretch>
        </p:blipFill>
        <p:spPr>
          <a:xfrm>
            <a:off x="404000" y="327700"/>
            <a:ext cx="1990400" cy="1990400"/>
          </a:xfrm>
          <a:prstGeom prst="rect">
            <a:avLst/>
          </a:prstGeom>
          <a:noFill/>
          <a:ln>
            <a:noFill/>
          </a:ln>
        </p:spPr>
      </p:pic>
      <p:pic>
        <p:nvPicPr>
          <p:cNvPr id="173" name="Google Shape;173;p19"/>
          <p:cNvPicPr preferRelativeResize="0"/>
          <p:nvPr/>
        </p:nvPicPr>
        <p:blipFill>
          <a:blip r:embed="rId4">
            <a:alphaModFix/>
          </a:blip>
          <a:stretch>
            <a:fillRect/>
          </a:stretch>
        </p:blipFill>
        <p:spPr>
          <a:xfrm>
            <a:off x="2473975" y="1788000"/>
            <a:ext cx="4424174" cy="679875"/>
          </a:xfrm>
          <a:prstGeom prst="rect">
            <a:avLst/>
          </a:prstGeom>
          <a:noFill/>
          <a:ln>
            <a:noFill/>
          </a:ln>
        </p:spPr>
      </p:pic>
      <p:pic>
        <p:nvPicPr>
          <p:cNvPr id="174" name="Google Shape;174;p19"/>
          <p:cNvPicPr preferRelativeResize="0"/>
          <p:nvPr/>
        </p:nvPicPr>
        <p:blipFill>
          <a:blip r:embed="rId5">
            <a:alphaModFix/>
          </a:blip>
          <a:stretch>
            <a:fillRect/>
          </a:stretch>
        </p:blipFill>
        <p:spPr>
          <a:xfrm>
            <a:off x="6960600" y="1978177"/>
            <a:ext cx="1054475" cy="390975"/>
          </a:xfrm>
          <a:prstGeom prst="rect">
            <a:avLst/>
          </a:prstGeom>
          <a:noFill/>
          <a:ln>
            <a:noFill/>
          </a:ln>
        </p:spPr>
      </p:pic>
      <p:pic>
        <p:nvPicPr>
          <p:cNvPr id="175" name="Google Shape;175;p19"/>
          <p:cNvPicPr preferRelativeResize="0"/>
          <p:nvPr/>
        </p:nvPicPr>
        <p:blipFill>
          <a:blip r:embed="rId6">
            <a:alphaModFix/>
          </a:blip>
          <a:stretch>
            <a:fillRect/>
          </a:stretch>
        </p:blipFill>
        <p:spPr>
          <a:xfrm>
            <a:off x="2498450" y="2785975"/>
            <a:ext cx="4375224" cy="439475"/>
          </a:xfrm>
          <a:prstGeom prst="rect">
            <a:avLst/>
          </a:prstGeom>
          <a:noFill/>
          <a:ln>
            <a:noFill/>
          </a:ln>
        </p:spPr>
      </p:pic>
      <p:pic>
        <p:nvPicPr>
          <p:cNvPr id="176" name="Google Shape;176;p19"/>
          <p:cNvPicPr preferRelativeResize="0"/>
          <p:nvPr/>
        </p:nvPicPr>
        <p:blipFill>
          <a:blip r:embed="rId7">
            <a:alphaModFix/>
          </a:blip>
          <a:stretch>
            <a:fillRect/>
          </a:stretch>
        </p:blipFill>
        <p:spPr>
          <a:xfrm>
            <a:off x="6947400" y="2785979"/>
            <a:ext cx="1080871" cy="439475"/>
          </a:xfrm>
          <a:prstGeom prst="rect">
            <a:avLst/>
          </a:prstGeom>
          <a:noFill/>
          <a:ln>
            <a:noFill/>
          </a:ln>
        </p:spPr>
      </p:pic>
      <p:cxnSp>
        <p:nvCxnSpPr>
          <p:cNvPr id="177" name="Google Shape;177;p19"/>
          <p:cNvCxnSpPr/>
          <p:nvPr/>
        </p:nvCxnSpPr>
        <p:spPr>
          <a:xfrm>
            <a:off x="7399282" y="2461075"/>
            <a:ext cx="203400" cy="324900"/>
          </a:xfrm>
          <a:prstGeom prst="straightConnector1">
            <a:avLst/>
          </a:prstGeom>
          <a:noFill/>
          <a:ln cap="flat" cmpd="sng" w="76200">
            <a:solidFill>
              <a:srgbClr val="FF0000"/>
            </a:solidFill>
            <a:prstDash val="solid"/>
            <a:round/>
            <a:headEnd len="med" w="med" type="none"/>
            <a:tailEnd len="med" w="med" type="none"/>
          </a:ln>
        </p:spPr>
      </p:cxnSp>
      <p:cxnSp>
        <p:nvCxnSpPr>
          <p:cNvPr id="178" name="Google Shape;178;p19"/>
          <p:cNvCxnSpPr/>
          <p:nvPr/>
        </p:nvCxnSpPr>
        <p:spPr>
          <a:xfrm flipH="1">
            <a:off x="7602682" y="2461075"/>
            <a:ext cx="203400" cy="324900"/>
          </a:xfrm>
          <a:prstGeom prst="straightConnector1">
            <a:avLst/>
          </a:prstGeom>
          <a:noFill/>
          <a:ln cap="flat" cmpd="sng" w="76200">
            <a:solidFill>
              <a:srgbClr val="FF0000"/>
            </a:solidFill>
            <a:prstDash val="solid"/>
            <a:round/>
            <a:headEnd len="med" w="med" type="none"/>
            <a:tailEnd len="med" w="med" type="none"/>
          </a:ln>
        </p:spPr>
      </p:cxnSp>
      <p:sp>
        <p:nvSpPr>
          <p:cNvPr id="179" name="Google Shape;179;p19"/>
          <p:cNvSpPr txBox="1"/>
          <p:nvPr/>
        </p:nvSpPr>
        <p:spPr>
          <a:xfrm>
            <a:off x="1910775" y="3311100"/>
            <a:ext cx="5175000" cy="438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b="1" i="1" lang="en" sz="1650">
                <a:solidFill>
                  <a:srgbClr val="374151"/>
                </a:solidFill>
                <a:latin typeface="Times New Roman"/>
                <a:ea typeface="Times New Roman"/>
                <a:cs typeface="Times New Roman"/>
                <a:sym typeface="Times New Roman"/>
              </a:rPr>
              <a:t>P</a:t>
            </a:r>
            <a:r>
              <a:rPr b="1" lang="en" sz="1650">
                <a:solidFill>
                  <a:srgbClr val="374151"/>
                </a:solidFill>
                <a:latin typeface="Times New Roman"/>
                <a:ea typeface="Times New Roman"/>
                <a:cs typeface="Times New Roman"/>
                <a:sym typeface="Times New Roman"/>
              </a:rPr>
              <a:t>( </a:t>
            </a:r>
            <a:r>
              <a:rPr b="1" i="1" lang="en" sz="1650">
                <a:solidFill>
                  <a:srgbClr val="374151"/>
                </a:solidFill>
                <a:latin typeface="Times New Roman"/>
                <a:ea typeface="Times New Roman"/>
                <a:cs typeface="Times New Roman"/>
                <a:sym typeface="Times New Roman"/>
              </a:rPr>
              <a:t>Dear Friend </a:t>
            </a:r>
            <a:r>
              <a:rPr b="1" lang="en" sz="1650">
                <a:solidFill>
                  <a:srgbClr val="374151"/>
                </a:solidFill>
                <a:latin typeface="Times New Roman"/>
                <a:ea typeface="Times New Roman"/>
                <a:cs typeface="Times New Roman"/>
                <a:sym typeface="Times New Roman"/>
              </a:rPr>
              <a:t>∣ </a:t>
            </a:r>
            <a:r>
              <a:rPr b="1" i="1" lang="en" sz="1650">
                <a:solidFill>
                  <a:srgbClr val="3C78D8"/>
                </a:solidFill>
                <a:latin typeface="Times New Roman"/>
                <a:ea typeface="Times New Roman"/>
                <a:cs typeface="Times New Roman"/>
                <a:sym typeface="Times New Roman"/>
              </a:rPr>
              <a:t>N </a:t>
            </a:r>
            <a:r>
              <a:rPr b="1" lang="en" sz="1650">
                <a:solidFill>
                  <a:srgbClr val="374151"/>
                </a:solidFill>
                <a:latin typeface="Times New Roman"/>
                <a:ea typeface="Times New Roman"/>
                <a:cs typeface="Times New Roman"/>
                <a:sym typeface="Times New Roman"/>
              </a:rPr>
              <a:t>) = </a:t>
            </a:r>
            <a:r>
              <a:rPr b="1" i="1" lang="en" sz="1650">
                <a:solidFill>
                  <a:srgbClr val="374151"/>
                </a:solidFill>
                <a:latin typeface="Times New Roman"/>
                <a:ea typeface="Times New Roman"/>
                <a:cs typeface="Times New Roman"/>
                <a:sym typeface="Times New Roman"/>
              </a:rPr>
              <a:t>P</a:t>
            </a:r>
            <a:r>
              <a:rPr b="1" lang="en" sz="1650">
                <a:solidFill>
                  <a:srgbClr val="374151"/>
                </a:solidFill>
                <a:latin typeface="Times New Roman"/>
                <a:ea typeface="Times New Roman"/>
                <a:cs typeface="Times New Roman"/>
                <a:sym typeface="Times New Roman"/>
              </a:rPr>
              <a:t>(</a:t>
            </a:r>
            <a:r>
              <a:rPr b="1" i="1" lang="en" sz="1650">
                <a:solidFill>
                  <a:srgbClr val="374151"/>
                </a:solidFill>
                <a:latin typeface="Times New Roman"/>
                <a:ea typeface="Times New Roman"/>
                <a:cs typeface="Times New Roman"/>
                <a:sym typeface="Times New Roman"/>
              </a:rPr>
              <a:t>Dear </a:t>
            </a:r>
            <a:r>
              <a:rPr b="1" lang="en" sz="1650">
                <a:solidFill>
                  <a:srgbClr val="374151"/>
                </a:solidFill>
                <a:latin typeface="Times New Roman"/>
                <a:ea typeface="Times New Roman"/>
                <a:cs typeface="Times New Roman"/>
                <a:sym typeface="Times New Roman"/>
              </a:rPr>
              <a:t>∣ </a:t>
            </a:r>
            <a:r>
              <a:rPr b="1" i="1" lang="en" sz="1650">
                <a:solidFill>
                  <a:srgbClr val="3C78D8"/>
                </a:solidFill>
                <a:latin typeface="Times New Roman"/>
                <a:ea typeface="Times New Roman"/>
                <a:cs typeface="Times New Roman"/>
                <a:sym typeface="Times New Roman"/>
              </a:rPr>
              <a:t>N </a:t>
            </a:r>
            <a:r>
              <a:rPr b="1" lang="en" sz="1650">
                <a:solidFill>
                  <a:srgbClr val="374151"/>
                </a:solidFill>
                <a:latin typeface="Times New Roman"/>
                <a:ea typeface="Times New Roman"/>
                <a:cs typeface="Times New Roman"/>
                <a:sym typeface="Times New Roman"/>
              </a:rPr>
              <a:t>) x </a:t>
            </a:r>
            <a:r>
              <a:rPr b="1" i="1" lang="en" sz="1650">
                <a:solidFill>
                  <a:srgbClr val="374151"/>
                </a:solidFill>
                <a:latin typeface="Times New Roman"/>
                <a:ea typeface="Times New Roman"/>
                <a:cs typeface="Times New Roman"/>
                <a:sym typeface="Times New Roman"/>
              </a:rPr>
              <a:t>P</a:t>
            </a:r>
            <a:r>
              <a:rPr b="1" lang="en" sz="1650">
                <a:solidFill>
                  <a:srgbClr val="374151"/>
                </a:solidFill>
                <a:latin typeface="Times New Roman"/>
                <a:ea typeface="Times New Roman"/>
                <a:cs typeface="Times New Roman"/>
                <a:sym typeface="Times New Roman"/>
              </a:rPr>
              <a:t>(</a:t>
            </a:r>
            <a:r>
              <a:rPr b="1" i="1" lang="en" sz="1650">
                <a:solidFill>
                  <a:srgbClr val="374151"/>
                </a:solidFill>
                <a:latin typeface="Times New Roman"/>
                <a:ea typeface="Times New Roman"/>
                <a:cs typeface="Times New Roman"/>
                <a:sym typeface="Times New Roman"/>
              </a:rPr>
              <a:t> Friend </a:t>
            </a:r>
            <a:r>
              <a:rPr b="1" lang="en" sz="1650">
                <a:solidFill>
                  <a:srgbClr val="374151"/>
                </a:solidFill>
                <a:latin typeface="Times New Roman"/>
                <a:ea typeface="Times New Roman"/>
                <a:cs typeface="Times New Roman"/>
                <a:sym typeface="Times New Roman"/>
              </a:rPr>
              <a:t>∣ </a:t>
            </a:r>
            <a:r>
              <a:rPr b="1" i="1" lang="en" sz="1650">
                <a:solidFill>
                  <a:srgbClr val="3C78D8"/>
                </a:solidFill>
                <a:latin typeface="Times New Roman"/>
                <a:ea typeface="Times New Roman"/>
                <a:cs typeface="Times New Roman"/>
                <a:sym typeface="Times New Roman"/>
              </a:rPr>
              <a:t>N </a:t>
            </a:r>
            <a:r>
              <a:rPr b="1" lang="en" sz="1650">
                <a:solidFill>
                  <a:srgbClr val="374151"/>
                </a:solidFill>
                <a:latin typeface="Times New Roman"/>
                <a:ea typeface="Times New Roman"/>
                <a:cs typeface="Times New Roman"/>
                <a:sym typeface="Times New Roman"/>
              </a:rPr>
              <a:t>)  ???</a:t>
            </a:r>
            <a:endParaRPr b="1" sz="1600"/>
          </a:p>
        </p:txBody>
      </p:sp>
      <p:sp>
        <p:nvSpPr>
          <p:cNvPr id="180" name="Google Shape;180;p19"/>
          <p:cNvSpPr txBox="1"/>
          <p:nvPr/>
        </p:nvSpPr>
        <p:spPr>
          <a:xfrm>
            <a:off x="899375" y="3699125"/>
            <a:ext cx="77550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50">
                <a:highlight>
                  <a:schemeClr val="dk1"/>
                </a:highlight>
                <a:latin typeface="Times New Roman"/>
                <a:ea typeface="Times New Roman"/>
                <a:cs typeface="Times New Roman"/>
                <a:sym typeface="Times New Roman"/>
              </a:rPr>
              <a:t>"Naive"</a:t>
            </a:r>
            <a:r>
              <a:rPr lang="en" sz="1350">
                <a:highlight>
                  <a:schemeClr val="dk1"/>
                </a:highlight>
                <a:latin typeface="Times New Roman"/>
                <a:ea typeface="Times New Roman"/>
                <a:cs typeface="Times New Roman"/>
                <a:sym typeface="Times New Roman"/>
              </a:rPr>
              <a:t>  Bayes classifier assumptions come into play: assume that all words in are </a:t>
            </a:r>
            <a:r>
              <a:rPr b="1" lang="en" sz="1350">
                <a:highlight>
                  <a:schemeClr val="dk1"/>
                </a:highlight>
                <a:uFill>
                  <a:noFill/>
                </a:uFill>
                <a:latin typeface="Times New Roman"/>
                <a:ea typeface="Times New Roman"/>
                <a:cs typeface="Times New Roman"/>
                <a:sym typeface="Times New Roman"/>
                <a:hlinkClick r:id="rId8"/>
              </a:rPr>
              <a:t>mutually independent</a:t>
            </a:r>
            <a:endParaRPr b="1" sz="1700">
              <a:highlight>
                <a:schemeClr val="dk1"/>
              </a:highlight>
              <a:latin typeface="Times New Roman"/>
              <a:ea typeface="Times New Roman"/>
              <a:cs typeface="Times New Roman"/>
              <a:sym typeface="Times New Roman"/>
            </a:endParaRPr>
          </a:p>
          <a:p>
            <a:pPr indent="0" lvl="0" marL="0" marR="0" rtl="0" algn="l">
              <a:lnSpc>
                <a:spcPct val="115000"/>
              </a:lnSpc>
              <a:spcBef>
                <a:spcPts val="0"/>
              </a:spcBef>
              <a:spcAft>
                <a:spcPts val="0"/>
              </a:spcAft>
              <a:buNone/>
            </a:pPr>
            <a:r>
              <a:t/>
            </a:r>
            <a:endParaRPr b="1" i="1" sz="1950">
              <a:highlight>
                <a:schemeClr val="dk1"/>
              </a:highlight>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0"/>
          <p:cNvSpPr txBox="1"/>
          <p:nvPr>
            <p:ph type="title"/>
          </p:nvPr>
        </p:nvSpPr>
        <p:spPr>
          <a:xfrm>
            <a:off x="3107100" y="1976550"/>
            <a:ext cx="3567300" cy="59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 Processing</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85"/>
                                        </p:tgtEl>
                                        <p:attrNameLst>
                                          <p:attrName>style.visibility</p:attrName>
                                        </p:attrNameLst>
                                      </p:cBhvr>
                                      <p:to>
                                        <p:strVal val="visible"/>
                                      </p:to>
                                    </p:set>
                                    <p:anim calcmode="lin" valueType="num">
                                      <p:cBhvr additive="base">
                                        <p:cTn dur="1000"/>
                                        <p:tgtEl>
                                          <p:spTgt spid="185"/>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1"/>
          <p:cNvSpPr txBox="1"/>
          <p:nvPr>
            <p:ph type="title"/>
          </p:nvPr>
        </p:nvSpPr>
        <p:spPr>
          <a:xfrm>
            <a:off x="819150" y="845600"/>
            <a:ext cx="5571600" cy="660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Data Processing - Data Source</a:t>
            </a:r>
            <a:endParaRPr/>
          </a:p>
        </p:txBody>
      </p:sp>
      <p:sp>
        <p:nvSpPr>
          <p:cNvPr id="191" name="Google Shape;191;p21"/>
          <p:cNvSpPr txBox="1"/>
          <p:nvPr>
            <p:ph idx="1" type="body"/>
          </p:nvPr>
        </p:nvSpPr>
        <p:spPr>
          <a:xfrm>
            <a:off x="819150" y="3084950"/>
            <a:ext cx="6382800" cy="1856100"/>
          </a:xfrm>
          <a:prstGeom prst="rect">
            <a:avLst/>
          </a:prstGeom>
        </p:spPr>
        <p:txBody>
          <a:bodyPr anchorCtr="0" anchor="t" bIns="91425" lIns="91425" spcFirstLastPara="1" rIns="91425" wrap="square" tIns="91425">
            <a:normAutofit/>
          </a:bodyPr>
          <a:lstStyle/>
          <a:p>
            <a:pPr indent="-311240" lvl="0" marL="457200" rtl="0" algn="l">
              <a:lnSpc>
                <a:spcPct val="150000"/>
              </a:lnSpc>
              <a:spcBef>
                <a:spcPts val="1500"/>
              </a:spcBef>
              <a:spcAft>
                <a:spcPts val="0"/>
              </a:spcAft>
              <a:buClr>
                <a:srgbClr val="374151"/>
              </a:buClr>
              <a:buSzPts val="1301"/>
              <a:buFont typeface="Roboto"/>
              <a:buChar char="■"/>
            </a:pPr>
            <a:r>
              <a:rPr b="1" lang="en" sz="1601">
                <a:solidFill>
                  <a:schemeClr val="lt1"/>
                </a:solidFill>
                <a:latin typeface="Roboto"/>
                <a:ea typeface="Roboto"/>
                <a:cs typeface="Roboto"/>
                <a:sym typeface="Roboto"/>
              </a:rPr>
              <a:t>Input for Models:</a:t>
            </a:r>
            <a:r>
              <a:rPr lang="en" sz="1701">
                <a:solidFill>
                  <a:srgbClr val="0000FF"/>
                </a:solidFill>
                <a:latin typeface="Roboto"/>
                <a:ea typeface="Roboto"/>
                <a:cs typeface="Roboto"/>
                <a:sym typeface="Roboto"/>
              </a:rPr>
              <a:t> </a:t>
            </a:r>
            <a:r>
              <a:rPr lang="en" sz="1377">
                <a:solidFill>
                  <a:srgbClr val="374151"/>
                </a:solidFill>
                <a:latin typeface="Roboto"/>
                <a:ea typeface="Roboto"/>
                <a:cs typeface="Roboto"/>
                <a:sym typeface="Roboto"/>
              </a:rPr>
              <a:t>Machine learning models learn from data.</a:t>
            </a:r>
            <a:r>
              <a:rPr lang="en" sz="1701">
                <a:solidFill>
                  <a:srgbClr val="374151"/>
                </a:solidFill>
                <a:latin typeface="Roboto"/>
                <a:ea typeface="Roboto"/>
                <a:cs typeface="Roboto"/>
                <a:sym typeface="Roboto"/>
              </a:rPr>
              <a:t> </a:t>
            </a:r>
            <a:endParaRPr sz="1701">
              <a:solidFill>
                <a:srgbClr val="374151"/>
              </a:solidFill>
              <a:latin typeface="Roboto"/>
              <a:ea typeface="Roboto"/>
              <a:cs typeface="Roboto"/>
              <a:sym typeface="Roboto"/>
            </a:endParaRPr>
          </a:p>
          <a:p>
            <a:pPr indent="-311240" lvl="0" marL="457200" rtl="0" algn="l">
              <a:lnSpc>
                <a:spcPct val="100000"/>
              </a:lnSpc>
              <a:spcBef>
                <a:spcPts val="0"/>
              </a:spcBef>
              <a:spcAft>
                <a:spcPts val="0"/>
              </a:spcAft>
              <a:buClr>
                <a:srgbClr val="374151"/>
              </a:buClr>
              <a:buSzPts val="1301"/>
              <a:buFont typeface="Roboto"/>
              <a:buChar char="■"/>
            </a:pPr>
            <a:r>
              <a:rPr b="1" lang="en" sz="1601">
                <a:solidFill>
                  <a:schemeClr val="lt1"/>
                </a:solidFill>
                <a:latin typeface="Roboto"/>
                <a:ea typeface="Roboto"/>
                <a:cs typeface="Roboto"/>
                <a:sym typeface="Roboto"/>
              </a:rPr>
              <a:t>Model Interpretability:</a:t>
            </a:r>
            <a:r>
              <a:rPr b="1" lang="en" sz="1701">
                <a:solidFill>
                  <a:schemeClr val="lt1"/>
                </a:solidFill>
                <a:latin typeface="Roboto"/>
                <a:ea typeface="Roboto"/>
                <a:cs typeface="Roboto"/>
                <a:sym typeface="Roboto"/>
              </a:rPr>
              <a:t> </a:t>
            </a:r>
            <a:r>
              <a:rPr lang="en" sz="1385">
                <a:solidFill>
                  <a:srgbClr val="374151"/>
                </a:solidFill>
                <a:latin typeface="Roboto"/>
                <a:ea typeface="Roboto"/>
                <a:cs typeface="Roboto"/>
                <a:sym typeface="Roboto"/>
              </a:rPr>
              <a:t>Understanding the relationship between features becomes easier when your data is well-organized. </a:t>
            </a:r>
            <a:endParaRPr sz="1385">
              <a:solidFill>
                <a:srgbClr val="374151"/>
              </a:solidFill>
              <a:latin typeface="Roboto"/>
              <a:ea typeface="Roboto"/>
              <a:cs typeface="Roboto"/>
              <a:sym typeface="Roboto"/>
            </a:endParaRPr>
          </a:p>
          <a:p>
            <a:pPr indent="-320963" lvl="0" marL="457200" rtl="0" algn="l">
              <a:lnSpc>
                <a:spcPct val="100000"/>
              </a:lnSpc>
              <a:spcBef>
                <a:spcPts val="0"/>
              </a:spcBef>
              <a:spcAft>
                <a:spcPts val="0"/>
              </a:spcAft>
              <a:buClr>
                <a:srgbClr val="374151"/>
              </a:buClr>
              <a:buSzPts val="1455"/>
              <a:buFont typeface="Roboto"/>
              <a:buChar char="■"/>
            </a:pPr>
            <a:r>
              <a:rPr b="1" lang="en" sz="1601">
                <a:solidFill>
                  <a:schemeClr val="lt1"/>
                </a:solidFill>
                <a:latin typeface="Roboto"/>
                <a:ea typeface="Roboto"/>
                <a:cs typeface="Roboto"/>
                <a:sym typeface="Roboto"/>
              </a:rPr>
              <a:t>Efficiency</a:t>
            </a:r>
            <a:r>
              <a:rPr b="1" lang="en" sz="1754">
                <a:solidFill>
                  <a:schemeClr val="lt1"/>
                </a:solidFill>
                <a:latin typeface="Roboto"/>
                <a:ea typeface="Roboto"/>
                <a:cs typeface="Roboto"/>
                <a:sym typeface="Roboto"/>
              </a:rPr>
              <a:t>：</a:t>
            </a:r>
            <a:r>
              <a:rPr lang="en" sz="1314">
                <a:solidFill>
                  <a:srgbClr val="374151"/>
                </a:solidFill>
                <a:latin typeface="Roboto"/>
                <a:ea typeface="Roboto"/>
                <a:cs typeface="Roboto"/>
                <a:sym typeface="Roboto"/>
              </a:rPr>
              <a:t>from data preprocessing to model training and evaluation. This efficiency is particularly important when dealing with large datasets.</a:t>
            </a:r>
            <a:endParaRPr sz="1314"/>
          </a:p>
        </p:txBody>
      </p:sp>
      <p:pic>
        <p:nvPicPr>
          <p:cNvPr id="192" name="Google Shape;192;p21"/>
          <p:cNvPicPr preferRelativeResize="0"/>
          <p:nvPr/>
        </p:nvPicPr>
        <p:blipFill>
          <a:blip r:embed="rId3">
            <a:alphaModFix/>
          </a:blip>
          <a:stretch>
            <a:fillRect/>
          </a:stretch>
        </p:blipFill>
        <p:spPr>
          <a:xfrm>
            <a:off x="1047750" y="2116688"/>
            <a:ext cx="3960375" cy="721175"/>
          </a:xfrm>
          <a:prstGeom prst="rect">
            <a:avLst/>
          </a:prstGeom>
          <a:noFill/>
          <a:ln>
            <a:noFill/>
          </a:ln>
        </p:spPr>
      </p:pic>
      <p:pic>
        <p:nvPicPr>
          <p:cNvPr id="193" name="Google Shape;193;p21"/>
          <p:cNvPicPr preferRelativeResize="0"/>
          <p:nvPr/>
        </p:nvPicPr>
        <p:blipFill rotWithShape="1">
          <a:blip r:embed="rId4">
            <a:alphaModFix/>
          </a:blip>
          <a:srcRect b="9853" l="0" r="0" t="0"/>
          <a:stretch/>
        </p:blipFill>
        <p:spPr>
          <a:xfrm>
            <a:off x="5084325" y="2116687"/>
            <a:ext cx="2099025" cy="721175"/>
          </a:xfrm>
          <a:prstGeom prst="rect">
            <a:avLst/>
          </a:prstGeom>
          <a:noFill/>
          <a:ln>
            <a:noFill/>
          </a:ln>
        </p:spPr>
      </p:pic>
      <p:sp>
        <p:nvSpPr>
          <p:cNvPr id="194" name="Google Shape;194;p21"/>
          <p:cNvSpPr txBox="1"/>
          <p:nvPr/>
        </p:nvSpPr>
        <p:spPr>
          <a:xfrm>
            <a:off x="776875" y="1505825"/>
            <a:ext cx="6568800" cy="60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77">
                <a:solidFill>
                  <a:srgbClr val="374151"/>
                </a:solidFill>
                <a:latin typeface="Roboto"/>
                <a:ea typeface="Roboto"/>
                <a:cs typeface="Roboto"/>
                <a:sym typeface="Roboto"/>
              </a:rPr>
              <a:t>The SMS Spam Collection is a public set of SMS labeled messages that have been collected for mobile phone spam research.</a:t>
            </a:r>
            <a:endParaRPr sz="1377">
              <a:solidFill>
                <a:srgbClr val="374151"/>
              </a:solidFill>
              <a:latin typeface="Roboto"/>
              <a:ea typeface="Roboto"/>
              <a:cs typeface="Roboto"/>
              <a:sym typeface="Roboto"/>
            </a:endParaRPr>
          </a:p>
        </p:txBody>
      </p:sp>
      <p:sp>
        <p:nvSpPr>
          <p:cNvPr id="195" name="Google Shape;195;p21"/>
          <p:cNvSpPr/>
          <p:nvPr/>
        </p:nvSpPr>
        <p:spPr>
          <a:xfrm>
            <a:off x="7075775" y="3084950"/>
            <a:ext cx="1540200" cy="1058100"/>
          </a:xfrm>
          <a:prstGeom prst="wedgeEllipseCallout">
            <a:avLst>
              <a:gd fmla="val -54191" name="adj1"/>
              <a:gd fmla="val 40171"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96" name="Google Shape;196;p21"/>
          <p:cNvSpPr txBox="1"/>
          <p:nvPr/>
        </p:nvSpPr>
        <p:spPr>
          <a:xfrm>
            <a:off x="7141475" y="3336450"/>
            <a:ext cx="1474500" cy="48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rgbClr val="FF0000"/>
                </a:solidFill>
                <a:latin typeface="Calibri"/>
                <a:ea typeface="Calibri"/>
                <a:cs typeface="Calibri"/>
                <a:sym typeface="Calibri"/>
              </a:rPr>
              <a:t>The Importance</a:t>
            </a:r>
            <a:endParaRPr b="1" sz="1300">
              <a:solidFill>
                <a:srgbClr val="FF0000"/>
              </a:solidFill>
              <a:latin typeface="Calibri"/>
              <a:ea typeface="Calibri"/>
              <a:cs typeface="Calibri"/>
              <a:sym typeface="Calibri"/>
            </a:endParaRPr>
          </a:p>
          <a:p>
            <a:pPr indent="0" lvl="0" marL="0" rtl="0" algn="l">
              <a:spcBef>
                <a:spcPts val="0"/>
              </a:spcBef>
              <a:spcAft>
                <a:spcPts val="0"/>
              </a:spcAft>
              <a:buNone/>
            </a:pPr>
            <a:r>
              <a:rPr b="1" lang="en" sz="1300">
                <a:solidFill>
                  <a:srgbClr val="FF0000"/>
                </a:solidFill>
                <a:latin typeface="Calibri"/>
                <a:ea typeface="Calibri"/>
                <a:cs typeface="Calibri"/>
                <a:sym typeface="Calibri"/>
              </a:rPr>
              <a:t>o</a:t>
            </a:r>
            <a:r>
              <a:rPr b="1" lang="en" sz="1300">
                <a:solidFill>
                  <a:srgbClr val="FF0000"/>
                </a:solidFill>
                <a:latin typeface="Calibri"/>
                <a:ea typeface="Calibri"/>
                <a:cs typeface="Calibri"/>
                <a:sym typeface="Calibri"/>
              </a:rPr>
              <a:t>f Data Processing</a:t>
            </a:r>
            <a:endParaRPr b="1" sz="1300">
              <a:solidFill>
                <a:srgbClr val="FF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0"/>
                                        </p:tgtEl>
                                        <p:attrNameLst>
                                          <p:attrName>style.visibility</p:attrName>
                                        </p:attrNameLst>
                                      </p:cBhvr>
                                      <p:to>
                                        <p:strVal val="visible"/>
                                      </p:to>
                                    </p:set>
                                    <p:animEffect filter="fade" transition="in">
                                      <p:cBhvr>
                                        <p:cTn dur="1000"/>
                                        <p:tgtEl>
                                          <p:spTgt spid="1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
                                        </p:tgtEl>
                                        <p:attrNameLst>
                                          <p:attrName>style.visibility</p:attrName>
                                        </p:attrNameLst>
                                      </p:cBhvr>
                                      <p:to>
                                        <p:strVal val="visible"/>
                                      </p:to>
                                    </p:set>
                                  </p:childTnLst>
                                </p:cTn>
                              </p:par>
                              <p:par>
                                <p:cTn fill="hold" nodeType="withEffect" presetClass="entr" presetID="2" presetSubtype="2">
                                  <p:stCondLst>
                                    <p:cond delay="0"/>
                                  </p:stCondLst>
                                  <p:childTnLst>
                                    <p:set>
                                      <p:cBhvr>
                                        <p:cTn dur="1" fill="hold">
                                          <p:stCondLst>
                                            <p:cond delay="0"/>
                                          </p:stCondLst>
                                        </p:cTn>
                                        <p:tgtEl>
                                          <p:spTgt spid="196"/>
                                        </p:tgtEl>
                                        <p:attrNameLst>
                                          <p:attrName>style.visibility</p:attrName>
                                        </p:attrNameLst>
                                      </p:cBhvr>
                                      <p:to>
                                        <p:strVal val="visible"/>
                                      </p:to>
                                    </p:set>
                                    <p:anim calcmode="lin" valueType="num">
                                      <p:cBhvr additive="base">
                                        <p:cTn dur="1000"/>
                                        <p:tgtEl>
                                          <p:spTgt spid="196"/>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2"/>
          <p:cNvSpPr txBox="1"/>
          <p:nvPr>
            <p:ph type="title"/>
          </p:nvPr>
        </p:nvSpPr>
        <p:spPr>
          <a:xfrm>
            <a:off x="819150" y="845600"/>
            <a:ext cx="5618400" cy="73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Data Processing - Split Dataset</a:t>
            </a:r>
            <a:endParaRPr/>
          </a:p>
        </p:txBody>
      </p:sp>
      <p:sp>
        <p:nvSpPr>
          <p:cNvPr id="202" name="Google Shape;202;p22"/>
          <p:cNvSpPr txBox="1"/>
          <p:nvPr>
            <p:ph idx="1" type="body"/>
          </p:nvPr>
        </p:nvSpPr>
        <p:spPr>
          <a:xfrm>
            <a:off x="854450" y="3831800"/>
            <a:ext cx="7505700" cy="866400"/>
          </a:xfrm>
          <a:prstGeom prst="rect">
            <a:avLst/>
          </a:prstGeom>
        </p:spPr>
        <p:txBody>
          <a:bodyPr anchorCtr="0" anchor="t" bIns="91425" lIns="91425" spcFirstLastPara="1" rIns="91425" wrap="square" tIns="91425">
            <a:normAutofit/>
          </a:bodyPr>
          <a:lstStyle/>
          <a:p>
            <a:pPr indent="-304800" lvl="0" marL="457200" rtl="0" algn="l">
              <a:spcBef>
                <a:spcPts val="1500"/>
              </a:spcBef>
              <a:spcAft>
                <a:spcPts val="0"/>
              </a:spcAft>
              <a:buClr>
                <a:srgbClr val="374151"/>
              </a:buClr>
              <a:buSzPts val="1200"/>
              <a:buFont typeface="Roboto"/>
              <a:buChar char="●"/>
            </a:pPr>
            <a:r>
              <a:rPr b="1" lang="en" sz="1200">
                <a:solidFill>
                  <a:srgbClr val="000000"/>
                </a:solidFill>
                <a:latin typeface="Roboto"/>
                <a:ea typeface="Roboto"/>
                <a:cs typeface="Roboto"/>
                <a:sym typeface="Roboto"/>
              </a:rPr>
              <a:t>Model Evaluation:</a:t>
            </a:r>
            <a:r>
              <a:rPr b="1" lang="en" sz="1200">
                <a:solidFill>
                  <a:srgbClr val="374151"/>
                </a:solidFill>
                <a:latin typeface="Roboto"/>
                <a:ea typeface="Roboto"/>
                <a:cs typeface="Roboto"/>
                <a:sym typeface="Roboto"/>
              </a:rPr>
              <a:t> </a:t>
            </a:r>
            <a:r>
              <a:rPr lang="en" sz="1200">
                <a:solidFill>
                  <a:srgbClr val="374151"/>
                </a:solidFill>
                <a:latin typeface="Roboto"/>
                <a:ea typeface="Roboto"/>
                <a:cs typeface="Roboto"/>
                <a:sym typeface="Roboto"/>
              </a:rPr>
              <a:t>The testing subset serves as a completely independent dataset that wasn't seen by the model during training. This allows you to assess how well your model generalizes to new, unseen data.</a:t>
            </a:r>
            <a:endParaRPr/>
          </a:p>
        </p:txBody>
      </p:sp>
      <p:sp>
        <p:nvSpPr>
          <p:cNvPr id="203" name="Google Shape;203;p22"/>
          <p:cNvSpPr/>
          <p:nvPr/>
        </p:nvSpPr>
        <p:spPr>
          <a:xfrm>
            <a:off x="2336100" y="1669650"/>
            <a:ext cx="971400" cy="1181100"/>
          </a:xfrm>
          <a:prstGeom prst="snip1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Calibri"/>
              <a:ea typeface="Calibri"/>
              <a:cs typeface="Calibri"/>
              <a:sym typeface="Calibri"/>
            </a:endParaRPr>
          </a:p>
        </p:txBody>
      </p:sp>
      <p:sp>
        <p:nvSpPr>
          <p:cNvPr id="204" name="Google Shape;204;p22"/>
          <p:cNvSpPr/>
          <p:nvPr/>
        </p:nvSpPr>
        <p:spPr>
          <a:xfrm>
            <a:off x="4121600" y="1669650"/>
            <a:ext cx="971400" cy="1181100"/>
          </a:xfrm>
          <a:prstGeom prst="snip1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latin typeface="Calibri"/>
                <a:ea typeface="Calibri"/>
                <a:cs typeface="Calibri"/>
                <a:sym typeface="Calibri"/>
              </a:rPr>
              <a:t>ham</a:t>
            </a:r>
            <a:endParaRPr b="1" sz="1500">
              <a:latin typeface="Calibri"/>
              <a:ea typeface="Calibri"/>
              <a:cs typeface="Calibri"/>
              <a:sym typeface="Calibri"/>
            </a:endParaRPr>
          </a:p>
        </p:txBody>
      </p:sp>
      <p:sp>
        <p:nvSpPr>
          <p:cNvPr id="205" name="Google Shape;205;p22"/>
          <p:cNvSpPr/>
          <p:nvPr/>
        </p:nvSpPr>
        <p:spPr>
          <a:xfrm>
            <a:off x="5694325" y="1669650"/>
            <a:ext cx="971400" cy="1181100"/>
          </a:xfrm>
          <a:prstGeom prst="snip1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latin typeface="Calibri"/>
                <a:ea typeface="Calibri"/>
                <a:cs typeface="Calibri"/>
                <a:sym typeface="Calibri"/>
              </a:rPr>
              <a:t>sp</a:t>
            </a:r>
            <a:r>
              <a:rPr b="1" lang="en" sz="1500">
                <a:latin typeface="Calibri"/>
                <a:ea typeface="Calibri"/>
                <a:cs typeface="Calibri"/>
                <a:sym typeface="Calibri"/>
              </a:rPr>
              <a:t>am</a:t>
            </a:r>
            <a:endParaRPr b="1" sz="1500">
              <a:latin typeface="Calibri"/>
              <a:ea typeface="Calibri"/>
              <a:cs typeface="Calibri"/>
              <a:sym typeface="Calibri"/>
            </a:endParaRPr>
          </a:p>
        </p:txBody>
      </p:sp>
      <p:sp>
        <p:nvSpPr>
          <p:cNvPr id="206" name="Google Shape;206;p22"/>
          <p:cNvSpPr/>
          <p:nvPr/>
        </p:nvSpPr>
        <p:spPr>
          <a:xfrm>
            <a:off x="3573071" y="2129599"/>
            <a:ext cx="242400" cy="276600"/>
          </a:xfrm>
          <a:prstGeom prst="mathEqual">
            <a:avLst>
              <a:gd fmla="val 23520"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07" name="Google Shape;207;p22"/>
          <p:cNvSpPr/>
          <p:nvPr/>
        </p:nvSpPr>
        <p:spPr>
          <a:xfrm>
            <a:off x="5272454" y="2114477"/>
            <a:ext cx="242400" cy="2766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08" name="Google Shape;208;p22"/>
          <p:cNvSpPr/>
          <p:nvPr/>
        </p:nvSpPr>
        <p:spPr>
          <a:xfrm>
            <a:off x="2336100" y="1669638"/>
            <a:ext cx="451200" cy="612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cxnSp>
        <p:nvCxnSpPr>
          <p:cNvPr id="209" name="Google Shape;209;p22"/>
          <p:cNvCxnSpPr/>
          <p:nvPr/>
        </p:nvCxnSpPr>
        <p:spPr>
          <a:xfrm flipH="1" rot="10800000">
            <a:off x="2336100" y="1669638"/>
            <a:ext cx="451200" cy="244200"/>
          </a:xfrm>
          <a:prstGeom prst="straightConnector1">
            <a:avLst/>
          </a:prstGeom>
          <a:noFill/>
          <a:ln cap="flat" cmpd="sng" w="9525">
            <a:solidFill>
              <a:schemeClr val="dk2"/>
            </a:solidFill>
            <a:prstDash val="solid"/>
            <a:round/>
            <a:headEnd len="med" w="med" type="none"/>
            <a:tailEnd len="med" w="med" type="none"/>
          </a:ln>
        </p:spPr>
      </p:cxnSp>
      <p:cxnSp>
        <p:nvCxnSpPr>
          <p:cNvPr id="210" name="Google Shape;210;p22"/>
          <p:cNvCxnSpPr>
            <a:stCxn id="208" idx="1"/>
            <a:endCxn id="208" idx="1"/>
          </p:cNvCxnSpPr>
          <p:nvPr/>
        </p:nvCxnSpPr>
        <p:spPr>
          <a:xfrm>
            <a:off x="2336100" y="1975938"/>
            <a:ext cx="0" cy="0"/>
          </a:xfrm>
          <a:prstGeom prst="straightConnector1">
            <a:avLst/>
          </a:prstGeom>
          <a:noFill/>
          <a:ln cap="flat" cmpd="sng" w="9525">
            <a:solidFill>
              <a:schemeClr val="dk2"/>
            </a:solidFill>
            <a:prstDash val="solid"/>
            <a:round/>
            <a:headEnd len="med" w="med" type="none"/>
            <a:tailEnd len="med" w="med" type="none"/>
          </a:ln>
        </p:spPr>
      </p:cxnSp>
      <p:cxnSp>
        <p:nvCxnSpPr>
          <p:cNvPr id="211" name="Google Shape;211;p22"/>
          <p:cNvCxnSpPr>
            <a:stCxn id="208" idx="1"/>
            <a:endCxn id="208" idx="1"/>
          </p:cNvCxnSpPr>
          <p:nvPr/>
        </p:nvCxnSpPr>
        <p:spPr>
          <a:xfrm>
            <a:off x="2336100" y="1975938"/>
            <a:ext cx="0" cy="0"/>
          </a:xfrm>
          <a:prstGeom prst="straightConnector1">
            <a:avLst/>
          </a:prstGeom>
          <a:noFill/>
          <a:ln cap="flat" cmpd="sng" w="9525">
            <a:solidFill>
              <a:schemeClr val="dk2"/>
            </a:solidFill>
            <a:prstDash val="solid"/>
            <a:round/>
            <a:headEnd len="med" w="med" type="none"/>
            <a:tailEnd len="med" w="med" type="none"/>
          </a:ln>
        </p:spPr>
      </p:cxnSp>
      <p:cxnSp>
        <p:nvCxnSpPr>
          <p:cNvPr id="212" name="Google Shape;212;p22"/>
          <p:cNvCxnSpPr>
            <a:stCxn id="208" idx="1"/>
            <a:endCxn id="208" idx="1"/>
          </p:cNvCxnSpPr>
          <p:nvPr/>
        </p:nvCxnSpPr>
        <p:spPr>
          <a:xfrm>
            <a:off x="2336100" y="1975938"/>
            <a:ext cx="0" cy="0"/>
          </a:xfrm>
          <a:prstGeom prst="straightConnector1">
            <a:avLst/>
          </a:prstGeom>
          <a:noFill/>
          <a:ln cap="flat" cmpd="sng" w="9525">
            <a:solidFill>
              <a:schemeClr val="dk2"/>
            </a:solidFill>
            <a:prstDash val="solid"/>
            <a:round/>
            <a:headEnd len="med" w="med" type="none"/>
            <a:tailEnd len="med" w="med" type="none"/>
          </a:ln>
        </p:spPr>
      </p:cxnSp>
      <p:cxnSp>
        <p:nvCxnSpPr>
          <p:cNvPr id="213" name="Google Shape;213;p22"/>
          <p:cNvCxnSpPr/>
          <p:nvPr/>
        </p:nvCxnSpPr>
        <p:spPr>
          <a:xfrm flipH="1" rot="10800000">
            <a:off x="2336100" y="1784438"/>
            <a:ext cx="451200" cy="244200"/>
          </a:xfrm>
          <a:prstGeom prst="straightConnector1">
            <a:avLst/>
          </a:prstGeom>
          <a:noFill/>
          <a:ln cap="flat" cmpd="sng" w="9525">
            <a:solidFill>
              <a:schemeClr val="dk2"/>
            </a:solidFill>
            <a:prstDash val="solid"/>
            <a:round/>
            <a:headEnd len="med" w="med" type="none"/>
            <a:tailEnd len="med" w="med" type="none"/>
          </a:ln>
        </p:spPr>
      </p:cxnSp>
      <p:cxnSp>
        <p:nvCxnSpPr>
          <p:cNvPr id="214" name="Google Shape;214;p22"/>
          <p:cNvCxnSpPr/>
          <p:nvPr/>
        </p:nvCxnSpPr>
        <p:spPr>
          <a:xfrm flipH="1" rot="10800000">
            <a:off x="2336100" y="1913838"/>
            <a:ext cx="451200" cy="244200"/>
          </a:xfrm>
          <a:prstGeom prst="straightConnector1">
            <a:avLst/>
          </a:prstGeom>
          <a:noFill/>
          <a:ln cap="flat" cmpd="sng" w="9525">
            <a:solidFill>
              <a:schemeClr val="dk2"/>
            </a:solidFill>
            <a:prstDash val="solid"/>
            <a:round/>
            <a:headEnd len="med" w="med" type="none"/>
            <a:tailEnd len="med" w="med" type="none"/>
          </a:ln>
        </p:spPr>
      </p:cxnSp>
      <p:cxnSp>
        <p:nvCxnSpPr>
          <p:cNvPr id="215" name="Google Shape;215;p22"/>
          <p:cNvCxnSpPr/>
          <p:nvPr/>
        </p:nvCxnSpPr>
        <p:spPr>
          <a:xfrm flipH="1" rot="10800000">
            <a:off x="2336100" y="2038038"/>
            <a:ext cx="451200" cy="244200"/>
          </a:xfrm>
          <a:prstGeom prst="straightConnector1">
            <a:avLst/>
          </a:prstGeom>
          <a:noFill/>
          <a:ln cap="flat" cmpd="sng" w="9525">
            <a:solidFill>
              <a:schemeClr val="dk2"/>
            </a:solidFill>
            <a:prstDash val="solid"/>
            <a:round/>
            <a:headEnd len="med" w="med" type="none"/>
            <a:tailEnd len="med" w="med" type="none"/>
          </a:ln>
        </p:spPr>
      </p:cxnSp>
      <p:cxnSp>
        <p:nvCxnSpPr>
          <p:cNvPr id="216" name="Google Shape;216;p22"/>
          <p:cNvCxnSpPr>
            <a:stCxn id="208" idx="0"/>
          </p:cNvCxnSpPr>
          <p:nvPr/>
        </p:nvCxnSpPr>
        <p:spPr>
          <a:xfrm flipH="1">
            <a:off x="2344800" y="1669638"/>
            <a:ext cx="216900" cy="105600"/>
          </a:xfrm>
          <a:prstGeom prst="straightConnector1">
            <a:avLst/>
          </a:prstGeom>
          <a:noFill/>
          <a:ln cap="flat" cmpd="sng" w="9525">
            <a:solidFill>
              <a:schemeClr val="dk2"/>
            </a:solidFill>
            <a:prstDash val="solid"/>
            <a:round/>
            <a:headEnd len="med" w="med" type="none"/>
            <a:tailEnd len="med" w="med" type="none"/>
          </a:ln>
        </p:spPr>
      </p:cxnSp>
      <p:cxnSp>
        <p:nvCxnSpPr>
          <p:cNvPr id="217" name="Google Shape;217;p22"/>
          <p:cNvCxnSpPr>
            <a:stCxn id="208" idx="2"/>
          </p:cNvCxnSpPr>
          <p:nvPr/>
        </p:nvCxnSpPr>
        <p:spPr>
          <a:xfrm flipH="1" rot="10800000">
            <a:off x="2561700" y="2174238"/>
            <a:ext cx="225600" cy="108000"/>
          </a:xfrm>
          <a:prstGeom prst="straightConnector1">
            <a:avLst/>
          </a:prstGeom>
          <a:noFill/>
          <a:ln cap="flat" cmpd="sng" w="9525">
            <a:solidFill>
              <a:schemeClr val="dk2"/>
            </a:solidFill>
            <a:prstDash val="solid"/>
            <a:round/>
            <a:headEnd len="med" w="med" type="none"/>
            <a:tailEnd len="med" w="med" type="none"/>
          </a:ln>
        </p:spPr>
      </p:cxnSp>
      <p:cxnSp>
        <p:nvCxnSpPr>
          <p:cNvPr id="218" name="Google Shape;218;p22"/>
          <p:cNvCxnSpPr>
            <a:stCxn id="208" idx="1"/>
          </p:cNvCxnSpPr>
          <p:nvPr/>
        </p:nvCxnSpPr>
        <p:spPr>
          <a:xfrm rot="10800000">
            <a:off x="1980600" y="1974738"/>
            <a:ext cx="355500" cy="1200"/>
          </a:xfrm>
          <a:prstGeom prst="straightConnector1">
            <a:avLst/>
          </a:prstGeom>
          <a:noFill/>
          <a:ln cap="flat" cmpd="sng" w="9525">
            <a:solidFill>
              <a:schemeClr val="dk2"/>
            </a:solidFill>
            <a:prstDash val="solid"/>
            <a:round/>
            <a:headEnd len="med" w="med" type="none"/>
            <a:tailEnd len="med" w="med" type="triangle"/>
          </a:ln>
        </p:spPr>
      </p:cxnSp>
      <p:cxnSp>
        <p:nvCxnSpPr>
          <p:cNvPr id="219" name="Google Shape;219;p22"/>
          <p:cNvCxnSpPr/>
          <p:nvPr/>
        </p:nvCxnSpPr>
        <p:spPr>
          <a:xfrm rot="10800000">
            <a:off x="1980600" y="2598563"/>
            <a:ext cx="355500" cy="1200"/>
          </a:xfrm>
          <a:prstGeom prst="straightConnector1">
            <a:avLst/>
          </a:prstGeom>
          <a:noFill/>
          <a:ln cap="flat" cmpd="sng" w="9525">
            <a:solidFill>
              <a:schemeClr val="dk2"/>
            </a:solidFill>
            <a:prstDash val="solid"/>
            <a:round/>
            <a:headEnd len="med" w="med" type="none"/>
            <a:tailEnd len="med" w="med" type="triangle"/>
          </a:ln>
        </p:spPr>
      </p:cxnSp>
      <p:sp>
        <p:nvSpPr>
          <p:cNvPr id="220" name="Google Shape;220;p22"/>
          <p:cNvSpPr txBox="1"/>
          <p:nvPr/>
        </p:nvSpPr>
        <p:spPr>
          <a:xfrm>
            <a:off x="2405500" y="1853275"/>
            <a:ext cx="355500" cy="24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300">
              <a:solidFill>
                <a:schemeClr val="dk2"/>
              </a:solidFill>
              <a:latin typeface="Calibri"/>
              <a:ea typeface="Calibri"/>
              <a:cs typeface="Calibri"/>
              <a:sym typeface="Calibri"/>
            </a:endParaRPr>
          </a:p>
        </p:txBody>
      </p:sp>
      <p:sp>
        <p:nvSpPr>
          <p:cNvPr id="221" name="Google Shape;221;p22"/>
          <p:cNvSpPr txBox="1"/>
          <p:nvPr/>
        </p:nvSpPr>
        <p:spPr>
          <a:xfrm>
            <a:off x="923250" y="1645800"/>
            <a:ext cx="1091700" cy="6591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rPr b="1" lang="en" sz="1300">
                <a:solidFill>
                  <a:schemeClr val="dk2"/>
                </a:solidFill>
                <a:latin typeface="Calibri"/>
                <a:ea typeface="Calibri"/>
                <a:cs typeface="Calibri"/>
                <a:sym typeface="Calibri"/>
              </a:rPr>
              <a:t>Testing Subsets:</a:t>
            </a:r>
            <a:r>
              <a:rPr b="1" lang="en" sz="1500">
                <a:solidFill>
                  <a:srgbClr val="FF0000"/>
                </a:solidFill>
                <a:latin typeface="Calibri"/>
                <a:ea typeface="Calibri"/>
                <a:cs typeface="Calibri"/>
                <a:sym typeface="Calibri"/>
              </a:rPr>
              <a:t>25%</a:t>
            </a:r>
            <a:endParaRPr b="1" sz="1500">
              <a:solidFill>
                <a:srgbClr val="FF0000"/>
              </a:solidFill>
              <a:latin typeface="Calibri"/>
              <a:ea typeface="Calibri"/>
              <a:cs typeface="Calibri"/>
              <a:sym typeface="Calibri"/>
            </a:endParaRPr>
          </a:p>
        </p:txBody>
      </p:sp>
      <p:sp>
        <p:nvSpPr>
          <p:cNvPr id="222" name="Google Shape;222;p22"/>
          <p:cNvSpPr txBox="1"/>
          <p:nvPr/>
        </p:nvSpPr>
        <p:spPr>
          <a:xfrm>
            <a:off x="923250" y="2269625"/>
            <a:ext cx="1091700" cy="6591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rPr b="1" lang="en" sz="1300">
                <a:solidFill>
                  <a:schemeClr val="dk2"/>
                </a:solidFill>
                <a:latin typeface="Calibri"/>
                <a:ea typeface="Calibri"/>
                <a:cs typeface="Calibri"/>
                <a:sym typeface="Calibri"/>
              </a:rPr>
              <a:t>Train</a:t>
            </a:r>
            <a:r>
              <a:rPr b="1" lang="en" sz="1300">
                <a:solidFill>
                  <a:schemeClr val="dk2"/>
                </a:solidFill>
                <a:latin typeface="Calibri"/>
                <a:ea typeface="Calibri"/>
                <a:cs typeface="Calibri"/>
                <a:sym typeface="Calibri"/>
              </a:rPr>
              <a:t>ing Subsets:</a:t>
            </a:r>
            <a:r>
              <a:rPr b="1" lang="en" sz="1500">
                <a:solidFill>
                  <a:srgbClr val="FF0000"/>
                </a:solidFill>
                <a:latin typeface="Calibri"/>
                <a:ea typeface="Calibri"/>
                <a:cs typeface="Calibri"/>
                <a:sym typeface="Calibri"/>
              </a:rPr>
              <a:t>7</a:t>
            </a:r>
            <a:r>
              <a:rPr b="1" lang="en" sz="1500">
                <a:solidFill>
                  <a:srgbClr val="FF0000"/>
                </a:solidFill>
                <a:latin typeface="Calibri"/>
                <a:ea typeface="Calibri"/>
                <a:cs typeface="Calibri"/>
                <a:sym typeface="Calibri"/>
              </a:rPr>
              <a:t>5%</a:t>
            </a:r>
            <a:endParaRPr b="1" sz="1500">
              <a:solidFill>
                <a:srgbClr val="FF0000"/>
              </a:solidFill>
              <a:latin typeface="Calibri"/>
              <a:ea typeface="Calibri"/>
              <a:cs typeface="Calibri"/>
              <a:sym typeface="Calibri"/>
            </a:endParaRPr>
          </a:p>
        </p:txBody>
      </p:sp>
      <p:sp>
        <p:nvSpPr>
          <p:cNvPr id="223" name="Google Shape;223;p22"/>
          <p:cNvSpPr/>
          <p:nvPr/>
        </p:nvSpPr>
        <p:spPr>
          <a:xfrm rot="-5400000">
            <a:off x="5315800" y="1735175"/>
            <a:ext cx="155700" cy="2542800"/>
          </a:xfrm>
          <a:prstGeom prst="leftBrace">
            <a:avLst>
              <a:gd fmla="val 50000" name="adj1"/>
              <a:gd fmla="val 50535"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24" name="Google Shape;224;p22"/>
          <p:cNvSpPr txBox="1"/>
          <p:nvPr/>
        </p:nvSpPr>
        <p:spPr>
          <a:xfrm>
            <a:off x="5077000" y="3016550"/>
            <a:ext cx="633300" cy="381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500">
                <a:latin typeface="Calibri"/>
                <a:ea typeface="Calibri"/>
                <a:cs typeface="Calibri"/>
                <a:sym typeface="Calibri"/>
              </a:rPr>
              <a:t>.txt</a:t>
            </a:r>
            <a:endParaRPr sz="1300">
              <a:solidFill>
                <a:schemeClr val="dk2"/>
              </a:solidFill>
              <a:latin typeface="Calibri"/>
              <a:ea typeface="Calibri"/>
              <a:cs typeface="Calibri"/>
              <a:sym typeface="Calibri"/>
            </a:endParaRPr>
          </a:p>
        </p:txBody>
      </p:sp>
      <p:sp>
        <p:nvSpPr>
          <p:cNvPr id="225" name="Google Shape;225;p22"/>
          <p:cNvSpPr txBox="1"/>
          <p:nvPr/>
        </p:nvSpPr>
        <p:spPr>
          <a:xfrm>
            <a:off x="1310700" y="3450200"/>
            <a:ext cx="6522600" cy="38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700">
                <a:solidFill>
                  <a:schemeClr val="accent2"/>
                </a:solidFill>
                <a:latin typeface="Calibri"/>
                <a:ea typeface="Calibri"/>
                <a:cs typeface="Calibri"/>
                <a:sym typeface="Calibri"/>
              </a:rPr>
              <a:t>Q：Why people divide the dataset into training</a:t>
            </a:r>
            <a:r>
              <a:rPr b="1" lang="en" sz="1700">
                <a:solidFill>
                  <a:schemeClr val="accent2"/>
                </a:solidFill>
                <a:latin typeface="Calibri"/>
                <a:ea typeface="Calibri"/>
                <a:cs typeface="Calibri"/>
                <a:sym typeface="Calibri"/>
              </a:rPr>
              <a:t> and testing subsets?</a:t>
            </a:r>
            <a:endParaRPr b="1" sz="1650">
              <a:solidFill>
                <a:schemeClr val="accent2"/>
              </a:solidFill>
              <a:latin typeface="Roboto"/>
              <a:ea typeface="Roboto"/>
              <a:cs typeface="Roboto"/>
              <a:sym typeface="Roboto"/>
            </a:endParaRPr>
          </a:p>
          <a:p>
            <a:pPr indent="0" lvl="0" marL="0" rtl="0" algn="l">
              <a:spcBef>
                <a:spcPts val="0"/>
              </a:spcBef>
              <a:spcAft>
                <a:spcPts val="0"/>
              </a:spcAft>
              <a:buNone/>
            </a:pPr>
            <a:r>
              <a:t/>
            </a:r>
            <a:endParaRPr sz="1050">
              <a:latin typeface="Roboto"/>
              <a:ea typeface="Roboto"/>
              <a:cs typeface="Roboto"/>
              <a:sym typeface="Roboto"/>
            </a:endParaRPr>
          </a:p>
          <a:p>
            <a:pPr indent="0" lvl="0" marL="0" rtl="0" algn="l">
              <a:spcBef>
                <a:spcPts val="0"/>
              </a:spcBef>
              <a:spcAft>
                <a:spcPts val="0"/>
              </a:spcAft>
              <a:buNone/>
            </a:pPr>
            <a:r>
              <a:t/>
            </a:r>
            <a:endParaRPr sz="1300">
              <a:solidFill>
                <a:schemeClr val="dk2"/>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01"/>
                                        </p:tgtEl>
                                        <p:attrNameLst>
                                          <p:attrName>style.visibility</p:attrName>
                                        </p:attrNameLst>
                                      </p:cBhvr>
                                      <p:to>
                                        <p:strVal val="visible"/>
                                      </p:to>
                                    </p:set>
                                    <p:anim calcmode="lin" valueType="num">
                                      <p:cBhvr additive="base">
                                        <p:cTn dur="1000"/>
                                        <p:tgtEl>
                                          <p:spTgt spid="201"/>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203"/>
                                        </p:tgtEl>
                                        <p:attrNameLst>
                                          <p:attrName>style.visibility</p:attrName>
                                        </p:attrNameLst>
                                      </p:cBhvr>
                                      <p:to>
                                        <p:strVal val="visible"/>
                                      </p:to>
                                    </p:set>
                                    <p:anim calcmode="lin" valueType="num">
                                      <p:cBhvr additive="base">
                                        <p:cTn dur="1000"/>
                                        <p:tgtEl>
                                          <p:spTgt spid="20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1">
                                  <p:stCondLst>
                                    <p:cond delay="0"/>
                                  </p:stCondLst>
                                  <p:childTnLst>
                                    <p:set>
                                      <p:cBhvr>
                                        <p:cTn dur="1" fill="hold">
                                          <p:stCondLst>
                                            <p:cond delay="0"/>
                                          </p:stCondLst>
                                        </p:cTn>
                                        <p:tgtEl>
                                          <p:spTgt spid="204"/>
                                        </p:tgtEl>
                                        <p:attrNameLst>
                                          <p:attrName>style.visibility</p:attrName>
                                        </p:attrNameLst>
                                      </p:cBhvr>
                                      <p:to>
                                        <p:strVal val="visible"/>
                                      </p:to>
                                    </p:set>
                                    <p:anim calcmode="lin" valueType="num">
                                      <p:cBhvr additive="base">
                                        <p:cTn dur="1000"/>
                                        <p:tgtEl>
                                          <p:spTgt spid="204"/>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1">
                                  <p:stCondLst>
                                    <p:cond delay="0"/>
                                  </p:stCondLst>
                                  <p:childTnLst>
                                    <p:set>
                                      <p:cBhvr>
                                        <p:cTn dur="1" fill="hold">
                                          <p:stCondLst>
                                            <p:cond delay="0"/>
                                          </p:stCondLst>
                                        </p:cTn>
                                        <p:tgtEl>
                                          <p:spTgt spid="205"/>
                                        </p:tgtEl>
                                        <p:attrNameLst>
                                          <p:attrName>style.visibility</p:attrName>
                                        </p:attrNameLst>
                                      </p:cBhvr>
                                      <p:to>
                                        <p:strVal val="visible"/>
                                      </p:to>
                                    </p:set>
                                    <p:anim calcmode="lin" valueType="num">
                                      <p:cBhvr additive="base">
                                        <p:cTn dur="1000"/>
                                        <p:tgtEl>
                                          <p:spTgt spid="20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1">
                                  <p:stCondLst>
                                    <p:cond delay="0"/>
                                  </p:stCondLst>
                                  <p:childTnLst>
                                    <p:set>
                                      <p:cBhvr>
                                        <p:cTn dur="1" fill="hold">
                                          <p:stCondLst>
                                            <p:cond delay="0"/>
                                          </p:stCondLst>
                                        </p:cTn>
                                        <p:tgtEl>
                                          <p:spTgt spid="206"/>
                                        </p:tgtEl>
                                        <p:attrNameLst>
                                          <p:attrName>style.visibility</p:attrName>
                                        </p:attrNameLst>
                                      </p:cBhvr>
                                      <p:to>
                                        <p:strVal val="visible"/>
                                      </p:to>
                                    </p:set>
                                    <p:anim calcmode="lin" valueType="num">
                                      <p:cBhvr additive="base">
                                        <p:cTn dur="1000"/>
                                        <p:tgtEl>
                                          <p:spTgt spid="206"/>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1">
                                  <p:stCondLst>
                                    <p:cond delay="0"/>
                                  </p:stCondLst>
                                  <p:childTnLst>
                                    <p:set>
                                      <p:cBhvr>
                                        <p:cTn dur="1" fill="hold">
                                          <p:stCondLst>
                                            <p:cond delay="0"/>
                                          </p:stCondLst>
                                        </p:cTn>
                                        <p:tgtEl>
                                          <p:spTgt spid="207"/>
                                        </p:tgtEl>
                                        <p:attrNameLst>
                                          <p:attrName>style.visibility</p:attrName>
                                        </p:attrNameLst>
                                      </p:cBhvr>
                                      <p:to>
                                        <p:strVal val="visible"/>
                                      </p:to>
                                    </p:set>
                                    <p:anim calcmode="lin" valueType="num">
                                      <p:cBhvr additive="base">
                                        <p:cTn dur="1000"/>
                                        <p:tgtEl>
                                          <p:spTgt spid="207"/>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1">
                                  <p:stCondLst>
                                    <p:cond delay="0"/>
                                  </p:stCondLst>
                                  <p:childTnLst>
                                    <p:set>
                                      <p:cBhvr>
                                        <p:cTn dur="1" fill="hold">
                                          <p:stCondLst>
                                            <p:cond delay="0"/>
                                          </p:stCondLst>
                                        </p:cTn>
                                        <p:tgtEl>
                                          <p:spTgt spid="208"/>
                                        </p:tgtEl>
                                        <p:attrNameLst>
                                          <p:attrName>style.visibility</p:attrName>
                                        </p:attrNameLst>
                                      </p:cBhvr>
                                      <p:to>
                                        <p:strVal val="visible"/>
                                      </p:to>
                                    </p:set>
                                    <p:anim calcmode="lin" valueType="num">
                                      <p:cBhvr additive="base">
                                        <p:cTn dur="1000"/>
                                        <p:tgtEl>
                                          <p:spTgt spid="208"/>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1">
                                  <p:stCondLst>
                                    <p:cond delay="0"/>
                                  </p:stCondLst>
                                  <p:childTnLst>
                                    <p:set>
                                      <p:cBhvr>
                                        <p:cTn dur="1" fill="hold">
                                          <p:stCondLst>
                                            <p:cond delay="0"/>
                                          </p:stCondLst>
                                        </p:cTn>
                                        <p:tgtEl>
                                          <p:spTgt spid="209"/>
                                        </p:tgtEl>
                                        <p:attrNameLst>
                                          <p:attrName>style.visibility</p:attrName>
                                        </p:attrNameLst>
                                      </p:cBhvr>
                                      <p:to>
                                        <p:strVal val="visible"/>
                                      </p:to>
                                    </p:set>
                                    <p:anim calcmode="lin" valueType="num">
                                      <p:cBhvr additive="base">
                                        <p:cTn dur="1000"/>
                                        <p:tgtEl>
                                          <p:spTgt spid="209"/>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1">
                                  <p:stCondLst>
                                    <p:cond delay="0"/>
                                  </p:stCondLst>
                                  <p:childTnLst>
                                    <p:set>
                                      <p:cBhvr>
                                        <p:cTn dur="1" fill="hold">
                                          <p:stCondLst>
                                            <p:cond delay="0"/>
                                          </p:stCondLst>
                                        </p:cTn>
                                        <p:tgtEl>
                                          <p:spTgt spid="210"/>
                                        </p:tgtEl>
                                        <p:attrNameLst>
                                          <p:attrName>style.visibility</p:attrName>
                                        </p:attrNameLst>
                                      </p:cBhvr>
                                      <p:to>
                                        <p:strVal val="visible"/>
                                      </p:to>
                                    </p:set>
                                    <p:anim calcmode="lin" valueType="num">
                                      <p:cBhvr additive="base">
                                        <p:cTn dur="1000"/>
                                        <p:tgtEl>
                                          <p:spTgt spid="210"/>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1">
                                  <p:stCondLst>
                                    <p:cond delay="0"/>
                                  </p:stCondLst>
                                  <p:childTnLst>
                                    <p:set>
                                      <p:cBhvr>
                                        <p:cTn dur="1" fill="hold">
                                          <p:stCondLst>
                                            <p:cond delay="0"/>
                                          </p:stCondLst>
                                        </p:cTn>
                                        <p:tgtEl>
                                          <p:spTgt spid="211"/>
                                        </p:tgtEl>
                                        <p:attrNameLst>
                                          <p:attrName>style.visibility</p:attrName>
                                        </p:attrNameLst>
                                      </p:cBhvr>
                                      <p:to>
                                        <p:strVal val="visible"/>
                                      </p:to>
                                    </p:set>
                                    <p:anim calcmode="lin" valueType="num">
                                      <p:cBhvr additive="base">
                                        <p:cTn dur="1000"/>
                                        <p:tgtEl>
                                          <p:spTgt spid="211"/>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1">
                                  <p:stCondLst>
                                    <p:cond delay="0"/>
                                  </p:stCondLst>
                                  <p:childTnLst>
                                    <p:set>
                                      <p:cBhvr>
                                        <p:cTn dur="1" fill="hold">
                                          <p:stCondLst>
                                            <p:cond delay="0"/>
                                          </p:stCondLst>
                                        </p:cTn>
                                        <p:tgtEl>
                                          <p:spTgt spid="212"/>
                                        </p:tgtEl>
                                        <p:attrNameLst>
                                          <p:attrName>style.visibility</p:attrName>
                                        </p:attrNameLst>
                                      </p:cBhvr>
                                      <p:to>
                                        <p:strVal val="visible"/>
                                      </p:to>
                                    </p:set>
                                    <p:anim calcmode="lin" valueType="num">
                                      <p:cBhvr additive="base">
                                        <p:cTn dur="1000"/>
                                        <p:tgtEl>
                                          <p:spTgt spid="212"/>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1">
                                  <p:stCondLst>
                                    <p:cond delay="0"/>
                                  </p:stCondLst>
                                  <p:childTnLst>
                                    <p:set>
                                      <p:cBhvr>
                                        <p:cTn dur="1" fill="hold">
                                          <p:stCondLst>
                                            <p:cond delay="0"/>
                                          </p:stCondLst>
                                        </p:cTn>
                                        <p:tgtEl>
                                          <p:spTgt spid="213"/>
                                        </p:tgtEl>
                                        <p:attrNameLst>
                                          <p:attrName>style.visibility</p:attrName>
                                        </p:attrNameLst>
                                      </p:cBhvr>
                                      <p:to>
                                        <p:strVal val="visible"/>
                                      </p:to>
                                    </p:set>
                                    <p:anim calcmode="lin" valueType="num">
                                      <p:cBhvr additive="base">
                                        <p:cTn dur="1000"/>
                                        <p:tgtEl>
                                          <p:spTgt spid="21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1">
                                  <p:stCondLst>
                                    <p:cond delay="0"/>
                                  </p:stCondLst>
                                  <p:childTnLst>
                                    <p:set>
                                      <p:cBhvr>
                                        <p:cTn dur="1" fill="hold">
                                          <p:stCondLst>
                                            <p:cond delay="0"/>
                                          </p:stCondLst>
                                        </p:cTn>
                                        <p:tgtEl>
                                          <p:spTgt spid="214"/>
                                        </p:tgtEl>
                                        <p:attrNameLst>
                                          <p:attrName>style.visibility</p:attrName>
                                        </p:attrNameLst>
                                      </p:cBhvr>
                                      <p:to>
                                        <p:strVal val="visible"/>
                                      </p:to>
                                    </p:set>
                                    <p:anim calcmode="lin" valueType="num">
                                      <p:cBhvr additive="base">
                                        <p:cTn dur="1000"/>
                                        <p:tgtEl>
                                          <p:spTgt spid="214"/>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1">
                                  <p:stCondLst>
                                    <p:cond delay="0"/>
                                  </p:stCondLst>
                                  <p:childTnLst>
                                    <p:set>
                                      <p:cBhvr>
                                        <p:cTn dur="1" fill="hold">
                                          <p:stCondLst>
                                            <p:cond delay="0"/>
                                          </p:stCondLst>
                                        </p:cTn>
                                        <p:tgtEl>
                                          <p:spTgt spid="215"/>
                                        </p:tgtEl>
                                        <p:attrNameLst>
                                          <p:attrName>style.visibility</p:attrName>
                                        </p:attrNameLst>
                                      </p:cBhvr>
                                      <p:to>
                                        <p:strVal val="visible"/>
                                      </p:to>
                                    </p:set>
                                    <p:anim calcmode="lin" valueType="num">
                                      <p:cBhvr additive="base">
                                        <p:cTn dur="1000"/>
                                        <p:tgtEl>
                                          <p:spTgt spid="21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1">
                                  <p:stCondLst>
                                    <p:cond delay="0"/>
                                  </p:stCondLst>
                                  <p:childTnLst>
                                    <p:set>
                                      <p:cBhvr>
                                        <p:cTn dur="1" fill="hold">
                                          <p:stCondLst>
                                            <p:cond delay="0"/>
                                          </p:stCondLst>
                                        </p:cTn>
                                        <p:tgtEl>
                                          <p:spTgt spid="216"/>
                                        </p:tgtEl>
                                        <p:attrNameLst>
                                          <p:attrName>style.visibility</p:attrName>
                                        </p:attrNameLst>
                                      </p:cBhvr>
                                      <p:to>
                                        <p:strVal val="visible"/>
                                      </p:to>
                                    </p:set>
                                    <p:anim calcmode="lin" valueType="num">
                                      <p:cBhvr additive="base">
                                        <p:cTn dur="1000"/>
                                        <p:tgtEl>
                                          <p:spTgt spid="216"/>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1">
                                  <p:stCondLst>
                                    <p:cond delay="0"/>
                                  </p:stCondLst>
                                  <p:childTnLst>
                                    <p:set>
                                      <p:cBhvr>
                                        <p:cTn dur="1" fill="hold">
                                          <p:stCondLst>
                                            <p:cond delay="0"/>
                                          </p:stCondLst>
                                        </p:cTn>
                                        <p:tgtEl>
                                          <p:spTgt spid="217"/>
                                        </p:tgtEl>
                                        <p:attrNameLst>
                                          <p:attrName>style.visibility</p:attrName>
                                        </p:attrNameLst>
                                      </p:cBhvr>
                                      <p:to>
                                        <p:strVal val="visible"/>
                                      </p:to>
                                    </p:set>
                                    <p:anim calcmode="lin" valueType="num">
                                      <p:cBhvr additive="base">
                                        <p:cTn dur="1000"/>
                                        <p:tgtEl>
                                          <p:spTgt spid="217"/>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1">
                                  <p:stCondLst>
                                    <p:cond delay="0"/>
                                  </p:stCondLst>
                                  <p:childTnLst>
                                    <p:set>
                                      <p:cBhvr>
                                        <p:cTn dur="1" fill="hold">
                                          <p:stCondLst>
                                            <p:cond delay="0"/>
                                          </p:stCondLst>
                                        </p:cTn>
                                        <p:tgtEl>
                                          <p:spTgt spid="218"/>
                                        </p:tgtEl>
                                        <p:attrNameLst>
                                          <p:attrName>style.visibility</p:attrName>
                                        </p:attrNameLst>
                                      </p:cBhvr>
                                      <p:to>
                                        <p:strVal val="visible"/>
                                      </p:to>
                                    </p:set>
                                    <p:anim calcmode="lin" valueType="num">
                                      <p:cBhvr additive="base">
                                        <p:cTn dur="1000"/>
                                        <p:tgtEl>
                                          <p:spTgt spid="218"/>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1">
                                  <p:stCondLst>
                                    <p:cond delay="0"/>
                                  </p:stCondLst>
                                  <p:childTnLst>
                                    <p:set>
                                      <p:cBhvr>
                                        <p:cTn dur="1" fill="hold">
                                          <p:stCondLst>
                                            <p:cond delay="0"/>
                                          </p:stCondLst>
                                        </p:cTn>
                                        <p:tgtEl>
                                          <p:spTgt spid="219"/>
                                        </p:tgtEl>
                                        <p:attrNameLst>
                                          <p:attrName>style.visibility</p:attrName>
                                        </p:attrNameLst>
                                      </p:cBhvr>
                                      <p:to>
                                        <p:strVal val="visible"/>
                                      </p:to>
                                    </p:set>
                                    <p:anim calcmode="lin" valueType="num">
                                      <p:cBhvr additive="base">
                                        <p:cTn dur="1000"/>
                                        <p:tgtEl>
                                          <p:spTgt spid="219"/>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1">
                                  <p:stCondLst>
                                    <p:cond delay="0"/>
                                  </p:stCondLst>
                                  <p:childTnLst>
                                    <p:set>
                                      <p:cBhvr>
                                        <p:cTn dur="1" fill="hold">
                                          <p:stCondLst>
                                            <p:cond delay="0"/>
                                          </p:stCondLst>
                                        </p:cTn>
                                        <p:tgtEl>
                                          <p:spTgt spid="220"/>
                                        </p:tgtEl>
                                        <p:attrNameLst>
                                          <p:attrName>style.visibility</p:attrName>
                                        </p:attrNameLst>
                                      </p:cBhvr>
                                      <p:to>
                                        <p:strVal val="visible"/>
                                      </p:to>
                                    </p:set>
                                    <p:anim calcmode="lin" valueType="num">
                                      <p:cBhvr additive="base">
                                        <p:cTn dur="1000"/>
                                        <p:tgtEl>
                                          <p:spTgt spid="220"/>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1">
                                  <p:stCondLst>
                                    <p:cond delay="0"/>
                                  </p:stCondLst>
                                  <p:childTnLst>
                                    <p:set>
                                      <p:cBhvr>
                                        <p:cTn dur="1" fill="hold">
                                          <p:stCondLst>
                                            <p:cond delay="0"/>
                                          </p:stCondLst>
                                        </p:cTn>
                                        <p:tgtEl>
                                          <p:spTgt spid="221"/>
                                        </p:tgtEl>
                                        <p:attrNameLst>
                                          <p:attrName>style.visibility</p:attrName>
                                        </p:attrNameLst>
                                      </p:cBhvr>
                                      <p:to>
                                        <p:strVal val="visible"/>
                                      </p:to>
                                    </p:set>
                                    <p:anim calcmode="lin" valueType="num">
                                      <p:cBhvr additive="base">
                                        <p:cTn dur="1000"/>
                                        <p:tgtEl>
                                          <p:spTgt spid="221"/>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1">
                                  <p:stCondLst>
                                    <p:cond delay="0"/>
                                  </p:stCondLst>
                                  <p:childTnLst>
                                    <p:set>
                                      <p:cBhvr>
                                        <p:cTn dur="1" fill="hold">
                                          <p:stCondLst>
                                            <p:cond delay="0"/>
                                          </p:stCondLst>
                                        </p:cTn>
                                        <p:tgtEl>
                                          <p:spTgt spid="222"/>
                                        </p:tgtEl>
                                        <p:attrNameLst>
                                          <p:attrName>style.visibility</p:attrName>
                                        </p:attrNameLst>
                                      </p:cBhvr>
                                      <p:to>
                                        <p:strVal val="visible"/>
                                      </p:to>
                                    </p:set>
                                    <p:anim calcmode="lin" valueType="num">
                                      <p:cBhvr additive="base">
                                        <p:cTn dur="1000"/>
                                        <p:tgtEl>
                                          <p:spTgt spid="222"/>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1">
                                  <p:stCondLst>
                                    <p:cond delay="0"/>
                                  </p:stCondLst>
                                  <p:childTnLst>
                                    <p:set>
                                      <p:cBhvr>
                                        <p:cTn dur="1" fill="hold">
                                          <p:stCondLst>
                                            <p:cond delay="0"/>
                                          </p:stCondLst>
                                        </p:cTn>
                                        <p:tgtEl>
                                          <p:spTgt spid="223"/>
                                        </p:tgtEl>
                                        <p:attrNameLst>
                                          <p:attrName>style.visibility</p:attrName>
                                        </p:attrNameLst>
                                      </p:cBhvr>
                                      <p:to>
                                        <p:strVal val="visible"/>
                                      </p:to>
                                    </p:set>
                                    <p:anim calcmode="lin" valueType="num">
                                      <p:cBhvr additive="base">
                                        <p:cTn dur="1000"/>
                                        <p:tgtEl>
                                          <p:spTgt spid="22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1">
                                  <p:stCondLst>
                                    <p:cond delay="0"/>
                                  </p:stCondLst>
                                  <p:childTnLst>
                                    <p:set>
                                      <p:cBhvr>
                                        <p:cTn dur="1" fill="hold">
                                          <p:stCondLst>
                                            <p:cond delay="0"/>
                                          </p:stCondLst>
                                        </p:cTn>
                                        <p:tgtEl>
                                          <p:spTgt spid="224"/>
                                        </p:tgtEl>
                                        <p:attrNameLst>
                                          <p:attrName>style.visibility</p:attrName>
                                        </p:attrNameLst>
                                      </p:cBhvr>
                                      <p:to>
                                        <p:strVal val="visible"/>
                                      </p:to>
                                    </p:set>
                                    <p:anim calcmode="lin" valueType="num">
                                      <p:cBhvr additive="base">
                                        <p:cTn dur="1000"/>
                                        <p:tgtEl>
                                          <p:spTgt spid="224"/>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5"/>
                                        </p:tgtEl>
                                        <p:attrNameLst>
                                          <p:attrName>style.visibility</p:attrName>
                                        </p:attrNameLst>
                                      </p:cBhvr>
                                      <p:to>
                                        <p:strVal val="visible"/>
                                      </p:to>
                                    </p:set>
                                    <p:anim calcmode="lin" valueType="num">
                                      <p:cBhvr additive="base">
                                        <p:cTn dur="1000"/>
                                        <p:tgtEl>
                                          <p:spTgt spid="225"/>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2"/>
                                        </p:tgtEl>
                                        <p:attrNameLst>
                                          <p:attrName>style.visibility</p:attrName>
                                        </p:attrNameLst>
                                      </p:cBhvr>
                                      <p:to>
                                        <p:strVal val="visible"/>
                                      </p:to>
                                    </p:set>
                                    <p:anim calcmode="lin" valueType="num">
                                      <p:cBhvr additive="base">
                                        <p:cTn dur="1000"/>
                                        <p:tgtEl>
                                          <p:spTgt spid="202"/>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3"/>
          <p:cNvSpPr txBox="1"/>
          <p:nvPr>
            <p:ph type="title"/>
          </p:nvPr>
        </p:nvSpPr>
        <p:spPr>
          <a:xfrm>
            <a:off x="819150" y="785500"/>
            <a:ext cx="7505700" cy="633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Processing - Feature Extraction</a:t>
            </a:r>
            <a:endParaRPr/>
          </a:p>
        </p:txBody>
      </p:sp>
      <p:sp>
        <p:nvSpPr>
          <p:cNvPr id="231" name="Google Shape;231;p23"/>
          <p:cNvSpPr txBox="1"/>
          <p:nvPr>
            <p:ph idx="1" type="body"/>
          </p:nvPr>
        </p:nvSpPr>
        <p:spPr>
          <a:xfrm>
            <a:off x="819150" y="1479000"/>
            <a:ext cx="4082400" cy="633300"/>
          </a:xfrm>
          <a:prstGeom prst="rect">
            <a:avLst/>
          </a:prstGeom>
        </p:spPr>
        <p:txBody>
          <a:bodyPr anchorCtr="0" anchor="t" bIns="91425" lIns="91425" spcFirstLastPara="1" rIns="91425" wrap="square" tIns="91425">
            <a:normAutofit/>
          </a:bodyPr>
          <a:lstStyle/>
          <a:p>
            <a:pPr indent="0" lvl="0" marL="0" rtl="0" algn="l">
              <a:lnSpc>
                <a:spcPct val="50000"/>
              </a:lnSpc>
              <a:spcBef>
                <a:spcPts val="0"/>
              </a:spcBef>
              <a:spcAft>
                <a:spcPts val="0"/>
              </a:spcAft>
              <a:buNone/>
            </a:pPr>
            <a:r>
              <a:rPr b="1" lang="en">
                <a:solidFill>
                  <a:srgbClr val="374151"/>
                </a:solidFill>
                <a:latin typeface="Roboto"/>
                <a:ea typeface="Roboto"/>
                <a:cs typeface="Roboto"/>
                <a:sym typeface="Roboto"/>
              </a:rPr>
              <a:t>M</a:t>
            </a:r>
            <a:r>
              <a:rPr b="1" lang="en">
                <a:solidFill>
                  <a:srgbClr val="374151"/>
                </a:solidFill>
                <a:latin typeface="Roboto"/>
                <a:ea typeface="Roboto"/>
                <a:cs typeface="Roboto"/>
                <a:sym typeface="Roboto"/>
              </a:rPr>
              <a:t>eaningful features of the text: </a:t>
            </a:r>
            <a:r>
              <a:rPr b="1" lang="en">
                <a:solidFill>
                  <a:schemeClr val="accent2"/>
                </a:solidFill>
                <a:latin typeface="Roboto"/>
                <a:ea typeface="Roboto"/>
                <a:cs typeface="Roboto"/>
                <a:sym typeface="Roboto"/>
              </a:rPr>
              <a:t>word frequencies</a:t>
            </a:r>
            <a:endParaRPr b="1">
              <a:solidFill>
                <a:schemeClr val="accent2"/>
              </a:solidFill>
              <a:latin typeface="Roboto"/>
              <a:ea typeface="Roboto"/>
              <a:cs typeface="Roboto"/>
              <a:sym typeface="Roboto"/>
            </a:endParaRPr>
          </a:p>
          <a:p>
            <a:pPr indent="0" lvl="0" marL="0" rtl="0" algn="l">
              <a:lnSpc>
                <a:spcPct val="50000"/>
              </a:lnSpc>
              <a:spcBef>
                <a:spcPts val="1500"/>
              </a:spcBef>
              <a:spcAft>
                <a:spcPts val="1500"/>
              </a:spcAft>
              <a:buNone/>
            </a:pPr>
            <a:r>
              <a:rPr b="1" lang="en">
                <a:solidFill>
                  <a:srgbClr val="374151"/>
                </a:solidFill>
                <a:latin typeface="Roboto"/>
                <a:ea typeface="Roboto"/>
                <a:cs typeface="Roboto"/>
                <a:sym typeface="Roboto"/>
              </a:rPr>
              <a:t>The techniques: </a:t>
            </a:r>
            <a:r>
              <a:rPr b="1" lang="en">
                <a:solidFill>
                  <a:schemeClr val="accent2"/>
                </a:solidFill>
                <a:latin typeface="Roboto"/>
                <a:ea typeface="Roboto"/>
                <a:cs typeface="Roboto"/>
                <a:sym typeface="Roboto"/>
              </a:rPr>
              <a:t>CountVectorizer()</a:t>
            </a:r>
            <a:r>
              <a:rPr lang="en">
                <a:solidFill>
                  <a:srgbClr val="343541"/>
                </a:solidFill>
                <a:latin typeface="Roboto"/>
                <a:ea typeface="Roboto"/>
                <a:cs typeface="Roboto"/>
                <a:sym typeface="Roboto"/>
              </a:rPr>
              <a:t> from sklearn</a:t>
            </a:r>
            <a:endParaRPr b="1" sz="1400">
              <a:solidFill>
                <a:schemeClr val="accent2"/>
              </a:solidFill>
            </a:endParaRPr>
          </a:p>
        </p:txBody>
      </p:sp>
      <p:sp>
        <p:nvSpPr>
          <p:cNvPr id="232" name="Google Shape;232;p23"/>
          <p:cNvSpPr txBox="1"/>
          <p:nvPr/>
        </p:nvSpPr>
        <p:spPr>
          <a:xfrm>
            <a:off x="895450" y="2645475"/>
            <a:ext cx="29238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latin typeface="Roboto"/>
                <a:ea typeface="Roboto"/>
                <a:cs typeface="Roboto"/>
                <a:sym typeface="Roboto"/>
              </a:rPr>
              <a:t>1.</a:t>
            </a:r>
            <a:r>
              <a:rPr b="1" lang="en" sz="1200">
                <a:latin typeface="Roboto"/>
                <a:ea typeface="Roboto"/>
                <a:cs typeface="Roboto"/>
                <a:sym typeface="Roboto"/>
              </a:rPr>
              <a:t>Tokenization: </a:t>
            </a:r>
            <a:r>
              <a:rPr lang="en" sz="1200">
                <a:solidFill>
                  <a:srgbClr val="374151"/>
                </a:solidFill>
                <a:latin typeface="Roboto"/>
                <a:ea typeface="Roboto"/>
                <a:cs typeface="Roboto"/>
                <a:sym typeface="Roboto"/>
              </a:rPr>
              <a:t>tokenize the input text by splitting the text into words based on space and punctuation.</a:t>
            </a:r>
            <a:endParaRPr/>
          </a:p>
        </p:txBody>
      </p:sp>
      <p:sp>
        <p:nvSpPr>
          <p:cNvPr id="233" name="Google Shape;233;p23"/>
          <p:cNvSpPr txBox="1"/>
          <p:nvPr/>
        </p:nvSpPr>
        <p:spPr>
          <a:xfrm>
            <a:off x="857350" y="2178788"/>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latin typeface="Roboto"/>
                <a:ea typeface="Roboto"/>
                <a:cs typeface="Roboto"/>
                <a:sym typeface="Roboto"/>
              </a:rPr>
              <a:t>How </a:t>
            </a:r>
            <a:r>
              <a:rPr b="1" lang="en">
                <a:solidFill>
                  <a:schemeClr val="accent2"/>
                </a:solidFill>
                <a:latin typeface="Roboto"/>
                <a:ea typeface="Roboto"/>
                <a:cs typeface="Roboto"/>
                <a:sym typeface="Roboto"/>
              </a:rPr>
              <a:t>CountVectorizer()</a:t>
            </a:r>
            <a:r>
              <a:rPr b="1" lang="en" sz="1300">
                <a:latin typeface="Roboto"/>
                <a:ea typeface="Roboto"/>
                <a:cs typeface="Roboto"/>
                <a:sym typeface="Roboto"/>
              </a:rPr>
              <a:t> works?</a:t>
            </a:r>
            <a:endParaRPr sz="1500"/>
          </a:p>
        </p:txBody>
      </p:sp>
      <p:sp>
        <p:nvSpPr>
          <p:cNvPr id="234" name="Google Shape;234;p23"/>
          <p:cNvSpPr txBox="1"/>
          <p:nvPr/>
        </p:nvSpPr>
        <p:spPr>
          <a:xfrm>
            <a:off x="895450" y="3471950"/>
            <a:ext cx="30000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latin typeface="Roboto"/>
                <a:ea typeface="Roboto"/>
                <a:cs typeface="Roboto"/>
                <a:sym typeface="Roboto"/>
              </a:rPr>
              <a:t>2</a:t>
            </a:r>
            <a:r>
              <a:rPr b="1" lang="en" sz="1200">
                <a:latin typeface="Roboto"/>
                <a:ea typeface="Roboto"/>
                <a:cs typeface="Roboto"/>
                <a:sym typeface="Roboto"/>
              </a:rPr>
              <a:t>.</a:t>
            </a:r>
            <a:r>
              <a:rPr b="1" lang="en" sz="1200">
                <a:latin typeface="Roboto"/>
                <a:ea typeface="Roboto"/>
                <a:cs typeface="Roboto"/>
                <a:sym typeface="Roboto"/>
              </a:rPr>
              <a:t>Counting</a:t>
            </a:r>
            <a:r>
              <a:rPr b="1" lang="en" sz="1200">
                <a:latin typeface="Roboto"/>
                <a:ea typeface="Roboto"/>
                <a:cs typeface="Roboto"/>
                <a:sym typeface="Roboto"/>
              </a:rPr>
              <a:t>:</a:t>
            </a:r>
            <a:r>
              <a:rPr lang="en" sz="1200">
                <a:solidFill>
                  <a:srgbClr val="374151"/>
                </a:solidFill>
                <a:latin typeface="Roboto"/>
                <a:ea typeface="Roboto"/>
                <a:cs typeface="Roboto"/>
                <a:sym typeface="Roboto"/>
              </a:rPr>
              <a:t>The result is a matrix where each row represents a document, and each column represents a unique term.</a:t>
            </a:r>
            <a:endParaRPr b="1"/>
          </a:p>
        </p:txBody>
      </p:sp>
      <p:pic>
        <p:nvPicPr>
          <p:cNvPr id="235" name="Google Shape;235;p23"/>
          <p:cNvPicPr preferRelativeResize="0"/>
          <p:nvPr/>
        </p:nvPicPr>
        <p:blipFill>
          <a:blip r:embed="rId3">
            <a:alphaModFix/>
          </a:blip>
          <a:stretch>
            <a:fillRect/>
          </a:stretch>
        </p:blipFill>
        <p:spPr>
          <a:xfrm>
            <a:off x="4901575" y="1952176"/>
            <a:ext cx="3644691" cy="834000"/>
          </a:xfrm>
          <a:prstGeom prst="rect">
            <a:avLst/>
          </a:prstGeom>
          <a:noFill/>
          <a:ln>
            <a:noFill/>
          </a:ln>
        </p:spPr>
      </p:pic>
      <p:cxnSp>
        <p:nvCxnSpPr>
          <p:cNvPr id="236" name="Google Shape;236;p23"/>
          <p:cNvCxnSpPr/>
          <p:nvPr/>
        </p:nvCxnSpPr>
        <p:spPr>
          <a:xfrm rot="10800000">
            <a:off x="4660675" y="1662525"/>
            <a:ext cx="0" cy="3044400"/>
          </a:xfrm>
          <a:prstGeom prst="straightConnector1">
            <a:avLst/>
          </a:prstGeom>
          <a:noFill/>
          <a:ln cap="flat" cmpd="sng" w="9525">
            <a:solidFill>
              <a:schemeClr val="dk2"/>
            </a:solidFill>
            <a:prstDash val="dash"/>
            <a:round/>
            <a:headEnd len="med" w="med" type="none"/>
            <a:tailEnd len="med" w="med" type="none"/>
          </a:ln>
        </p:spPr>
      </p:cxnSp>
      <p:sp>
        <p:nvSpPr>
          <p:cNvPr id="237" name="Google Shape;237;p23"/>
          <p:cNvSpPr txBox="1"/>
          <p:nvPr/>
        </p:nvSpPr>
        <p:spPr>
          <a:xfrm>
            <a:off x="5890375" y="3471950"/>
            <a:ext cx="3000000" cy="785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latin typeface="Roboto"/>
                <a:ea typeface="Roboto"/>
                <a:cs typeface="Roboto"/>
                <a:sym typeface="Roboto"/>
              </a:rPr>
              <a:t>[[ 1,  1,  1,  0,  0,  0,  0 ],</a:t>
            </a:r>
            <a:endParaRPr b="1" sz="1300">
              <a:latin typeface="Roboto"/>
              <a:ea typeface="Roboto"/>
              <a:cs typeface="Roboto"/>
              <a:sym typeface="Roboto"/>
            </a:endParaRPr>
          </a:p>
          <a:p>
            <a:pPr indent="0" lvl="0" marL="0" rtl="0" algn="l">
              <a:spcBef>
                <a:spcPts val="0"/>
              </a:spcBef>
              <a:spcAft>
                <a:spcPts val="0"/>
              </a:spcAft>
              <a:buNone/>
            </a:pPr>
            <a:r>
              <a:rPr b="1" lang="en" sz="1300">
                <a:latin typeface="Roboto"/>
                <a:ea typeface="Roboto"/>
                <a:cs typeface="Roboto"/>
                <a:sym typeface="Roboto"/>
              </a:rPr>
              <a:t> [ 0,  0,  1,  1,  1,  0,  0 ],</a:t>
            </a:r>
            <a:endParaRPr b="1" sz="1300">
              <a:latin typeface="Roboto"/>
              <a:ea typeface="Roboto"/>
              <a:cs typeface="Roboto"/>
              <a:sym typeface="Roboto"/>
            </a:endParaRPr>
          </a:p>
          <a:p>
            <a:pPr indent="0" lvl="0" marL="0" rtl="0" algn="l">
              <a:spcBef>
                <a:spcPts val="0"/>
              </a:spcBef>
              <a:spcAft>
                <a:spcPts val="0"/>
              </a:spcAft>
              <a:buNone/>
            </a:pPr>
            <a:r>
              <a:rPr b="1" lang="en" sz="1300">
                <a:latin typeface="Roboto"/>
                <a:ea typeface="Roboto"/>
                <a:cs typeface="Roboto"/>
                <a:sym typeface="Roboto"/>
              </a:rPr>
              <a:t> [ 0,  1,  1,  0,  0,  1,  1 ]]</a:t>
            </a:r>
            <a:endParaRPr b="1" sz="1300">
              <a:latin typeface="Roboto"/>
              <a:ea typeface="Roboto"/>
              <a:cs typeface="Roboto"/>
              <a:sym typeface="Roboto"/>
            </a:endParaRPr>
          </a:p>
        </p:txBody>
      </p:sp>
      <p:sp>
        <p:nvSpPr>
          <p:cNvPr id="238" name="Google Shape;238;p23"/>
          <p:cNvSpPr txBox="1"/>
          <p:nvPr/>
        </p:nvSpPr>
        <p:spPr>
          <a:xfrm>
            <a:off x="4797500" y="1479000"/>
            <a:ext cx="9213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latin typeface="Roboto"/>
                <a:ea typeface="Roboto"/>
                <a:cs typeface="Roboto"/>
                <a:sym typeface="Roboto"/>
              </a:rPr>
              <a:t>Example:</a:t>
            </a:r>
            <a:endParaRPr sz="1500"/>
          </a:p>
        </p:txBody>
      </p:sp>
      <p:sp>
        <p:nvSpPr>
          <p:cNvPr id="239" name="Google Shape;239;p23"/>
          <p:cNvSpPr/>
          <p:nvPr/>
        </p:nvSpPr>
        <p:spPr>
          <a:xfrm>
            <a:off x="6577550" y="2980850"/>
            <a:ext cx="164700" cy="4002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40" name="Google Shape;240;p23"/>
          <p:cNvSpPr txBox="1"/>
          <p:nvPr/>
        </p:nvSpPr>
        <p:spPr>
          <a:xfrm>
            <a:off x="5072175" y="2904650"/>
            <a:ext cx="1698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accent2"/>
                </a:solidFill>
                <a:latin typeface="Roboto"/>
                <a:ea typeface="Roboto"/>
                <a:cs typeface="Roboto"/>
                <a:sym typeface="Roboto"/>
              </a:rPr>
              <a:t>CountVectorizer()</a:t>
            </a:r>
            <a:endParaRPr/>
          </a:p>
        </p:txBody>
      </p:sp>
      <p:sp>
        <p:nvSpPr>
          <p:cNvPr id="241" name="Google Shape;241;p23"/>
          <p:cNvSpPr/>
          <p:nvPr/>
        </p:nvSpPr>
        <p:spPr>
          <a:xfrm>
            <a:off x="5967175" y="3471975"/>
            <a:ext cx="246600" cy="876000"/>
          </a:xfrm>
          <a:prstGeom prst="rect">
            <a:avLst/>
          </a:prstGeom>
          <a:noFill/>
          <a:ln cap="flat" cmpd="sng" w="19050">
            <a:solidFill>
              <a:schemeClr val="lt1"/>
            </a:solidFill>
            <a:prstDash val="solid"/>
            <a:round/>
            <a:headEnd len="sm" w="sm" type="none"/>
            <a:tailEnd len="sm" w="sm" type="none"/>
          </a:ln>
          <a:effectLst>
            <a:outerShdw blurRad="57150" rotWithShape="0" algn="bl" dir="5400000" dist="19050">
              <a:srgbClr val="000000">
                <a:alpha val="0"/>
              </a:srgbClr>
            </a:outerShdw>
            <a:reflection blurRad="0" dir="5400000" dist="38100" endA="0" endPos="30000" fadeDir="5400012" kx="0" rotWithShape="0" algn="bl" stA="0" stPos="0" sy="-100000" ky="0"/>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cxnSp>
        <p:nvCxnSpPr>
          <p:cNvPr id="242" name="Google Shape;242;p23"/>
          <p:cNvCxnSpPr>
            <a:stCxn id="241" idx="2"/>
          </p:cNvCxnSpPr>
          <p:nvPr/>
        </p:nvCxnSpPr>
        <p:spPr>
          <a:xfrm>
            <a:off x="6090475" y="4347975"/>
            <a:ext cx="1500" cy="176700"/>
          </a:xfrm>
          <a:prstGeom prst="straightConnector1">
            <a:avLst/>
          </a:prstGeom>
          <a:noFill/>
          <a:ln cap="flat" cmpd="sng" w="9525">
            <a:solidFill>
              <a:schemeClr val="dk2"/>
            </a:solidFill>
            <a:prstDash val="solid"/>
            <a:round/>
            <a:headEnd len="med" w="med" type="none"/>
            <a:tailEnd len="med" w="med" type="triangle"/>
          </a:ln>
        </p:spPr>
      </p:cxnSp>
      <p:sp>
        <p:nvSpPr>
          <p:cNvPr id="243" name="Google Shape;243;p23"/>
          <p:cNvSpPr txBox="1"/>
          <p:nvPr/>
        </p:nvSpPr>
        <p:spPr>
          <a:xfrm>
            <a:off x="6742250" y="4452675"/>
            <a:ext cx="9213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latin typeface="Roboto"/>
                <a:ea typeface="Roboto"/>
                <a:cs typeface="Roboto"/>
                <a:sym typeface="Roboto"/>
              </a:rPr>
              <a:t>“fun”</a:t>
            </a:r>
            <a:endParaRPr sz="1500"/>
          </a:p>
        </p:txBody>
      </p:sp>
      <p:sp>
        <p:nvSpPr>
          <p:cNvPr id="244" name="Google Shape;244;p23"/>
          <p:cNvSpPr/>
          <p:nvPr/>
        </p:nvSpPr>
        <p:spPr>
          <a:xfrm>
            <a:off x="5967175" y="3499525"/>
            <a:ext cx="1659900" cy="267300"/>
          </a:xfrm>
          <a:prstGeom prst="rect">
            <a:avLst/>
          </a:prstGeom>
          <a:noFill/>
          <a:ln cap="flat" cmpd="sng" w="19050">
            <a:solidFill>
              <a:schemeClr val="accent6"/>
            </a:solidFill>
            <a:prstDash val="solid"/>
            <a:round/>
            <a:headEnd len="sm" w="sm" type="none"/>
            <a:tailEnd len="sm" w="sm" type="none"/>
          </a:ln>
          <a:effectLst>
            <a:outerShdw blurRad="57150" rotWithShape="0" algn="bl" dir="5400000" dist="19050">
              <a:srgbClr val="000000">
                <a:alpha val="0"/>
              </a:srgbClr>
            </a:outerShdw>
            <a:reflection blurRad="0" dir="5400000" dist="38100" endA="0" endPos="30000" fadeDir="5400012" kx="0" rotWithShape="0" algn="bl" stA="0" stPos="0" sy="-100000" ky="0"/>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45" name="Google Shape;245;p23"/>
          <p:cNvSpPr/>
          <p:nvPr/>
        </p:nvSpPr>
        <p:spPr>
          <a:xfrm>
            <a:off x="6914900" y="3499513"/>
            <a:ext cx="246600" cy="876000"/>
          </a:xfrm>
          <a:prstGeom prst="rect">
            <a:avLst/>
          </a:prstGeom>
          <a:noFill/>
          <a:ln cap="flat" cmpd="sng" w="19050">
            <a:solidFill>
              <a:schemeClr val="lt1"/>
            </a:solidFill>
            <a:prstDash val="solid"/>
            <a:round/>
            <a:headEnd len="sm" w="sm" type="none"/>
            <a:tailEnd len="sm" w="sm" type="none"/>
          </a:ln>
          <a:effectLst>
            <a:outerShdw blurRad="57150" rotWithShape="0" algn="bl" dir="5400000" dist="19050">
              <a:srgbClr val="000000">
                <a:alpha val="0"/>
              </a:srgbClr>
            </a:outerShdw>
            <a:reflection blurRad="0" dir="5400000" dist="38100" endA="0" endPos="30000" fadeDir="5400012" kx="0" rotWithShape="0" algn="bl" stA="0" stPos="0" sy="-100000" ky="0"/>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cxnSp>
        <p:nvCxnSpPr>
          <p:cNvPr id="246" name="Google Shape;246;p23"/>
          <p:cNvCxnSpPr>
            <a:stCxn id="245" idx="2"/>
          </p:cNvCxnSpPr>
          <p:nvPr/>
        </p:nvCxnSpPr>
        <p:spPr>
          <a:xfrm>
            <a:off x="7038200" y="4375513"/>
            <a:ext cx="1500" cy="176700"/>
          </a:xfrm>
          <a:prstGeom prst="straightConnector1">
            <a:avLst/>
          </a:prstGeom>
          <a:noFill/>
          <a:ln cap="flat" cmpd="sng" w="9525">
            <a:solidFill>
              <a:schemeClr val="dk2"/>
            </a:solidFill>
            <a:prstDash val="solid"/>
            <a:round/>
            <a:headEnd len="med" w="med" type="none"/>
            <a:tailEnd len="med" w="med" type="triangle"/>
          </a:ln>
        </p:spPr>
      </p:cxnSp>
      <p:sp>
        <p:nvSpPr>
          <p:cNvPr id="247" name="Google Shape;247;p23"/>
          <p:cNvSpPr txBox="1"/>
          <p:nvPr/>
        </p:nvSpPr>
        <p:spPr>
          <a:xfrm>
            <a:off x="5925075" y="4452675"/>
            <a:ext cx="9213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latin typeface="Roboto"/>
                <a:ea typeface="Roboto"/>
                <a:cs typeface="Roboto"/>
                <a:sym typeface="Roboto"/>
              </a:rPr>
              <a:t>“I”</a:t>
            </a:r>
            <a:endParaRPr sz="1500"/>
          </a:p>
        </p:txBody>
      </p:sp>
      <p:sp>
        <p:nvSpPr>
          <p:cNvPr id="248" name="Google Shape;248;p23"/>
          <p:cNvSpPr txBox="1"/>
          <p:nvPr/>
        </p:nvSpPr>
        <p:spPr>
          <a:xfrm>
            <a:off x="7734150" y="3440725"/>
            <a:ext cx="9213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latin typeface="Roboto"/>
                <a:ea typeface="Roboto"/>
                <a:cs typeface="Roboto"/>
                <a:sym typeface="Roboto"/>
              </a:rPr>
              <a:t>Letter 1</a:t>
            </a:r>
            <a:endParaRPr sz="15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33"/>
                                        </p:tgtEl>
                                        <p:attrNameLst>
                                          <p:attrName>style.visibility</p:attrName>
                                        </p:attrNameLst>
                                      </p:cBhvr>
                                      <p:to>
                                        <p:strVal val="visible"/>
                                      </p:to>
                                    </p:set>
                                    <p:anim calcmode="lin" valueType="num">
                                      <p:cBhvr additive="base">
                                        <p:cTn dur="1000"/>
                                        <p:tgtEl>
                                          <p:spTgt spid="233"/>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32"/>
                                        </p:tgtEl>
                                        <p:attrNameLst>
                                          <p:attrName>style.visibility</p:attrName>
                                        </p:attrNameLst>
                                      </p:cBhvr>
                                      <p:to>
                                        <p:strVal val="visible"/>
                                      </p:to>
                                    </p:set>
                                    <p:anim calcmode="lin" valueType="num">
                                      <p:cBhvr additive="base">
                                        <p:cTn dur="1000"/>
                                        <p:tgtEl>
                                          <p:spTgt spid="232"/>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234"/>
                                        </p:tgtEl>
                                        <p:attrNameLst>
                                          <p:attrName>style.visibility</p:attrName>
                                        </p:attrNameLst>
                                      </p:cBhvr>
                                      <p:to>
                                        <p:strVal val="visible"/>
                                      </p:to>
                                    </p:set>
                                    <p:anim calcmode="lin" valueType="num">
                                      <p:cBhvr additive="base">
                                        <p:cTn dur="1000"/>
                                        <p:tgtEl>
                                          <p:spTgt spid="234"/>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38"/>
                                        </p:tgtEl>
                                        <p:attrNameLst>
                                          <p:attrName>style.visibility</p:attrName>
                                        </p:attrNameLst>
                                      </p:cBhvr>
                                      <p:to>
                                        <p:strVal val="visible"/>
                                      </p:to>
                                    </p:set>
                                    <p:anim calcmode="lin" valueType="num">
                                      <p:cBhvr additive="base">
                                        <p:cTn dur="1000"/>
                                        <p:tgtEl>
                                          <p:spTgt spid="238"/>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35"/>
                                        </p:tgtEl>
                                        <p:attrNameLst>
                                          <p:attrName>style.visibility</p:attrName>
                                        </p:attrNameLst>
                                      </p:cBhvr>
                                      <p:to>
                                        <p:strVal val="visible"/>
                                      </p:to>
                                    </p:set>
                                    <p:anim calcmode="lin" valueType="num">
                                      <p:cBhvr additive="base">
                                        <p:cTn dur="1000"/>
                                        <p:tgtEl>
                                          <p:spTgt spid="235"/>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40"/>
                                        </p:tgtEl>
                                        <p:attrNameLst>
                                          <p:attrName>style.visibility</p:attrName>
                                        </p:attrNameLst>
                                      </p:cBhvr>
                                      <p:to>
                                        <p:strVal val="visible"/>
                                      </p:to>
                                    </p:set>
                                    <p:anim calcmode="lin" valueType="num">
                                      <p:cBhvr additive="base">
                                        <p:cTn dur="1000"/>
                                        <p:tgtEl>
                                          <p:spTgt spid="240"/>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39"/>
                                        </p:tgtEl>
                                        <p:attrNameLst>
                                          <p:attrName>style.visibility</p:attrName>
                                        </p:attrNameLst>
                                      </p:cBhvr>
                                      <p:to>
                                        <p:strVal val="visible"/>
                                      </p:to>
                                    </p:set>
                                    <p:anim calcmode="lin" valueType="num">
                                      <p:cBhvr additive="base">
                                        <p:cTn dur="1000"/>
                                        <p:tgtEl>
                                          <p:spTgt spid="239"/>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37"/>
                                        </p:tgtEl>
                                        <p:attrNameLst>
                                          <p:attrName>style.visibility</p:attrName>
                                        </p:attrNameLst>
                                      </p:cBhvr>
                                      <p:to>
                                        <p:strVal val="visible"/>
                                      </p:to>
                                    </p:set>
                                    <p:anim calcmode="lin" valueType="num">
                                      <p:cBhvr additive="base">
                                        <p:cTn dur="1000"/>
                                        <p:tgtEl>
                                          <p:spTgt spid="237"/>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241"/>
                                        </p:tgtEl>
                                        <p:attrNameLst>
                                          <p:attrName>style.visibility</p:attrName>
                                        </p:attrNameLst>
                                      </p:cBhvr>
                                      <p:to>
                                        <p:strVal val="visible"/>
                                      </p:to>
                                    </p:set>
                                    <p:anim calcmode="lin" valueType="num">
                                      <p:cBhvr additive="base">
                                        <p:cTn dur="1000"/>
                                        <p:tgtEl>
                                          <p:spTgt spid="241"/>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242"/>
                                        </p:tgtEl>
                                        <p:attrNameLst>
                                          <p:attrName>style.visibility</p:attrName>
                                        </p:attrNameLst>
                                      </p:cBhvr>
                                      <p:to>
                                        <p:strVal val="visible"/>
                                      </p:to>
                                    </p:set>
                                    <p:anim calcmode="lin" valueType="num">
                                      <p:cBhvr additive="base">
                                        <p:cTn dur="1000"/>
                                        <p:tgtEl>
                                          <p:spTgt spid="242"/>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243"/>
                                        </p:tgtEl>
                                        <p:attrNameLst>
                                          <p:attrName>style.visibility</p:attrName>
                                        </p:attrNameLst>
                                      </p:cBhvr>
                                      <p:to>
                                        <p:strVal val="visible"/>
                                      </p:to>
                                    </p:set>
                                    <p:anim calcmode="lin" valueType="num">
                                      <p:cBhvr additive="base">
                                        <p:cTn dur="1000"/>
                                        <p:tgtEl>
                                          <p:spTgt spid="243"/>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244"/>
                                        </p:tgtEl>
                                        <p:attrNameLst>
                                          <p:attrName>style.visibility</p:attrName>
                                        </p:attrNameLst>
                                      </p:cBhvr>
                                      <p:to>
                                        <p:strVal val="visible"/>
                                      </p:to>
                                    </p:set>
                                    <p:anim calcmode="lin" valueType="num">
                                      <p:cBhvr additive="base">
                                        <p:cTn dur="1000"/>
                                        <p:tgtEl>
                                          <p:spTgt spid="244"/>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245"/>
                                        </p:tgtEl>
                                        <p:attrNameLst>
                                          <p:attrName>style.visibility</p:attrName>
                                        </p:attrNameLst>
                                      </p:cBhvr>
                                      <p:to>
                                        <p:strVal val="visible"/>
                                      </p:to>
                                    </p:set>
                                    <p:anim calcmode="lin" valueType="num">
                                      <p:cBhvr additive="base">
                                        <p:cTn dur="1000"/>
                                        <p:tgtEl>
                                          <p:spTgt spid="245"/>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246"/>
                                        </p:tgtEl>
                                        <p:attrNameLst>
                                          <p:attrName>style.visibility</p:attrName>
                                        </p:attrNameLst>
                                      </p:cBhvr>
                                      <p:to>
                                        <p:strVal val="visible"/>
                                      </p:to>
                                    </p:set>
                                    <p:anim calcmode="lin" valueType="num">
                                      <p:cBhvr additive="base">
                                        <p:cTn dur="1000"/>
                                        <p:tgtEl>
                                          <p:spTgt spid="246"/>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247"/>
                                        </p:tgtEl>
                                        <p:attrNameLst>
                                          <p:attrName>style.visibility</p:attrName>
                                        </p:attrNameLst>
                                      </p:cBhvr>
                                      <p:to>
                                        <p:strVal val="visible"/>
                                      </p:to>
                                    </p:set>
                                    <p:anim calcmode="lin" valueType="num">
                                      <p:cBhvr additive="base">
                                        <p:cTn dur="1000"/>
                                        <p:tgtEl>
                                          <p:spTgt spid="247"/>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248"/>
                                        </p:tgtEl>
                                        <p:attrNameLst>
                                          <p:attrName>style.visibility</p:attrName>
                                        </p:attrNameLst>
                                      </p:cBhvr>
                                      <p:to>
                                        <p:strVal val="visible"/>
                                      </p:to>
                                    </p:set>
                                    <p:anim calcmode="lin" valueType="num">
                                      <p:cBhvr additive="base">
                                        <p:cTn dur="1000"/>
                                        <p:tgtEl>
                                          <p:spTgt spid="248"/>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24"/>
          <p:cNvSpPr txBox="1"/>
          <p:nvPr>
            <p:ph type="title"/>
          </p:nvPr>
        </p:nvSpPr>
        <p:spPr>
          <a:xfrm>
            <a:off x="3107100" y="2274150"/>
            <a:ext cx="2929800" cy="59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a:t>Model Training</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3"/>
                                        </p:tgtEl>
                                        <p:attrNameLst>
                                          <p:attrName>style.visibility</p:attrName>
                                        </p:attrNameLst>
                                      </p:cBhvr>
                                      <p:to>
                                        <p:strVal val="visible"/>
                                      </p:to>
                                    </p:set>
                                    <p:anim calcmode="lin" valueType="num">
                                      <p:cBhvr additive="base">
                                        <p:cTn dur="1000"/>
                                        <p:tgtEl>
                                          <p:spTgt spid="253"/>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25"/>
          <p:cNvSpPr txBox="1"/>
          <p:nvPr>
            <p:ph type="title"/>
          </p:nvPr>
        </p:nvSpPr>
        <p:spPr>
          <a:xfrm>
            <a:off x="318550" y="508200"/>
            <a:ext cx="7505700" cy="59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How does the code(model) works?</a:t>
            </a:r>
            <a:endParaRPr b="1"/>
          </a:p>
          <a:p>
            <a:pPr indent="0" lvl="0" marL="0" rtl="0" algn="l">
              <a:spcBef>
                <a:spcPts val="0"/>
              </a:spcBef>
              <a:spcAft>
                <a:spcPts val="0"/>
              </a:spcAft>
              <a:buNone/>
            </a:pPr>
            <a:r>
              <a:t/>
            </a:r>
            <a:endParaRPr b="1"/>
          </a:p>
        </p:txBody>
      </p:sp>
      <p:pic>
        <p:nvPicPr>
          <p:cNvPr id="259" name="Google Shape;259;p25"/>
          <p:cNvPicPr preferRelativeResize="0"/>
          <p:nvPr/>
        </p:nvPicPr>
        <p:blipFill>
          <a:blip r:embed="rId3">
            <a:alphaModFix/>
          </a:blip>
          <a:stretch>
            <a:fillRect/>
          </a:stretch>
        </p:blipFill>
        <p:spPr>
          <a:xfrm>
            <a:off x="1202050" y="1751350"/>
            <a:ext cx="6739900" cy="1640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58"/>
                                        </p:tgtEl>
                                        <p:attrNameLst>
                                          <p:attrName>style.visibility</p:attrName>
                                        </p:attrNameLst>
                                      </p:cBhvr>
                                      <p:to>
                                        <p:strVal val="visible"/>
                                      </p:to>
                                    </p:set>
                                    <p:anim calcmode="lin" valueType="num">
                                      <p:cBhvr additive="base">
                                        <p:cTn dur="1000"/>
                                        <p:tgtEl>
                                          <p:spTgt spid="258"/>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59"/>
                                        </p:tgtEl>
                                        <p:attrNameLst>
                                          <p:attrName>style.visibility</p:attrName>
                                        </p:attrNameLst>
                                      </p:cBhvr>
                                      <p:to>
                                        <p:strVal val="visible"/>
                                      </p:to>
                                    </p:set>
                                    <p:anim calcmode="lin" valueType="num">
                                      <p:cBhvr additive="base">
                                        <p:cTn dur="1000"/>
                                        <p:tgtEl>
                                          <p:spTgt spid="259"/>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26"/>
          <p:cNvSpPr txBox="1"/>
          <p:nvPr>
            <p:ph type="title"/>
          </p:nvPr>
        </p:nvSpPr>
        <p:spPr>
          <a:xfrm>
            <a:off x="319550" y="186875"/>
            <a:ext cx="7505700" cy="59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Compare P(spam|words) and P(ham|words)</a:t>
            </a:r>
            <a:endParaRPr b="1"/>
          </a:p>
        </p:txBody>
      </p:sp>
      <p:sp>
        <p:nvSpPr>
          <p:cNvPr id="265" name="Google Shape;265;p26"/>
          <p:cNvSpPr/>
          <p:nvPr/>
        </p:nvSpPr>
        <p:spPr>
          <a:xfrm>
            <a:off x="2742125" y="1469650"/>
            <a:ext cx="5484900" cy="284100"/>
          </a:xfrm>
          <a:prstGeom prst="mathMin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66" name="Google Shape;266;p26"/>
          <p:cNvSpPr txBox="1"/>
          <p:nvPr/>
        </p:nvSpPr>
        <p:spPr>
          <a:xfrm>
            <a:off x="284950" y="1333600"/>
            <a:ext cx="3000000" cy="556200"/>
          </a:xfrm>
          <a:prstGeom prst="rect">
            <a:avLst/>
          </a:prstGeom>
          <a:noFill/>
          <a:ln>
            <a:noFill/>
          </a:ln>
        </p:spPr>
        <p:txBody>
          <a:bodyPr anchorCtr="0" anchor="t" bIns="91425" lIns="91425" spcFirstLastPara="1" rIns="91425" wrap="square" tIns="91425">
            <a:spAutoFit/>
          </a:bodyPr>
          <a:lstStyle/>
          <a:p>
            <a:pPr indent="0" lvl="0" marL="0" rtl="0" algn="l">
              <a:lnSpc>
                <a:spcPct val="95000"/>
              </a:lnSpc>
              <a:spcBef>
                <a:spcPts val="0"/>
              </a:spcBef>
              <a:spcAft>
                <a:spcPts val="1200"/>
              </a:spcAft>
              <a:buNone/>
            </a:pPr>
            <a:r>
              <a:rPr lang="en" sz="2540">
                <a:solidFill>
                  <a:srgbClr val="374151"/>
                </a:solidFill>
                <a:latin typeface="Roboto"/>
                <a:ea typeface="Roboto"/>
                <a:cs typeface="Roboto"/>
                <a:sym typeface="Roboto"/>
              </a:rPr>
              <a:t>P(ham|words)</a:t>
            </a:r>
            <a:endParaRPr/>
          </a:p>
        </p:txBody>
      </p:sp>
      <p:sp>
        <p:nvSpPr>
          <p:cNvPr id="267" name="Google Shape;267;p26"/>
          <p:cNvSpPr txBox="1"/>
          <p:nvPr/>
        </p:nvSpPr>
        <p:spPr>
          <a:xfrm>
            <a:off x="3469925" y="989800"/>
            <a:ext cx="4902300" cy="556200"/>
          </a:xfrm>
          <a:prstGeom prst="rect">
            <a:avLst/>
          </a:prstGeom>
          <a:noFill/>
          <a:ln>
            <a:noFill/>
          </a:ln>
        </p:spPr>
        <p:txBody>
          <a:bodyPr anchorCtr="0" anchor="t" bIns="91425" lIns="91425" spcFirstLastPara="1" rIns="91425" wrap="square" tIns="91425">
            <a:spAutoFit/>
          </a:bodyPr>
          <a:lstStyle/>
          <a:p>
            <a:pPr indent="0" lvl="0" marL="0" rtl="0" algn="l">
              <a:lnSpc>
                <a:spcPct val="95000"/>
              </a:lnSpc>
              <a:spcBef>
                <a:spcPts val="0"/>
              </a:spcBef>
              <a:spcAft>
                <a:spcPts val="1200"/>
              </a:spcAft>
              <a:buNone/>
            </a:pPr>
            <a:r>
              <a:rPr lang="en" sz="2540">
                <a:solidFill>
                  <a:srgbClr val="374151"/>
                </a:solidFill>
                <a:latin typeface="Roboto"/>
                <a:ea typeface="Roboto"/>
                <a:cs typeface="Roboto"/>
                <a:sym typeface="Roboto"/>
              </a:rPr>
              <a:t>P(words|ham)   * P(ham) </a:t>
            </a:r>
            <a:endParaRPr sz="2540">
              <a:solidFill>
                <a:srgbClr val="374151"/>
              </a:solidFill>
              <a:latin typeface="Roboto"/>
              <a:ea typeface="Roboto"/>
              <a:cs typeface="Roboto"/>
              <a:sym typeface="Roboto"/>
            </a:endParaRPr>
          </a:p>
        </p:txBody>
      </p:sp>
      <p:sp>
        <p:nvSpPr>
          <p:cNvPr id="268" name="Google Shape;268;p26"/>
          <p:cNvSpPr txBox="1"/>
          <p:nvPr/>
        </p:nvSpPr>
        <p:spPr>
          <a:xfrm>
            <a:off x="4549600" y="1674583"/>
            <a:ext cx="3000000" cy="556200"/>
          </a:xfrm>
          <a:prstGeom prst="rect">
            <a:avLst/>
          </a:prstGeom>
          <a:noFill/>
          <a:ln>
            <a:noFill/>
          </a:ln>
        </p:spPr>
        <p:txBody>
          <a:bodyPr anchorCtr="0" anchor="t" bIns="91425" lIns="91425" spcFirstLastPara="1" rIns="91425" wrap="square" tIns="91425">
            <a:spAutoFit/>
          </a:bodyPr>
          <a:lstStyle/>
          <a:p>
            <a:pPr indent="0" lvl="0" marL="0" rtl="0" algn="l">
              <a:lnSpc>
                <a:spcPct val="95000"/>
              </a:lnSpc>
              <a:spcBef>
                <a:spcPts val="0"/>
              </a:spcBef>
              <a:spcAft>
                <a:spcPts val="1200"/>
              </a:spcAft>
              <a:buNone/>
            </a:pPr>
            <a:r>
              <a:rPr lang="en" sz="2540">
                <a:solidFill>
                  <a:srgbClr val="374151"/>
                </a:solidFill>
                <a:latin typeface="Roboto"/>
                <a:ea typeface="Roboto"/>
                <a:cs typeface="Roboto"/>
                <a:sym typeface="Roboto"/>
              </a:rPr>
              <a:t>P(words)                                     </a:t>
            </a:r>
            <a:endParaRPr/>
          </a:p>
        </p:txBody>
      </p:sp>
      <p:sp>
        <p:nvSpPr>
          <p:cNvPr id="269" name="Google Shape;269;p26"/>
          <p:cNvSpPr/>
          <p:nvPr/>
        </p:nvSpPr>
        <p:spPr>
          <a:xfrm>
            <a:off x="2837350" y="1393450"/>
            <a:ext cx="447600" cy="436500"/>
          </a:xfrm>
          <a:prstGeom prst="mathEqual">
            <a:avLst>
              <a:gd fmla="val 23520" name="adj1"/>
              <a:gd fmla="val 1176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70" name="Google Shape;270;p26"/>
          <p:cNvSpPr/>
          <p:nvPr/>
        </p:nvSpPr>
        <p:spPr>
          <a:xfrm>
            <a:off x="2742125" y="3963900"/>
            <a:ext cx="5484900" cy="284100"/>
          </a:xfrm>
          <a:prstGeom prst="mathMin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71" name="Google Shape;271;p26"/>
          <p:cNvSpPr txBox="1"/>
          <p:nvPr/>
        </p:nvSpPr>
        <p:spPr>
          <a:xfrm>
            <a:off x="3469925" y="2359375"/>
            <a:ext cx="3838500" cy="1670400"/>
          </a:xfrm>
          <a:prstGeom prst="rect">
            <a:avLst/>
          </a:prstGeom>
          <a:noFill/>
          <a:ln>
            <a:noFill/>
          </a:ln>
        </p:spPr>
        <p:txBody>
          <a:bodyPr anchorCtr="0" anchor="t" bIns="91425" lIns="91425" spcFirstLastPara="1" rIns="91425" wrap="square" tIns="91425">
            <a:spAutoFit/>
          </a:bodyPr>
          <a:lstStyle/>
          <a:p>
            <a:pPr indent="0" lvl="0" marL="0" rtl="0" algn="l">
              <a:lnSpc>
                <a:spcPct val="95000"/>
              </a:lnSpc>
              <a:spcBef>
                <a:spcPts val="0"/>
              </a:spcBef>
              <a:spcAft>
                <a:spcPts val="1200"/>
              </a:spcAft>
              <a:buNone/>
            </a:pPr>
            <a:r>
              <a:rPr b="1" lang="en" sz="2540">
                <a:solidFill>
                  <a:srgbClr val="374151"/>
                </a:solidFill>
                <a:latin typeface="Roboto"/>
                <a:ea typeface="Roboto"/>
                <a:cs typeface="Roboto"/>
                <a:sym typeface="Roboto"/>
              </a:rPr>
              <a:t>P(wordA|ham)</a:t>
            </a:r>
            <a:r>
              <a:rPr lang="en" sz="2540">
                <a:solidFill>
                  <a:srgbClr val="374151"/>
                </a:solidFill>
                <a:latin typeface="Roboto"/>
                <a:ea typeface="Roboto"/>
                <a:cs typeface="Roboto"/>
                <a:sym typeface="Roboto"/>
              </a:rPr>
              <a:t> * </a:t>
            </a:r>
            <a:r>
              <a:rPr b="1" lang="en" sz="2540">
                <a:solidFill>
                  <a:srgbClr val="374151"/>
                </a:solidFill>
                <a:latin typeface="Roboto"/>
                <a:ea typeface="Roboto"/>
                <a:cs typeface="Roboto"/>
                <a:sym typeface="Roboto"/>
              </a:rPr>
              <a:t>P(wordB|ham)</a:t>
            </a:r>
            <a:r>
              <a:rPr lang="en" sz="2540">
                <a:solidFill>
                  <a:srgbClr val="374151"/>
                </a:solidFill>
                <a:latin typeface="Roboto"/>
                <a:ea typeface="Roboto"/>
                <a:cs typeface="Roboto"/>
                <a:sym typeface="Roboto"/>
              </a:rPr>
              <a:t> * </a:t>
            </a:r>
            <a:r>
              <a:rPr b="1" lang="en" sz="2540">
                <a:solidFill>
                  <a:srgbClr val="374151"/>
                </a:solidFill>
                <a:latin typeface="Roboto"/>
                <a:ea typeface="Roboto"/>
                <a:cs typeface="Roboto"/>
                <a:sym typeface="Roboto"/>
              </a:rPr>
              <a:t>P(wordC|ham)</a:t>
            </a:r>
            <a:r>
              <a:rPr lang="en" sz="2540">
                <a:solidFill>
                  <a:srgbClr val="374151"/>
                </a:solidFill>
                <a:latin typeface="Roboto"/>
                <a:ea typeface="Roboto"/>
                <a:cs typeface="Roboto"/>
                <a:sym typeface="Roboto"/>
              </a:rPr>
              <a:t> * </a:t>
            </a:r>
            <a:r>
              <a:rPr b="1" lang="en" sz="2540">
                <a:solidFill>
                  <a:srgbClr val="374151"/>
                </a:solidFill>
                <a:latin typeface="Roboto"/>
                <a:ea typeface="Roboto"/>
                <a:cs typeface="Roboto"/>
                <a:sym typeface="Roboto"/>
              </a:rPr>
              <a:t>P(wordD|ham) </a:t>
            </a:r>
            <a:r>
              <a:rPr lang="en" sz="2540">
                <a:solidFill>
                  <a:srgbClr val="374151"/>
                </a:solidFill>
                <a:latin typeface="Roboto"/>
                <a:ea typeface="Roboto"/>
                <a:cs typeface="Roboto"/>
                <a:sym typeface="Roboto"/>
              </a:rPr>
              <a:t>* P(ham) </a:t>
            </a:r>
            <a:endParaRPr sz="2540">
              <a:solidFill>
                <a:srgbClr val="374151"/>
              </a:solidFill>
              <a:latin typeface="Roboto"/>
              <a:ea typeface="Roboto"/>
              <a:cs typeface="Roboto"/>
              <a:sym typeface="Roboto"/>
            </a:endParaRPr>
          </a:p>
        </p:txBody>
      </p:sp>
      <p:sp>
        <p:nvSpPr>
          <p:cNvPr id="272" name="Google Shape;272;p26"/>
          <p:cNvSpPr txBox="1"/>
          <p:nvPr/>
        </p:nvSpPr>
        <p:spPr>
          <a:xfrm>
            <a:off x="4605575" y="4248008"/>
            <a:ext cx="3000000" cy="556200"/>
          </a:xfrm>
          <a:prstGeom prst="rect">
            <a:avLst/>
          </a:prstGeom>
          <a:noFill/>
          <a:ln>
            <a:noFill/>
          </a:ln>
        </p:spPr>
        <p:txBody>
          <a:bodyPr anchorCtr="0" anchor="t" bIns="91425" lIns="91425" spcFirstLastPara="1" rIns="91425" wrap="square" tIns="91425">
            <a:spAutoFit/>
          </a:bodyPr>
          <a:lstStyle/>
          <a:p>
            <a:pPr indent="0" lvl="0" marL="0" rtl="0" algn="l">
              <a:lnSpc>
                <a:spcPct val="95000"/>
              </a:lnSpc>
              <a:spcBef>
                <a:spcPts val="0"/>
              </a:spcBef>
              <a:spcAft>
                <a:spcPts val="1200"/>
              </a:spcAft>
              <a:buNone/>
            </a:pPr>
            <a:r>
              <a:rPr lang="en" sz="2540">
                <a:solidFill>
                  <a:srgbClr val="374151"/>
                </a:solidFill>
                <a:latin typeface="Roboto"/>
                <a:ea typeface="Roboto"/>
                <a:cs typeface="Roboto"/>
                <a:sym typeface="Roboto"/>
              </a:rPr>
              <a:t>P(words)                                     </a:t>
            </a:r>
            <a:endParaRPr/>
          </a:p>
        </p:txBody>
      </p:sp>
      <p:sp>
        <p:nvSpPr>
          <p:cNvPr id="273" name="Google Shape;273;p26"/>
          <p:cNvSpPr/>
          <p:nvPr/>
        </p:nvSpPr>
        <p:spPr>
          <a:xfrm>
            <a:off x="2837350" y="3887700"/>
            <a:ext cx="447600" cy="436500"/>
          </a:xfrm>
          <a:prstGeom prst="mathEqual">
            <a:avLst>
              <a:gd fmla="val 23520" name="adj1"/>
              <a:gd fmla="val 1176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74" name="Google Shape;274;p26"/>
          <p:cNvSpPr/>
          <p:nvPr/>
        </p:nvSpPr>
        <p:spPr>
          <a:xfrm>
            <a:off x="5979483" y="815538"/>
            <a:ext cx="1570125" cy="904725"/>
          </a:xfrm>
          <a:custGeom>
            <a:rect b="b" l="l" r="r" t="t"/>
            <a:pathLst>
              <a:path extrusionOk="0" h="36189" w="62805">
                <a:moveTo>
                  <a:pt x="21309" y="2598"/>
                </a:moveTo>
                <a:cubicBezTo>
                  <a:pt x="14835" y="2598"/>
                  <a:pt x="7894" y="6049"/>
                  <a:pt x="3849" y="11104"/>
                </a:cubicBezTo>
                <a:cubicBezTo>
                  <a:pt x="22" y="15887"/>
                  <a:pt x="-1831" y="25634"/>
                  <a:pt x="2954" y="29459"/>
                </a:cubicBezTo>
                <a:cubicBezTo>
                  <a:pt x="13638" y="38000"/>
                  <a:pt x="30200" y="36629"/>
                  <a:pt x="43693" y="34384"/>
                </a:cubicBezTo>
                <a:cubicBezTo>
                  <a:pt x="50212" y="33299"/>
                  <a:pt x="58392" y="31655"/>
                  <a:pt x="61601" y="25878"/>
                </a:cubicBezTo>
                <a:cubicBezTo>
                  <a:pt x="66325" y="17373"/>
                  <a:pt x="55370" y="3615"/>
                  <a:pt x="45932" y="1255"/>
                </a:cubicBezTo>
                <a:cubicBezTo>
                  <a:pt x="36078" y="-1209"/>
                  <a:pt x="25449" y="605"/>
                  <a:pt x="15489" y="2598"/>
                </a:cubicBezTo>
              </a:path>
            </a:pathLst>
          </a:custGeom>
          <a:noFill/>
          <a:ln cap="flat" cmpd="sng" w="38100">
            <a:solidFill>
              <a:srgbClr val="0000FF"/>
            </a:solidFill>
            <a:prstDash val="solid"/>
            <a:round/>
            <a:headEnd len="med" w="med" type="none"/>
            <a:tailEnd len="med" w="med" type="none"/>
          </a:ln>
        </p:spPr>
      </p:sp>
      <p:sp>
        <p:nvSpPr>
          <p:cNvPr id="275" name="Google Shape;275;p26"/>
          <p:cNvSpPr/>
          <p:nvPr/>
        </p:nvSpPr>
        <p:spPr>
          <a:xfrm>
            <a:off x="4549608" y="1500300"/>
            <a:ext cx="1570125" cy="904725"/>
          </a:xfrm>
          <a:custGeom>
            <a:rect b="b" l="l" r="r" t="t"/>
            <a:pathLst>
              <a:path extrusionOk="0" h="36189" w="62805">
                <a:moveTo>
                  <a:pt x="21309" y="2598"/>
                </a:moveTo>
                <a:cubicBezTo>
                  <a:pt x="14835" y="2598"/>
                  <a:pt x="7894" y="6049"/>
                  <a:pt x="3849" y="11104"/>
                </a:cubicBezTo>
                <a:cubicBezTo>
                  <a:pt x="22" y="15887"/>
                  <a:pt x="-1831" y="25634"/>
                  <a:pt x="2954" y="29459"/>
                </a:cubicBezTo>
                <a:cubicBezTo>
                  <a:pt x="13638" y="38000"/>
                  <a:pt x="30200" y="36629"/>
                  <a:pt x="43693" y="34384"/>
                </a:cubicBezTo>
                <a:cubicBezTo>
                  <a:pt x="50212" y="33299"/>
                  <a:pt x="58392" y="31655"/>
                  <a:pt x="61601" y="25878"/>
                </a:cubicBezTo>
                <a:cubicBezTo>
                  <a:pt x="66325" y="17373"/>
                  <a:pt x="55370" y="3615"/>
                  <a:pt x="45932" y="1255"/>
                </a:cubicBezTo>
                <a:cubicBezTo>
                  <a:pt x="36078" y="-1209"/>
                  <a:pt x="25449" y="605"/>
                  <a:pt x="15489" y="2598"/>
                </a:cubicBezTo>
              </a:path>
            </a:pathLst>
          </a:custGeom>
          <a:noFill/>
          <a:ln cap="flat" cmpd="sng" w="38100">
            <a:solidFill>
              <a:srgbClr val="0000FF"/>
            </a:solidFill>
            <a:prstDash val="solid"/>
            <a:round/>
            <a:headEnd len="med" w="med" type="none"/>
            <a:tailEnd len="med" w="med" type="none"/>
          </a:ln>
        </p:spPr>
      </p:sp>
      <p:sp>
        <p:nvSpPr>
          <p:cNvPr id="276" name="Google Shape;276;p26"/>
          <p:cNvSpPr txBox="1"/>
          <p:nvPr/>
        </p:nvSpPr>
        <p:spPr>
          <a:xfrm>
            <a:off x="6222850" y="1753750"/>
            <a:ext cx="3122700" cy="90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rgbClr val="0000FF"/>
                </a:solidFill>
                <a:latin typeface="Calibri"/>
                <a:ea typeface="Calibri"/>
                <a:cs typeface="Calibri"/>
                <a:sym typeface="Calibri"/>
              </a:rPr>
              <a:t>based on database</a:t>
            </a:r>
            <a:endParaRPr b="1" sz="2400">
              <a:solidFill>
                <a:srgbClr val="0000FF"/>
              </a:solidFill>
              <a:latin typeface="Calibri"/>
              <a:ea typeface="Calibri"/>
              <a:cs typeface="Calibri"/>
              <a:sym typeface="Calibri"/>
            </a:endParaRPr>
          </a:p>
        </p:txBody>
      </p:sp>
      <p:sp>
        <p:nvSpPr>
          <p:cNvPr id="277" name="Google Shape;277;p26"/>
          <p:cNvSpPr/>
          <p:nvPr/>
        </p:nvSpPr>
        <p:spPr>
          <a:xfrm>
            <a:off x="6038675" y="713000"/>
            <a:ext cx="1566900" cy="1007275"/>
          </a:xfrm>
          <a:custGeom>
            <a:rect b="b" l="l" r="r" t="t"/>
            <a:pathLst>
              <a:path extrusionOk="0" h="40291" w="62676">
                <a:moveTo>
                  <a:pt x="62676" y="40291"/>
                </a:moveTo>
                <a:cubicBezTo>
                  <a:pt x="49615" y="37031"/>
                  <a:pt x="39158" y="27076"/>
                  <a:pt x="28204" y="19250"/>
                </a:cubicBezTo>
                <a:cubicBezTo>
                  <a:pt x="18942" y="12633"/>
                  <a:pt x="5095" y="10178"/>
                  <a:pt x="0" y="0"/>
                </a:cubicBezTo>
              </a:path>
            </a:pathLst>
          </a:custGeom>
          <a:noFill/>
          <a:ln cap="flat" cmpd="sng" w="38100">
            <a:solidFill>
              <a:srgbClr val="0000FF"/>
            </a:solidFill>
            <a:prstDash val="solid"/>
            <a:round/>
            <a:headEnd len="med" w="med" type="none"/>
            <a:tailEnd len="med" w="med" type="none"/>
          </a:ln>
        </p:spPr>
      </p:sp>
      <p:sp>
        <p:nvSpPr>
          <p:cNvPr id="278" name="Google Shape;278;p26"/>
          <p:cNvSpPr/>
          <p:nvPr/>
        </p:nvSpPr>
        <p:spPr>
          <a:xfrm>
            <a:off x="4701125" y="1449038"/>
            <a:ext cx="1566900" cy="1007275"/>
          </a:xfrm>
          <a:custGeom>
            <a:rect b="b" l="l" r="r" t="t"/>
            <a:pathLst>
              <a:path extrusionOk="0" h="40291" w="62676">
                <a:moveTo>
                  <a:pt x="62676" y="40291"/>
                </a:moveTo>
                <a:cubicBezTo>
                  <a:pt x="49615" y="37031"/>
                  <a:pt x="39158" y="27076"/>
                  <a:pt x="28204" y="19250"/>
                </a:cubicBezTo>
                <a:cubicBezTo>
                  <a:pt x="18942" y="12633"/>
                  <a:pt x="5095" y="10178"/>
                  <a:pt x="0" y="0"/>
                </a:cubicBezTo>
              </a:path>
            </a:pathLst>
          </a:custGeom>
          <a:noFill/>
          <a:ln cap="flat" cmpd="sng" w="38100">
            <a:solidFill>
              <a:srgbClr val="0000FF"/>
            </a:solidFill>
            <a:prstDash val="solid"/>
            <a:round/>
            <a:headEnd len="med" w="med" type="none"/>
            <a:tailEnd len="med" w="med" type="none"/>
          </a:ln>
        </p:spPr>
      </p:sp>
      <p:sp>
        <p:nvSpPr>
          <p:cNvPr id="279" name="Google Shape;279;p26"/>
          <p:cNvSpPr/>
          <p:nvPr/>
        </p:nvSpPr>
        <p:spPr>
          <a:xfrm>
            <a:off x="3322392" y="770808"/>
            <a:ext cx="2454425" cy="775175"/>
          </a:xfrm>
          <a:custGeom>
            <a:rect b="b" l="l" r="r" t="t"/>
            <a:pathLst>
              <a:path extrusionOk="0" h="31007" w="98177">
                <a:moveTo>
                  <a:pt x="8068" y="5489"/>
                </a:moveTo>
                <a:cubicBezTo>
                  <a:pt x="577" y="6989"/>
                  <a:pt x="-2967" y="23289"/>
                  <a:pt x="3144" y="27874"/>
                </a:cubicBezTo>
                <a:cubicBezTo>
                  <a:pt x="7230" y="30940"/>
                  <a:pt x="13326" y="30504"/>
                  <a:pt x="18365" y="29664"/>
                </a:cubicBezTo>
                <a:cubicBezTo>
                  <a:pt x="28964" y="27896"/>
                  <a:pt x="39906" y="28149"/>
                  <a:pt x="50599" y="29217"/>
                </a:cubicBezTo>
                <a:cubicBezTo>
                  <a:pt x="60862" y="30242"/>
                  <a:pt x="71175" y="31007"/>
                  <a:pt x="81489" y="31007"/>
                </a:cubicBezTo>
                <a:cubicBezTo>
                  <a:pt x="87253" y="31007"/>
                  <a:pt x="96207" y="30332"/>
                  <a:pt x="97606" y="24740"/>
                </a:cubicBezTo>
                <a:cubicBezTo>
                  <a:pt x="99134" y="18631"/>
                  <a:pt x="97582" y="10838"/>
                  <a:pt x="93129" y="6385"/>
                </a:cubicBezTo>
                <a:cubicBezTo>
                  <a:pt x="90262" y="3518"/>
                  <a:pt x="85095" y="5042"/>
                  <a:pt x="81041" y="5042"/>
                </a:cubicBezTo>
                <a:cubicBezTo>
                  <a:pt x="73119" y="5042"/>
                  <a:pt x="65082" y="5254"/>
                  <a:pt x="57314" y="3699"/>
                </a:cubicBezTo>
                <a:cubicBezTo>
                  <a:pt x="40776" y="389"/>
                  <a:pt x="21810" y="-2949"/>
                  <a:pt x="6725" y="4594"/>
                </a:cubicBezTo>
              </a:path>
            </a:pathLst>
          </a:custGeom>
          <a:noFill/>
          <a:ln cap="flat" cmpd="sng" w="76200">
            <a:solidFill>
              <a:srgbClr val="FF0000"/>
            </a:solidFill>
            <a:prstDash val="solid"/>
            <a:round/>
            <a:headEnd len="med" w="med" type="none"/>
            <a:tailEnd len="med" w="med" type="none"/>
          </a:ln>
        </p:spPr>
      </p:sp>
      <p:sp>
        <p:nvSpPr>
          <p:cNvPr id="280" name="Google Shape;280;p26"/>
          <p:cNvSpPr/>
          <p:nvPr/>
        </p:nvSpPr>
        <p:spPr>
          <a:xfrm>
            <a:off x="3259468" y="2182484"/>
            <a:ext cx="2625050" cy="1921650"/>
          </a:xfrm>
          <a:custGeom>
            <a:rect b="b" l="l" r="r" t="t"/>
            <a:pathLst>
              <a:path extrusionOk="0" h="76866" w="105002">
                <a:moveTo>
                  <a:pt x="36768" y="2950"/>
                </a:moveTo>
                <a:cubicBezTo>
                  <a:pt x="25793" y="2950"/>
                  <a:pt x="11560" y="1234"/>
                  <a:pt x="4534" y="9666"/>
                </a:cubicBezTo>
                <a:cubicBezTo>
                  <a:pt x="-3492" y="19299"/>
                  <a:pt x="1178" y="34976"/>
                  <a:pt x="3639" y="47271"/>
                </a:cubicBezTo>
                <a:cubicBezTo>
                  <a:pt x="4931" y="53724"/>
                  <a:pt x="1034" y="61704"/>
                  <a:pt x="4982" y="66969"/>
                </a:cubicBezTo>
                <a:cubicBezTo>
                  <a:pt x="15168" y="80552"/>
                  <a:pt x="38376" y="73130"/>
                  <a:pt x="55123" y="75923"/>
                </a:cubicBezTo>
                <a:cubicBezTo>
                  <a:pt x="63808" y="77372"/>
                  <a:pt x="72776" y="76800"/>
                  <a:pt x="81537" y="75923"/>
                </a:cubicBezTo>
                <a:cubicBezTo>
                  <a:pt x="88131" y="75263"/>
                  <a:pt x="95933" y="77213"/>
                  <a:pt x="101235" y="73237"/>
                </a:cubicBezTo>
                <a:cubicBezTo>
                  <a:pt x="105085" y="70350"/>
                  <a:pt x="103025" y="63723"/>
                  <a:pt x="103025" y="58911"/>
                </a:cubicBezTo>
                <a:cubicBezTo>
                  <a:pt x="103025" y="52912"/>
                  <a:pt x="105561" y="46956"/>
                  <a:pt x="104816" y="41004"/>
                </a:cubicBezTo>
                <a:cubicBezTo>
                  <a:pt x="103756" y="32531"/>
                  <a:pt x="104105" y="23887"/>
                  <a:pt x="102578" y="15486"/>
                </a:cubicBezTo>
                <a:cubicBezTo>
                  <a:pt x="101918" y="11854"/>
                  <a:pt x="102503" y="7352"/>
                  <a:pt x="99892" y="4741"/>
                </a:cubicBezTo>
                <a:cubicBezTo>
                  <a:pt x="92908" y="-2243"/>
                  <a:pt x="80222" y="2503"/>
                  <a:pt x="70344" y="2503"/>
                </a:cubicBezTo>
                <a:cubicBezTo>
                  <a:pt x="58406" y="2503"/>
                  <a:pt x="45207" y="-2836"/>
                  <a:pt x="34529" y="2503"/>
                </a:cubicBezTo>
              </a:path>
            </a:pathLst>
          </a:custGeom>
          <a:noFill/>
          <a:ln cap="flat" cmpd="sng" w="76200">
            <a:solidFill>
              <a:srgbClr val="FF0000"/>
            </a:solidFill>
            <a:prstDash val="solid"/>
            <a:round/>
            <a:headEnd len="med" w="med" type="none"/>
            <a:tailEnd len="med" w="med" type="none"/>
          </a:ln>
        </p:spPr>
      </p:sp>
      <p:sp>
        <p:nvSpPr>
          <p:cNvPr id="281" name="Google Shape;281;p26"/>
          <p:cNvSpPr/>
          <p:nvPr/>
        </p:nvSpPr>
        <p:spPr>
          <a:xfrm>
            <a:off x="4037288" y="1544525"/>
            <a:ext cx="70200" cy="637950"/>
          </a:xfrm>
          <a:custGeom>
            <a:rect b="b" l="l" r="r" t="t"/>
            <a:pathLst>
              <a:path extrusionOk="0" h="25518" w="2808">
                <a:moveTo>
                  <a:pt x="2808" y="0"/>
                </a:moveTo>
                <a:cubicBezTo>
                  <a:pt x="-368" y="7941"/>
                  <a:pt x="122" y="16965"/>
                  <a:pt x="122" y="25518"/>
                </a:cubicBezTo>
              </a:path>
            </a:pathLst>
          </a:custGeom>
          <a:noFill/>
          <a:ln cap="flat" cmpd="sng" w="76200">
            <a:solidFill>
              <a:srgbClr val="FF0000"/>
            </a:solidFill>
            <a:prstDash val="solid"/>
            <a:round/>
            <a:headEnd len="med" w="med" type="none"/>
            <a:tailEnd len="med" w="med" type="none"/>
          </a:ln>
        </p:spPr>
      </p:sp>
      <p:sp>
        <p:nvSpPr>
          <p:cNvPr id="282" name="Google Shape;282;p26"/>
          <p:cNvSpPr/>
          <p:nvPr/>
        </p:nvSpPr>
        <p:spPr>
          <a:xfrm>
            <a:off x="3917250" y="2003400"/>
            <a:ext cx="313375" cy="212650"/>
          </a:xfrm>
          <a:custGeom>
            <a:rect b="b" l="l" r="r" t="t"/>
            <a:pathLst>
              <a:path extrusionOk="0" h="8506" w="12535">
                <a:moveTo>
                  <a:pt x="0" y="0"/>
                </a:moveTo>
                <a:cubicBezTo>
                  <a:pt x="642" y="3213"/>
                  <a:pt x="1648" y="8506"/>
                  <a:pt x="4924" y="8506"/>
                </a:cubicBezTo>
                <a:cubicBezTo>
                  <a:pt x="8619" y="8506"/>
                  <a:pt x="10881" y="3752"/>
                  <a:pt x="12535" y="448"/>
                </a:cubicBezTo>
              </a:path>
            </a:pathLst>
          </a:custGeom>
          <a:noFill/>
          <a:ln cap="flat" cmpd="sng" w="76200">
            <a:solidFill>
              <a:srgbClr val="FF0000"/>
            </a:solidFill>
            <a:prstDash val="solid"/>
            <a:round/>
            <a:headEnd len="med" w="med" type="none"/>
            <a:tailEnd len="med" w="med" type="none"/>
          </a:ln>
        </p:spPr>
      </p:sp>
      <p:sp>
        <p:nvSpPr>
          <p:cNvPr id="283" name="Google Shape;283;p26"/>
          <p:cNvSpPr txBox="1"/>
          <p:nvPr/>
        </p:nvSpPr>
        <p:spPr>
          <a:xfrm>
            <a:off x="408400" y="2474450"/>
            <a:ext cx="2753100" cy="90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rgbClr val="FF0000"/>
                </a:solidFill>
                <a:latin typeface="Calibri"/>
                <a:ea typeface="Calibri"/>
                <a:cs typeface="Calibri"/>
                <a:sym typeface="Calibri"/>
              </a:rPr>
              <a:t>This is what we want to find when training the model</a:t>
            </a:r>
            <a:endParaRPr b="1" sz="2400">
              <a:solidFill>
                <a:srgbClr val="FF0000"/>
              </a:solidFill>
              <a:latin typeface="Calibri"/>
              <a:ea typeface="Calibri"/>
              <a:cs typeface="Calibri"/>
              <a:sym typeface="Calibri"/>
            </a:endParaRPr>
          </a:p>
        </p:txBody>
      </p:sp>
      <p:sp>
        <p:nvSpPr>
          <p:cNvPr id="284" name="Google Shape;284;p26"/>
          <p:cNvSpPr/>
          <p:nvPr/>
        </p:nvSpPr>
        <p:spPr>
          <a:xfrm>
            <a:off x="2771013" y="1908550"/>
            <a:ext cx="580264" cy="595207"/>
          </a:xfrm>
          <a:custGeom>
            <a:rect b="b" l="l" r="r" t="t"/>
            <a:pathLst>
              <a:path extrusionOk="0" h="18355" w="21259">
                <a:moveTo>
                  <a:pt x="8954" y="18355"/>
                </a:moveTo>
                <a:cubicBezTo>
                  <a:pt x="7506" y="14012"/>
                  <a:pt x="5734" y="9774"/>
                  <a:pt x="4477" y="5372"/>
                </a:cubicBezTo>
                <a:cubicBezTo>
                  <a:pt x="3970" y="3597"/>
                  <a:pt x="1288" y="0"/>
                  <a:pt x="3134" y="0"/>
                </a:cubicBezTo>
                <a:cubicBezTo>
                  <a:pt x="9269" y="0"/>
                  <a:pt x="13332" y="7180"/>
                  <a:pt x="17012" y="12088"/>
                </a:cubicBezTo>
                <a:cubicBezTo>
                  <a:pt x="18013" y="13423"/>
                  <a:pt x="20430" y="15385"/>
                  <a:pt x="19250" y="16564"/>
                </a:cubicBezTo>
                <a:cubicBezTo>
                  <a:pt x="18202" y="17611"/>
                  <a:pt x="17043" y="15677"/>
                  <a:pt x="17012" y="15669"/>
                </a:cubicBezTo>
                <a:cubicBezTo>
                  <a:pt x="13029" y="14672"/>
                  <a:pt x="9398" y="12446"/>
                  <a:pt x="5372" y="11640"/>
                </a:cubicBezTo>
                <a:cubicBezTo>
                  <a:pt x="3610" y="11287"/>
                  <a:pt x="0" y="12989"/>
                  <a:pt x="0" y="11192"/>
                </a:cubicBezTo>
                <a:cubicBezTo>
                  <a:pt x="0" y="9776"/>
                  <a:pt x="2650" y="10167"/>
                  <a:pt x="4029" y="9849"/>
                </a:cubicBezTo>
                <a:cubicBezTo>
                  <a:pt x="8085" y="8913"/>
                  <a:pt x="12079" y="7725"/>
                  <a:pt x="16117" y="6715"/>
                </a:cubicBezTo>
                <a:cubicBezTo>
                  <a:pt x="18004" y="6243"/>
                  <a:pt x="21911" y="1841"/>
                  <a:pt x="21041" y="3581"/>
                </a:cubicBezTo>
                <a:cubicBezTo>
                  <a:pt x="18247" y="9169"/>
                  <a:pt x="11746" y="12317"/>
                  <a:pt x="8954" y="17907"/>
                </a:cubicBezTo>
              </a:path>
            </a:pathLst>
          </a:custGeom>
          <a:noFill/>
          <a:ln cap="flat" cmpd="sng" w="38100">
            <a:solidFill>
              <a:srgbClr val="FF0000"/>
            </a:solidFill>
            <a:prstDash val="solid"/>
            <a:round/>
            <a:headEnd len="med" w="med" type="none"/>
            <a:tailEnd len="med" w="med" type="none"/>
          </a:ln>
        </p:spPr>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27"/>
          <p:cNvSpPr txBox="1"/>
          <p:nvPr>
            <p:ph type="title"/>
          </p:nvPr>
        </p:nvSpPr>
        <p:spPr>
          <a:xfrm>
            <a:off x="217800" y="186875"/>
            <a:ext cx="7505700" cy="59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Compare P(spam|words) and P(ham|words)</a:t>
            </a:r>
            <a:endParaRPr b="1"/>
          </a:p>
        </p:txBody>
      </p:sp>
      <p:sp>
        <p:nvSpPr>
          <p:cNvPr id="290" name="Google Shape;290;p27"/>
          <p:cNvSpPr/>
          <p:nvPr/>
        </p:nvSpPr>
        <p:spPr>
          <a:xfrm>
            <a:off x="2742125" y="1469650"/>
            <a:ext cx="5484900" cy="284100"/>
          </a:xfrm>
          <a:prstGeom prst="mathMin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91" name="Google Shape;291;p27"/>
          <p:cNvSpPr txBox="1"/>
          <p:nvPr/>
        </p:nvSpPr>
        <p:spPr>
          <a:xfrm>
            <a:off x="284950" y="1333600"/>
            <a:ext cx="3000000" cy="556200"/>
          </a:xfrm>
          <a:prstGeom prst="rect">
            <a:avLst/>
          </a:prstGeom>
          <a:noFill/>
          <a:ln>
            <a:noFill/>
          </a:ln>
        </p:spPr>
        <p:txBody>
          <a:bodyPr anchorCtr="0" anchor="t" bIns="91425" lIns="91425" spcFirstLastPara="1" rIns="91425" wrap="square" tIns="91425">
            <a:spAutoFit/>
          </a:bodyPr>
          <a:lstStyle/>
          <a:p>
            <a:pPr indent="0" lvl="0" marL="0" rtl="0" algn="l">
              <a:lnSpc>
                <a:spcPct val="95000"/>
              </a:lnSpc>
              <a:spcBef>
                <a:spcPts val="0"/>
              </a:spcBef>
              <a:spcAft>
                <a:spcPts val="1200"/>
              </a:spcAft>
              <a:buNone/>
            </a:pPr>
            <a:r>
              <a:rPr lang="en" sz="2540">
                <a:solidFill>
                  <a:srgbClr val="374151"/>
                </a:solidFill>
                <a:latin typeface="Roboto"/>
                <a:ea typeface="Roboto"/>
                <a:cs typeface="Roboto"/>
                <a:sym typeface="Roboto"/>
              </a:rPr>
              <a:t>P(spam|words)</a:t>
            </a:r>
            <a:endParaRPr/>
          </a:p>
        </p:txBody>
      </p:sp>
      <p:sp>
        <p:nvSpPr>
          <p:cNvPr id="292" name="Google Shape;292;p27"/>
          <p:cNvSpPr txBox="1"/>
          <p:nvPr/>
        </p:nvSpPr>
        <p:spPr>
          <a:xfrm>
            <a:off x="3469925" y="989800"/>
            <a:ext cx="4902300" cy="556200"/>
          </a:xfrm>
          <a:prstGeom prst="rect">
            <a:avLst/>
          </a:prstGeom>
          <a:noFill/>
          <a:ln>
            <a:noFill/>
          </a:ln>
        </p:spPr>
        <p:txBody>
          <a:bodyPr anchorCtr="0" anchor="t" bIns="91425" lIns="91425" spcFirstLastPara="1" rIns="91425" wrap="square" tIns="91425">
            <a:spAutoFit/>
          </a:bodyPr>
          <a:lstStyle/>
          <a:p>
            <a:pPr indent="0" lvl="0" marL="0" rtl="0" algn="l">
              <a:lnSpc>
                <a:spcPct val="95000"/>
              </a:lnSpc>
              <a:spcBef>
                <a:spcPts val="0"/>
              </a:spcBef>
              <a:spcAft>
                <a:spcPts val="1200"/>
              </a:spcAft>
              <a:buNone/>
            </a:pPr>
            <a:r>
              <a:rPr lang="en" sz="2540">
                <a:solidFill>
                  <a:srgbClr val="374151"/>
                </a:solidFill>
                <a:latin typeface="Roboto"/>
                <a:ea typeface="Roboto"/>
                <a:cs typeface="Roboto"/>
                <a:sym typeface="Roboto"/>
              </a:rPr>
              <a:t>P(words|spam) * P(spam) </a:t>
            </a:r>
            <a:endParaRPr sz="2540">
              <a:solidFill>
                <a:srgbClr val="374151"/>
              </a:solidFill>
              <a:latin typeface="Roboto"/>
              <a:ea typeface="Roboto"/>
              <a:cs typeface="Roboto"/>
              <a:sym typeface="Roboto"/>
            </a:endParaRPr>
          </a:p>
        </p:txBody>
      </p:sp>
      <p:sp>
        <p:nvSpPr>
          <p:cNvPr id="293" name="Google Shape;293;p27"/>
          <p:cNvSpPr txBox="1"/>
          <p:nvPr/>
        </p:nvSpPr>
        <p:spPr>
          <a:xfrm>
            <a:off x="4549600" y="1674583"/>
            <a:ext cx="3000000" cy="556200"/>
          </a:xfrm>
          <a:prstGeom prst="rect">
            <a:avLst/>
          </a:prstGeom>
          <a:noFill/>
          <a:ln>
            <a:noFill/>
          </a:ln>
        </p:spPr>
        <p:txBody>
          <a:bodyPr anchorCtr="0" anchor="t" bIns="91425" lIns="91425" spcFirstLastPara="1" rIns="91425" wrap="square" tIns="91425">
            <a:spAutoFit/>
          </a:bodyPr>
          <a:lstStyle/>
          <a:p>
            <a:pPr indent="0" lvl="0" marL="0" rtl="0" algn="l">
              <a:lnSpc>
                <a:spcPct val="95000"/>
              </a:lnSpc>
              <a:spcBef>
                <a:spcPts val="0"/>
              </a:spcBef>
              <a:spcAft>
                <a:spcPts val="1200"/>
              </a:spcAft>
              <a:buNone/>
            </a:pPr>
            <a:r>
              <a:rPr lang="en" sz="2540">
                <a:solidFill>
                  <a:srgbClr val="374151"/>
                </a:solidFill>
                <a:latin typeface="Roboto"/>
                <a:ea typeface="Roboto"/>
                <a:cs typeface="Roboto"/>
                <a:sym typeface="Roboto"/>
              </a:rPr>
              <a:t>P(words)</a:t>
            </a:r>
            <a:r>
              <a:rPr lang="en" sz="2540">
                <a:solidFill>
                  <a:srgbClr val="374151"/>
                </a:solidFill>
                <a:latin typeface="Roboto"/>
                <a:ea typeface="Roboto"/>
                <a:cs typeface="Roboto"/>
                <a:sym typeface="Roboto"/>
              </a:rPr>
              <a:t>                                     </a:t>
            </a:r>
            <a:endParaRPr/>
          </a:p>
        </p:txBody>
      </p:sp>
      <p:sp>
        <p:nvSpPr>
          <p:cNvPr id="294" name="Google Shape;294;p27"/>
          <p:cNvSpPr/>
          <p:nvPr/>
        </p:nvSpPr>
        <p:spPr>
          <a:xfrm>
            <a:off x="2837350" y="1393450"/>
            <a:ext cx="447600" cy="436500"/>
          </a:xfrm>
          <a:prstGeom prst="mathEqual">
            <a:avLst>
              <a:gd fmla="val 23520" name="adj1"/>
              <a:gd fmla="val 1176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95" name="Google Shape;295;p27"/>
          <p:cNvSpPr/>
          <p:nvPr/>
        </p:nvSpPr>
        <p:spPr>
          <a:xfrm>
            <a:off x="2742125" y="3963900"/>
            <a:ext cx="5484900" cy="284100"/>
          </a:xfrm>
          <a:prstGeom prst="mathMin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96" name="Google Shape;296;p27"/>
          <p:cNvSpPr txBox="1"/>
          <p:nvPr/>
        </p:nvSpPr>
        <p:spPr>
          <a:xfrm>
            <a:off x="3469925" y="2359375"/>
            <a:ext cx="4902300" cy="1670400"/>
          </a:xfrm>
          <a:prstGeom prst="rect">
            <a:avLst/>
          </a:prstGeom>
          <a:noFill/>
          <a:ln>
            <a:noFill/>
          </a:ln>
        </p:spPr>
        <p:txBody>
          <a:bodyPr anchorCtr="0" anchor="t" bIns="91425" lIns="91425" spcFirstLastPara="1" rIns="91425" wrap="square" tIns="91425">
            <a:spAutoFit/>
          </a:bodyPr>
          <a:lstStyle/>
          <a:p>
            <a:pPr indent="0" lvl="0" marL="0" rtl="0" algn="l">
              <a:lnSpc>
                <a:spcPct val="95000"/>
              </a:lnSpc>
              <a:spcBef>
                <a:spcPts val="0"/>
              </a:spcBef>
              <a:spcAft>
                <a:spcPts val="1200"/>
              </a:spcAft>
              <a:buNone/>
            </a:pPr>
            <a:r>
              <a:rPr b="1" lang="en" sz="2540">
                <a:solidFill>
                  <a:srgbClr val="374151"/>
                </a:solidFill>
                <a:latin typeface="Roboto"/>
                <a:ea typeface="Roboto"/>
                <a:cs typeface="Roboto"/>
                <a:sym typeface="Roboto"/>
              </a:rPr>
              <a:t>P(wordA|spam)</a:t>
            </a:r>
            <a:r>
              <a:rPr lang="en" sz="2540">
                <a:solidFill>
                  <a:srgbClr val="374151"/>
                </a:solidFill>
                <a:latin typeface="Roboto"/>
                <a:ea typeface="Roboto"/>
                <a:cs typeface="Roboto"/>
                <a:sym typeface="Roboto"/>
              </a:rPr>
              <a:t> * </a:t>
            </a:r>
            <a:r>
              <a:rPr b="1" lang="en" sz="2540">
                <a:solidFill>
                  <a:srgbClr val="374151"/>
                </a:solidFill>
                <a:latin typeface="Roboto"/>
                <a:ea typeface="Roboto"/>
                <a:cs typeface="Roboto"/>
                <a:sym typeface="Roboto"/>
              </a:rPr>
              <a:t>P(wordB|spam)</a:t>
            </a:r>
            <a:r>
              <a:rPr lang="en" sz="2540">
                <a:solidFill>
                  <a:srgbClr val="374151"/>
                </a:solidFill>
                <a:latin typeface="Roboto"/>
                <a:ea typeface="Roboto"/>
                <a:cs typeface="Roboto"/>
                <a:sym typeface="Roboto"/>
              </a:rPr>
              <a:t> * </a:t>
            </a:r>
            <a:r>
              <a:rPr b="1" lang="en" sz="2540">
                <a:solidFill>
                  <a:srgbClr val="374151"/>
                </a:solidFill>
                <a:latin typeface="Roboto"/>
                <a:ea typeface="Roboto"/>
                <a:cs typeface="Roboto"/>
                <a:sym typeface="Roboto"/>
              </a:rPr>
              <a:t>P(wordC|spam)</a:t>
            </a:r>
            <a:r>
              <a:rPr lang="en" sz="2540">
                <a:solidFill>
                  <a:srgbClr val="374151"/>
                </a:solidFill>
                <a:latin typeface="Roboto"/>
                <a:ea typeface="Roboto"/>
                <a:cs typeface="Roboto"/>
                <a:sym typeface="Roboto"/>
              </a:rPr>
              <a:t> * </a:t>
            </a:r>
            <a:r>
              <a:rPr b="1" lang="en" sz="2540">
                <a:solidFill>
                  <a:srgbClr val="374151"/>
                </a:solidFill>
                <a:latin typeface="Roboto"/>
                <a:ea typeface="Roboto"/>
                <a:cs typeface="Roboto"/>
                <a:sym typeface="Roboto"/>
              </a:rPr>
              <a:t>P(wordD|spam) </a:t>
            </a:r>
            <a:r>
              <a:rPr lang="en" sz="2540">
                <a:solidFill>
                  <a:srgbClr val="374151"/>
                </a:solidFill>
                <a:latin typeface="Roboto"/>
                <a:ea typeface="Roboto"/>
                <a:cs typeface="Roboto"/>
                <a:sym typeface="Roboto"/>
              </a:rPr>
              <a:t>* </a:t>
            </a:r>
            <a:r>
              <a:rPr lang="en" sz="2540">
                <a:solidFill>
                  <a:srgbClr val="374151"/>
                </a:solidFill>
                <a:latin typeface="Roboto"/>
                <a:ea typeface="Roboto"/>
                <a:cs typeface="Roboto"/>
                <a:sym typeface="Roboto"/>
              </a:rPr>
              <a:t>P(spam) </a:t>
            </a:r>
            <a:endParaRPr sz="2540">
              <a:solidFill>
                <a:srgbClr val="374151"/>
              </a:solidFill>
              <a:latin typeface="Roboto"/>
              <a:ea typeface="Roboto"/>
              <a:cs typeface="Roboto"/>
              <a:sym typeface="Roboto"/>
            </a:endParaRPr>
          </a:p>
        </p:txBody>
      </p:sp>
      <p:sp>
        <p:nvSpPr>
          <p:cNvPr id="297" name="Google Shape;297;p27"/>
          <p:cNvSpPr txBox="1"/>
          <p:nvPr/>
        </p:nvSpPr>
        <p:spPr>
          <a:xfrm>
            <a:off x="4605575" y="4248008"/>
            <a:ext cx="3000000" cy="556200"/>
          </a:xfrm>
          <a:prstGeom prst="rect">
            <a:avLst/>
          </a:prstGeom>
          <a:noFill/>
          <a:ln>
            <a:noFill/>
          </a:ln>
        </p:spPr>
        <p:txBody>
          <a:bodyPr anchorCtr="0" anchor="t" bIns="91425" lIns="91425" spcFirstLastPara="1" rIns="91425" wrap="square" tIns="91425">
            <a:spAutoFit/>
          </a:bodyPr>
          <a:lstStyle/>
          <a:p>
            <a:pPr indent="0" lvl="0" marL="0" rtl="0" algn="l">
              <a:lnSpc>
                <a:spcPct val="95000"/>
              </a:lnSpc>
              <a:spcBef>
                <a:spcPts val="0"/>
              </a:spcBef>
              <a:spcAft>
                <a:spcPts val="1200"/>
              </a:spcAft>
              <a:buNone/>
            </a:pPr>
            <a:r>
              <a:rPr lang="en" sz="2540">
                <a:solidFill>
                  <a:srgbClr val="374151"/>
                </a:solidFill>
                <a:latin typeface="Roboto"/>
                <a:ea typeface="Roboto"/>
                <a:cs typeface="Roboto"/>
                <a:sym typeface="Roboto"/>
              </a:rPr>
              <a:t>P(words)                                     </a:t>
            </a:r>
            <a:endParaRPr/>
          </a:p>
        </p:txBody>
      </p:sp>
      <p:sp>
        <p:nvSpPr>
          <p:cNvPr id="298" name="Google Shape;298;p27"/>
          <p:cNvSpPr/>
          <p:nvPr/>
        </p:nvSpPr>
        <p:spPr>
          <a:xfrm>
            <a:off x="2837350" y="3887700"/>
            <a:ext cx="447600" cy="436500"/>
          </a:xfrm>
          <a:prstGeom prst="mathEqual">
            <a:avLst>
              <a:gd fmla="val 23520" name="adj1"/>
              <a:gd fmla="val 1176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99" name="Google Shape;299;p27"/>
          <p:cNvSpPr/>
          <p:nvPr/>
        </p:nvSpPr>
        <p:spPr>
          <a:xfrm>
            <a:off x="5979483" y="815538"/>
            <a:ext cx="1570125" cy="904725"/>
          </a:xfrm>
          <a:custGeom>
            <a:rect b="b" l="l" r="r" t="t"/>
            <a:pathLst>
              <a:path extrusionOk="0" h="36189" w="62805">
                <a:moveTo>
                  <a:pt x="21309" y="2598"/>
                </a:moveTo>
                <a:cubicBezTo>
                  <a:pt x="14835" y="2598"/>
                  <a:pt x="7894" y="6049"/>
                  <a:pt x="3849" y="11104"/>
                </a:cubicBezTo>
                <a:cubicBezTo>
                  <a:pt x="22" y="15887"/>
                  <a:pt x="-1831" y="25634"/>
                  <a:pt x="2954" y="29459"/>
                </a:cubicBezTo>
                <a:cubicBezTo>
                  <a:pt x="13638" y="38000"/>
                  <a:pt x="30200" y="36629"/>
                  <a:pt x="43693" y="34384"/>
                </a:cubicBezTo>
                <a:cubicBezTo>
                  <a:pt x="50212" y="33299"/>
                  <a:pt x="58392" y="31655"/>
                  <a:pt x="61601" y="25878"/>
                </a:cubicBezTo>
                <a:cubicBezTo>
                  <a:pt x="66325" y="17373"/>
                  <a:pt x="55370" y="3615"/>
                  <a:pt x="45932" y="1255"/>
                </a:cubicBezTo>
                <a:cubicBezTo>
                  <a:pt x="36078" y="-1209"/>
                  <a:pt x="25449" y="605"/>
                  <a:pt x="15489" y="2598"/>
                </a:cubicBezTo>
              </a:path>
            </a:pathLst>
          </a:custGeom>
          <a:noFill/>
          <a:ln cap="flat" cmpd="sng" w="38100">
            <a:solidFill>
              <a:srgbClr val="0000FF"/>
            </a:solidFill>
            <a:prstDash val="solid"/>
            <a:round/>
            <a:headEnd len="med" w="med" type="none"/>
            <a:tailEnd len="med" w="med" type="none"/>
          </a:ln>
        </p:spPr>
      </p:sp>
      <p:sp>
        <p:nvSpPr>
          <p:cNvPr id="300" name="Google Shape;300;p27"/>
          <p:cNvSpPr/>
          <p:nvPr/>
        </p:nvSpPr>
        <p:spPr>
          <a:xfrm>
            <a:off x="4549608" y="1500300"/>
            <a:ext cx="1570125" cy="904725"/>
          </a:xfrm>
          <a:custGeom>
            <a:rect b="b" l="l" r="r" t="t"/>
            <a:pathLst>
              <a:path extrusionOk="0" h="36189" w="62805">
                <a:moveTo>
                  <a:pt x="21309" y="2598"/>
                </a:moveTo>
                <a:cubicBezTo>
                  <a:pt x="14835" y="2598"/>
                  <a:pt x="7894" y="6049"/>
                  <a:pt x="3849" y="11104"/>
                </a:cubicBezTo>
                <a:cubicBezTo>
                  <a:pt x="22" y="15887"/>
                  <a:pt x="-1831" y="25634"/>
                  <a:pt x="2954" y="29459"/>
                </a:cubicBezTo>
                <a:cubicBezTo>
                  <a:pt x="13638" y="38000"/>
                  <a:pt x="30200" y="36629"/>
                  <a:pt x="43693" y="34384"/>
                </a:cubicBezTo>
                <a:cubicBezTo>
                  <a:pt x="50212" y="33299"/>
                  <a:pt x="58392" y="31655"/>
                  <a:pt x="61601" y="25878"/>
                </a:cubicBezTo>
                <a:cubicBezTo>
                  <a:pt x="66325" y="17373"/>
                  <a:pt x="55370" y="3615"/>
                  <a:pt x="45932" y="1255"/>
                </a:cubicBezTo>
                <a:cubicBezTo>
                  <a:pt x="36078" y="-1209"/>
                  <a:pt x="25449" y="605"/>
                  <a:pt x="15489" y="2598"/>
                </a:cubicBezTo>
              </a:path>
            </a:pathLst>
          </a:custGeom>
          <a:noFill/>
          <a:ln cap="flat" cmpd="sng" w="38100">
            <a:solidFill>
              <a:srgbClr val="0000FF"/>
            </a:solidFill>
            <a:prstDash val="solid"/>
            <a:round/>
            <a:headEnd len="med" w="med" type="none"/>
            <a:tailEnd len="med" w="med" type="none"/>
          </a:ln>
        </p:spPr>
      </p:sp>
      <p:sp>
        <p:nvSpPr>
          <p:cNvPr id="301" name="Google Shape;301;p27"/>
          <p:cNvSpPr txBox="1"/>
          <p:nvPr/>
        </p:nvSpPr>
        <p:spPr>
          <a:xfrm>
            <a:off x="6222850" y="1753750"/>
            <a:ext cx="3122700" cy="90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rgbClr val="0000FF"/>
                </a:solidFill>
                <a:latin typeface="Calibri"/>
                <a:ea typeface="Calibri"/>
                <a:cs typeface="Calibri"/>
                <a:sym typeface="Calibri"/>
              </a:rPr>
              <a:t>based on database</a:t>
            </a:r>
            <a:endParaRPr b="1" sz="2400">
              <a:solidFill>
                <a:srgbClr val="0000FF"/>
              </a:solidFill>
              <a:latin typeface="Calibri"/>
              <a:ea typeface="Calibri"/>
              <a:cs typeface="Calibri"/>
              <a:sym typeface="Calibri"/>
            </a:endParaRPr>
          </a:p>
        </p:txBody>
      </p:sp>
      <p:sp>
        <p:nvSpPr>
          <p:cNvPr id="302" name="Google Shape;302;p27"/>
          <p:cNvSpPr/>
          <p:nvPr/>
        </p:nvSpPr>
        <p:spPr>
          <a:xfrm>
            <a:off x="6038675" y="713000"/>
            <a:ext cx="1566900" cy="1007275"/>
          </a:xfrm>
          <a:custGeom>
            <a:rect b="b" l="l" r="r" t="t"/>
            <a:pathLst>
              <a:path extrusionOk="0" h="40291" w="62676">
                <a:moveTo>
                  <a:pt x="62676" y="40291"/>
                </a:moveTo>
                <a:cubicBezTo>
                  <a:pt x="49615" y="37031"/>
                  <a:pt x="39158" y="27076"/>
                  <a:pt x="28204" y="19250"/>
                </a:cubicBezTo>
                <a:cubicBezTo>
                  <a:pt x="18942" y="12633"/>
                  <a:pt x="5095" y="10178"/>
                  <a:pt x="0" y="0"/>
                </a:cubicBezTo>
              </a:path>
            </a:pathLst>
          </a:custGeom>
          <a:noFill/>
          <a:ln cap="flat" cmpd="sng" w="38100">
            <a:solidFill>
              <a:srgbClr val="0000FF"/>
            </a:solidFill>
            <a:prstDash val="solid"/>
            <a:round/>
            <a:headEnd len="med" w="med" type="none"/>
            <a:tailEnd len="med" w="med" type="none"/>
          </a:ln>
        </p:spPr>
      </p:sp>
      <p:sp>
        <p:nvSpPr>
          <p:cNvPr id="303" name="Google Shape;303;p27"/>
          <p:cNvSpPr/>
          <p:nvPr/>
        </p:nvSpPr>
        <p:spPr>
          <a:xfrm>
            <a:off x="4701125" y="1449038"/>
            <a:ext cx="1566900" cy="1007275"/>
          </a:xfrm>
          <a:custGeom>
            <a:rect b="b" l="l" r="r" t="t"/>
            <a:pathLst>
              <a:path extrusionOk="0" h="40291" w="62676">
                <a:moveTo>
                  <a:pt x="62676" y="40291"/>
                </a:moveTo>
                <a:cubicBezTo>
                  <a:pt x="49615" y="37031"/>
                  <a:pt x="39158" y="27076"/>
                  <a:pt x="28204" y="19250"/>
                </a:cubicBezTo>
                <a:cubicBezTo>
                  <a:pt x="18942" y="12633"/>
                  <a:pt x="5095" y="10178"/>
                  <a:pt x="0" y="0"/>
                </a:cubicBezTo>
              </a:path>
            </a:pathLst>
          </a:custGeom>
          <a:noFill/>
          <a:ln cap="flat" cmpd="sng" w="38100">
            <a:solidFill>
              <a:srgbClr val="0000FF"/>
            </a:solidFill>
            <a:prstDash val="solid"/>
            <a:round/>
            <a:headEnd len="med" w="med" type="none"/>
            <a:tailEnd len="med" w="med" type="none"/>
          </a:ln>
        </p:spPr>
      </p:sp>
      <p:sp>
        <p:nvSpPr>
          <p:cNvPr id="304" name="Google Shape;304;p27"/>
          <p:cNvSpPr/>
          <p:nvPr/>
        </p:nvSpPr>
        <p:spPr>
          <a:xfrm>
            <a:off x="3322392" y="770808"/>
            <a:ext cx="2454425" cy="775175"/>
          </a:xfrm>
          <a:custGeom>
            <a:rect b="b" l="l" r="r" t="t"/>
            <a:pathLst>
              <a:path extrusionOk="0" h="31007" w="98177">
                <a:moveTo>
                  <a:pt x="8068" y="5489"/>
                </a:moveTo>
                <a:cubicBezTo>
                  <a:pt x="577" y="6989"/>
                  <a:pt x="-2967" y="23289"/>
                  <a:pt x="3144" y="27874"/>
                </a:cubicBezTo>
                <a:cubicBezTo>
                  <a:pt x="7230" y="30940"/>
                  <a:pt x="13326" y="30504"/>
                  <a:pt x="18365" y="29664"/>
                </a:cubicBezTo>
                <a:cubicBezTo>
                  <a:pt x="28964" y="27896"/>
                  <a:pt x="39906" y="28149"/>
                  <a:pt x="50599" y="29217"/>
                </a:cubicBezTo>
                <a:cubicBezTo>
                  <a:pt x="60862" y="30242"/>
                  <a:pt x="71175" y="31007"/>
                  <a:pt x="81489" y="31007"/>
                </a:cubicBezTo>
                <a:cubicBezTo>
                  <a:pt x="87253" y="31007"/>
                  <a:pt x="96207" y="30332"/>
                  <a:pt x="97606" y="24740"/>
                </a:cubicBezTo>
                <a:cubicBezTo>
                  <a:pt x="99134" y="18631"/>
                  <a:pt x="97582" y="10838"/>
                  <a:pt x="93129" y="6385"/>
                </a:cubicBezTo>
                <a:cubicBezTo>
                  <a:pt x="90262" y="3518"/>
                  <a:pt x="85095" y="5042"/>
                  <a:pt x="81041" y="5042"/>
                </a:cubicBezTo>
                <a:cubicBezTo>
                  <a:pt x="73119" y="5042"/>
                  <a:pt x="65082" y="5254"/>
                  <a:pt x="57314" y="3699"/>
                </a:cubicBezTo>
                <a:cubicBezTo>
                  <a:pt x="40776" y="389"/>
                  <a:pt x="21810" y="-2949"/>
                  <a:pt x="6725" y="4594"/>
                </a:cubicBezTo>
              </a:path>
            </a:pathLst>
          </a:custGeom>
          <a:noFill/>
          <a:ln cap="flat" cmpd="sng" w="76200">
            <a:solidFill>
              <a:srgbClr val="FF0000"/>
            </a:solidFill>
            <a:prstDash val="solid"/>
            <a:round/>
            <a:headEnd len="med" w="med" type="none"/>
            <a:tailEnd len="med" w="med" type="none"/>
          </a:ln>
        </p:spPr>
      </p:sp>
      <p:sp>
        <p:nvSpPr>
          <p:cNvPr id="305" name="Google Shape;305;p27"/>
          <p:cNvSpPr/>
          <p:nvPr/>
        </p:nvSpPr>
        <p:spPr>
          <a:xfrm>
            <a:off x="3237068" y="2153484"/>
            <a:ext cx="2625050" cy="1921650"/>
          </a:xfrm>
          <a:custGeom>
            <a:rect b="b" l="l" r="r" t="t"/>
            <a:pathLst>
              <a:path extrusionOk="0" h="76866" w="105002">
                <a:moveTo>
                  <a:pt x="36768" y="2950"/>
                </a:moveTo>
                <a:cubicBezTo>
                  <a:pt x="25793" y="2950"/>
                  <a:pt x="11560" y="1234"/>
                  <a:pt x="4534" y="9666"/>
                </a:cubicBezTo>
                <a:cubicBezTo>
                  <a:pt x="-3492" y="19299"/>
                  <a:pt x="1178" y="34976"/>
                  <a:pt x="3639" y="47271"/>
                </a:cubicBezTo>
                <a:cubicBezTo>
                  <a:pt x="4931" y="53724"/>
                  <a:pt x="1034" y="61704"/>
                  <a:pt x="4982" y="66969"/>
                </a:cubicBezTo>
                <a:cubicBezTo>
                  <a:pt x="15168" y="80552"/>
                  <a:pt x="38376" y="73130"/>
                  <a:pt x="55123" y="75923"/>
                </a:cubicBezTo>
                <a:cubicBezTo>
                  <a:pt x="63808" y="77372"/>
                  <a:pt x="72776" y="76800"/>
                  <a:pt x="81537" y="75923"/>
                </a:cubicBezTo>
                <a:cubicBezTo>
                  <a:pt x="88131" y="75263"/>
                  <a:pt x="95933" y="77213"/>
                  <a:pt x="101235" y="73237"/>
                </a:cubicBezTo>
                <a:cubicBezTo>
                  <a:pt x="105085" y="70350"/>
                  <a:pt x="103025" y="63723"/>
                  <a:pt x="103025" y="58911"/>
                </a:cubicBezTo>
                <a:cubicBezTo>
                  <a:pt x="103025" y="52912"/>
                  <a:pt x="105561" y="46956"/>
                  <a:pt x="104816" y="41004"/>
                </a:cubicBezTo>
                <a:cubicBezTo>
                  <a:pt x="103756" y="32531"/>
                  <a:pt x="104105" y="23887"/>
                  <a:pt x="102578" y="15486"/>
                </a:cubicBezTo>
                <a:cubicBezTo>
                  <a:pt x="101918" y="11854"/>
                  <a:pt x="102503" y="7352"/>
                  <a:pt x="99892" y="4741"/>
                </a:cubicBezTo>
                <a:cubicBezTo>
                  <a:pt x="92908" y="-2243"/>
                  <a:pt x="80222" y="2503"/>
                  <a:pt x="70344" y="2503"/>
                </a:cubicBezTo>
                <a:cubicBezTo>
                  <a:pt x="58406" y="2503"/>
                  <a:pt x="45207" y="-2836"/>
                  <a:pt x="34529" y="2503"/>
                </a:cubicBezTo>
              </a:path>
            </a:pathLst>
          </a:custGeom>
          <a:noFill/>
          <a:ln cap="flat" cmpd="sng" w="76200">
            <a:solidFill>
              <a:srgbClr val="FF0000"/>
            </a:solidFill>
            <a:prstDash val="solid"/>
            <a:round/>
            <a:headEnd len="med" w="med" type="none"/>
            <a:tailEnd len="med" w="med" type="none"/>
          </a:ln>
        </p:spPr>
      </p:sp>
      <p:sp>
        <p:nvSpPr>
          <p:cNvPr id="306" name="Google Shape;306;p27"/>
          <p:cNvSpPr/>
          <p:nvPr/>
        </p:nvSpPr>
        <p:spPr>
          <a:xfrm>
            <a:off x="4037288" y="1544525"/>
            <a:ext cx="70200" cy="637950"/>
          </a:xfrm>
          <a:custGeom>
            <a:rect b="b" l="l" r="r" t="t"/>
            <a:pathLst>
              <a:path extrusionOk="0" h="25518" w="2808">
                <a:moveTo>
                  <a:pt x="2808" y="0"/>
                </a:moveTo>
                <a:cubicBezTo>
                  <a:pt x="-368" y="7941"/>
                  <a:pt x="122" y="16965"/>
                  <a:pt x="122" y="25518"/>
                </a:cubicBezTo>
              </a:path>
            </a:pathLst>
          </a:custGeom>
          <a:noFill/>
          <a:ln cap="flat" cmpd="sng" w="76200">
            <a:solidFill>
              <a:srgbClr val="FF0000"/>
            </a:solidFill>
            <a:prstDash val="solid"/>
            <a:round/>
            <a:headEnd len="med" w="med" type="none"/>
            <a:tailEnd len="med" w="med" type="none"/>
          </a:ln>
        </p:spPr>
      </p:sp>
      <p:sp>
        <p:nvSpPr>
          <p:cNvPr id="307" name="Google Shape;307;p27"/>
          <p:cNvSpPr/>
          <p:nvPr/>
        </p:nvSpPr>
        <p:spPr>
          <a:xfrm>
            <a:off x="3917250" y="2003400"/>
            <a:ext cx="313375" cy="212650"/>
          </a:xfrm>
          <a:custGeom>
            <a:rect b="b" l="l" r="r" t="t"/>
            <a:pathLst>
              <a:path extrusionOk="0" h="8506" w="12535">
                <a:moveTo>
                  <a:pt x="0" y="0"/>
                </a:moveTo>
                <a:cubicBezTo>
                  <a:pt x="642" y="3213"/>
                  <a:pt x="1648" y="8506"/>
                  <a:pt x="4924" y="8506"/>
                </a:cubicBezTo>
                <a:cubicBezTo>
                  <a:pt x="8619" y="8506"/>
                  <a:pt x="10881" y="3752"/>
                  <a:pt x="12535" y="448"/>
                </a:cubicBezTo>
              </a:path>
            </a:pathLst>
          </a:custGeom>
          <a:noFill/>
          <a:ln cap="flat" cmpd="sng" w="76200">
            <a:solidFill>
              <a:srgbClr val="FF0000"/>
            </a:solidFill>
            <a:prstDash val="solid"/>
            <a:round/>
            <a:headEnd len="med" w="med" type="none"/>
            <a:tailEnd len="med" w="med" type="none"/>
          </a:ln>
        </p:spPr>
      </p:sp>
      <p:sp>
        <p:nvSpPr>
          <p:cNvPr id="308" name="Google Shape;308;p27"/>
          <p:cNvSpPr txBox="1"/>
          <p:nvPr/>
        </p:nvSpPr>
        <p:spPr>
          <a:xfrm>
            <a:off x="408400" y="2474450"/>
            <a:ext cx="2753100" cy="90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rgbClr val="FF0000"/>
                </a:solidFill>
                <a:latin typeface="Calibri"/>
                <a:ea typeface="Calibri"/>
                <a:cs typeface="Calibri"/>
                <a:sym typeface="Calibri"/>
              </a:rPr>
              <a:t>This is what we want to find when training the model</a:t>
            </a:r>
            <a:endParaRPr b="1" sz="2400">
              <a:solidFill>
                <a:srgbClr val="FF0000"/>
              </a:solidFill>
              <a:latin typeface="Calibri"/>
              <a:ea typeface="Calibri"/>
              <a:cs typeface="Calibri"/>
              <a:sym typeface="Calibri"/>
            </a:endParaRPr>
          </a:p>
        </p:txBody>
      </p:sp>
      <p:sp>
        <p:nvSpPr>
          <p:cNvPr id="309" name="Google Shape;309;p27"/>
          <p:cNvSpPr/>
          <p:nvPr/>
        </p:nvSpPr>
        <p:spPr>
          <a:xfrm>
            <a:off x="2771013" y="1908550"/>
            <a:ext cx="580264" cy="595207"/>
          </a:xfrm>
          <a:custGeom>
            <a:rect b="b" l="l" r="r" t="t"/>
            <a:pathLst>
              <a:path extrusionOk="0" h="18355" w="21259">
                <a:moveTo>
                  <a:pt x="8954" y="18355"/>
                </a:moveTo>
                <a:cubicBezTo>
                  <a:pt x="7506" y="14012"/>
                  <a:pt x="5734" y="9774"/>
                  <a:pt x="4477" y="5372"/>
                </a:cubicBezTo>
                <a:cubicBezTo>
                  <a:pt x="3970" y="3597"/>
                  <a:pt x="1288" y="0"/>
                  <a:pt x="3134" y="0"/>
                </a:cubicBezTo>
                <a:cubicBezTo>
                  <a:pt x="9269" y="0"/>
                  <a:pt x="13332" y="7180"/>
                  <a:pt x="17012" y="12088"/>
                </a:cubicBezTo>
                <a:cubicBezTo>
                  <a:pt x="18013" y="13423"/>
                  <a:pt x="20430" y="15385"/>
                  <a:pt x="19250" y="16564"/>
                </a:cubicBezTo>
                <a:cubicBezTo>
                  <a:pt x="18202" y="17611"/>
                  <a:pt x="17043" y="15677"/>
                  <a:pt x="17012" y="15669"/>
                </a:cubicBezTo>
                <a:cubicBezTo>
                  <a:pt x="13029" y="14672"/>
                  <a:pt x="9398" y="12446"/>
                  <a:pt x="5372" y="11640"/>
                </a:cubicBezTo>
                <a:cubicBezTo>
                  <a:pt x="3610" y="11287"/>
                  <a:pt x="0" y="12989"/>
                  <a:pt x="0" y="11192"/>
                </a:cubicBezTo>
                <a:cubicBezTo>
                  <a:pt x="0" y="9776"/>
                  <a:pt x="2650" y="10167"/>
                  <a:pt x="4029" y="9849"/>
                </a:cubicBezTo>
                <a:cubicBezTo>
                  <a:pt x="8085" y="8913"/>
                  <a:pt x="12079" y="7725"/>
                  <a:pt x="16117" y="6715"/>
                </a:cubicBezTo>
                <a:cubicBezTo>
                  <a:pt x="18004" y="6243"/>
                  <a:pt x="21911" y="1841"/>
                  <a:pt x="21041" y="3581"/>
                </a:cubicBezTo>
                <a:cubicBezTo>
                  <a:pt x="18247" y="9169"/>
                  <a:pt x="11746" y="12317"/>
                  <a:pt x="8954" y="17907"/>
                </a:cubicBezTo>
              </a:path>
            </a:pathLst>
          </a:custGeom>
          <a:noFill/>
          <a:ln cap="flat" cmpd="sng" w="38100">
            <a:solidFill>
              <a:srgbClr val="FF0000"/>
            </a:solidFill>
            <a:prstDash val="solid"/>
            <a:round/>
            <a:headEnd len="med" w="med" type="none"/>
            <a:tailEnd len="med" w="med" type="none"/>
          </a:ln>
        </p:spPr>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28"/>
          <p:cNvSpPr txBox="1"/>
          <p:nvPr>
            <p:ph type="title"/>
          </p:nvPr>
        </p:nvSpPr>
        <p:spPr>
          <a:xfrm>
            <a:off x="217800" y="186875"/>
            <a:ext cx="7505700" cy="59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Compare P(spam|words) and P(ham|words)</a:t>
            </a:r>
            <a:endParaRPr b="1"/>
          </a:p>
        </p:txBody>
      </p:sp>
      <p:sp>
        <p:nvSpPr>
          <p:cNvPr id="315" name="Google Shape;315;p28"/>
          <p:cNvSpPr txBox="1"/>
          <p:nvPr/>
        </p:nvSpPr>
        <p:spPr>
          <a:xfrm>
            <a:off x="352100" y="1835650"/>
            <a:ext cx="1936200" cy="447900"/>
          </a:xfrm>
          <a:prstGeom prst="rect">
            <a:avLst/>
          </a:prstGeom>
          <a:noFill/>
          <a:ln>
            <a:noFill/>
          </a:ln>
        </p:spPr>
        <p:txBody>
          <a:bodyPr anchorCtr="0" anchor="t" bIns="91425" lIns="91425" spcFirstLastPara="1" rIns="91425" wrap="square" tIns="91425">
            <a:spAutoFit/>
          </a:bodyPr>
          <a:lstStyle/>
          <a:p>
            <a:pPr indent="0" lvl="0" marL="0" rtl="0" algn="l">
              <a:lnSpc>
                <a:spcPct val="95000"/>
              </a:lnSpc>
              <a:spcBef>
                <a:spcPts val="0"/>
              </a:spcBef>
              <a:spcAft>
                <a:spcPts val="1200"/>
              </a:spcAft>
              <a:buNone/>
            </a:pPr>
            <a:r>
              <a:rPr lang="en" sz="1800">
                <a:solidFill>
                  <a:srgbClr val="374151"/>
                </a:solidFill>
                <a:latin typeface="Roboto"/>
                <a:ea typeface="Roboto"/>
                <a:cs typeface="Roboto"/>
                <a:sym typeface="Roboto"/>
              </a:rPr>
              <a:t>P(spam|words)</a:t>
            </a:r>
            <a:endParaRPr sz="1800"/>
          </a:p>
        </p:txBody>
      </p:sp>
      <p:sp>
        <p:nvSpPr>
          <p:cNvPr id="316" name="Google Shape;316;p28"/>
          <p:cNvSpPr/>
          <p:nvPr/>
        </p:nvSpPr>
        <p:spPr>
          <a:xfrm>
            <a:off x="2154000" y="1841350"/>
            <a:ext cx="447600" cy="436500"/>
          </a:xfrm>
          <a:prstGeom prst="mathEqual">
            <a:avLst>
              <a:gd fmla="val 23520" name="adj1"/>
              <a:gd fmla="val 1176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17" name="Google Shape;317;p28"/>
          <p:cNvSpPr/>
          <p:nvPr/>
        </p:nvSpPr>
        <p:spPr>
          <a:xfrm>
            <a:off x="1986125" y="1962800"/>
            <a:ext cx="5484900" cy="284100"/>
          </a:xfrm>
          <a:prstGeom prst="mathMin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18" name="Google Shape;318;p28"/>
          <p:cNvSpPr txBox="1"/>
          <p:nvPr/>
        </p:nvSpPr>
        <p:spPr>
          <a:xfrm>
            <a:off x="2943250" y="836350"/>
            <a:ext cx="3290100" cy="1237500"/>
          </a:xfrm>
          <a:prstGeom prst="rect">
            <a:avLst/>
          </a:prstGeom>
          <a:noFill/>
          <a:ln>
            <a:noFill/>
          </a:ln>
        </p:spPr>
        <p:txBody>
          <a:bodyPr anchorCtr="0" anchor="t" bIns="91425" lIns="91425" spcFirstLastPara="1" rIns="91425" wrap="square" tIns="91425">
            <a:spAutoFit/>
          </a:bodyPr>
          <a:lstStyle/>
          <a:p>
            <a:pPr indent="0" lvl="0" marL="0" rtl="0" algn="l">
              <a:lnSpc>
                <a:spcPct val="95000"/>
              </a:lnSpc>
              <a:spcBef>
                <a:spcPts val="0"/>
              </a:spcBef>
              <a:spcAft>
                <a:spcPts val="1200"/>
              </a:spcAft>
              <a:buNone/>
            </a:pPr>
            <a:r>
              <a:rPr b="1" lang="en" sz="1800">
                <a:solidFill>
                  <a:srgbClr val="374151"/>
                </a:solidFill>
                <a:latin typeface="Roboto"/>
                <a:ea typeface="Roboto"/>
                <a:cs typeface="Roboto"/>
                <a:sym typeface="Roboto"/>
              </a:rPr>
              <a:t>P(wordA|spam)</a:t>
            </a:r>
            <a:r>
              <a:rPr lang="en" sz="1800">
                <a:solidFill>
                  <a:srgbClr val="374151"/>
                </a:solidFill>
                <a:latin typeface="Roboto"/>
                <a:ea typeface="Roboto"/>
                <a:cs typeface="Roboto"/>
                <a:sym typeface="Roboto"/>
              </a:rPr>
              <a:t> * </a:t>
            </a:r>
            <a:r>
              <a:rPr b="1" lang="en" sz="1800">
                <a:solidFill>
                  <a:srgbClr val="374151"/>
                </a:solidFill>
                <a:latin typeface="Roboto"/>
                <a:ea typeface="Roboto"/>
                <a:cs typeface="Roboto"/>
                <a:sym typeface="Roboto"/>
              </a:rPr>
              <a:t>P(wordB|spam)</a:t>
            </a:r>
            <a:r>
              <a:rPr lang="en" sz="1800">
                <a:solidFill>
                  <a:srgbClr val="374151"/>
                </a:solidFill>
                <a:latin typeface="Roboto"/>
                <a:ea typeface="Roboto"/>
                <a:cs typeface="Roboto"/>
                <a:sym typeface="Roboto"/>
              </a:rPr>
              <a:t> * </a:t>
            </a:r>
            <a:r>
              <a:rPr b="1" lang="en" sz="1800">
                <a:solidFill>
                  <a:srgbClr val="374151"/>
                </a:solidFill>
                <a:latin typeface="Roboto"/>
                <a:ea typeface="Roboto"/>
                <a:cs typeface="Roboto"/>
                <a:sym typeface="Roboto"/>
              </a:rPr>
              <a:t>P(wordC|spam)</a:t>
            </a:r>
            <a:r>
              <a:rPr lang="en" sz="1800">
                <a:solidFill>
                  <a:srgbClr val="374151"/>
                </a:solidFill>
                <a:latin typeface="Roboto"/>
                <a:ea typeface="Roboto"/>
                <a:cs typeface="Roboto"/>
                <a:sym typeface="Roboto"/>
              </a:rPr>
              <a:t> * </a:t>
            </a:r>
            <a:r>
              <a:rPr b="1" lang="en" sz="1800">
                <a:solidFill>
                  <a:srgbClr val="374151"/>
                </a:solidFill>
                <a:latin typeface="Roboto"/>
                <a:ea typeface="Roboto"/>
                <a:cs typeface="Roboto"/>
                <a:sym typeface="Roboto"/>
              </a:rPr>
              <a:t>P(wordD|spam) </a:t>
            </a:r>
            <a:r>
              <a:rPr lang="en" sz="1800">
                <a:solidFill>
                  <a:srgbClr val="374151"/>
                </a:solidFill>
                <a:latin typeface="Roboto"/>
                <a:ea typeface="Roboto"/>
                <a:cs typeface="Roboto"/>
                <a:sym typeface="Roboto"/>
              </a:rPr>
              <a:t>* P(spam) </a:t>
            </a:r>
            <a:endParaRPr sz="1800">
              <a:solidFill>
                <a:srgbClr val="374151"/>
              </a:solidFill>
              <a:latin typeface="Roboto"/>
              <a:ea typeface="Roboto"/>
              <a:cs typeface="Roboto"/>
              <a:sym typeface="Roboto"/>
            </a:endParaRPr>
          </a:p>
        </p:txBody>
      </p:sp>
      <p:sp>
        <p:nvSpPr>
          <p:cNvPr id="319" name="Google Shape;319;p28"/>
          <p:cNvSpPr txBox="1"/>
          <p:nvPr/>
        </p:nvSpPr>
        <p:spPr>
          <a:xfrm>
            <a:off x="3972750" y="2091821"/>
            <a:ext cx="3000000" cy="447900"/>
          </a:xfrm>
          <a:prstGeom prst="rect">
            <a:avLst/>
          </a:prstGeom>
          <a:noFill/>
          <a:ln>
            <a:noFill/>
          </a:ln>
        </p:spPr>
        <p:txBody>
          <a:bodyPr anchorCtr="0" anchor="t" bIns="91425" lIns="91425" spcFirstLastPara="1" rIns="91425" wrap="square" tIns="91425">
            <a:spAutoFit/>
          </a:bodyPr>
          <a:lstStyle/>
          <a:p>
            <a:pPr indent="0" lvl="0" marL="0" rtl="0" algn="l">
              <a:lnSpc>
                <a:spcPct val="95000"/>
              </a:lnSpc>
              <a:spcBef>
                <a:spcPts val="0"/>
              </a:spcBef>
              <a:spcAft>
                <a:spcPts val="1200"/>
              </a:spcAft>
              <a:buNone/>
            </a:pPr>
            <a:r>
              <a:rPr lang="en" sz="1800">
                <a:solidFill>
                  <a:srgbClr val="374151"/>
                </a:solidFill>
                <a:latin typeface="Roboto"/>
                <a:ea typeface="Roboto"/>
                <a:cs typeface="Roboto"/>
                <a:sym typeface="Roboto"/>
              </a:rPr>
              <a:t>P(words)                                     </a:t>
            </a:r>
            <a:endParaRPr sz="1800"/>
          </a:p>
        </p:txBody>
      </p:sp>
      <p:sp>
        <p:nvSpPr>
          <p:cNvPr id="320" name="Google Shape;320;p28"/>
          <p:cNvSpPr/>
          <p:nvPr/>
        </p:nvSpPr>
        <p:spPr>
          <a:xfrm>
            <a:off x="3708025" y="2128125"/>
            <a:ext cx="1570125" cy="376547"/>
          </a:xfrm>
          <a:custGeom>
            <a:rect b="b" l="l" r="r" t="t"/>
            <a:pathLst>
              <a:path extrusionOk="0" h="36189" w="62805">
                <a:moveTo>
                  <a:pt x="21309" y="2598"/>
                </a:moveTo>
                <a:cubicBezTo>
                  <a:pt x="14835" y="2598"/>
                  <a:pt x="7894" y="6049"/>
                  <a:pt x="3849" y="11104"/>
                </a:cubicBezTo>
                <a:cubicBezTo>
                  <a:pt x="22" y="15887"/>
                  <a:pt x="-1831" y="25634"/>
                  <a:pt x="2954" y="29459"/>
                </a:cubicBezTo>
                <a:cubicBezTo>
                  <a:pt x="13638" y="38000"/>
                  <a:pt x="30200" y="36629"/>
                  <a:pt x="43693" y="34384"/>
                </a:cubicBezTo>
                <a:cubicBezTo>
                  <a:pt x="50212" y="33299"/>
                  <a:pt x="58392" y="31655"/>
                  <a:pt x="61601" y="25878"/>
                </a:cubicBezTo>
                <a:cubicBezTo>
                  <a:pt x="66325" y="17373"/>
                  <a:pt x="55370" y="3615"/>
                  <a:pt x="45932" y="1255"/>
                </a:cubicBezTo>
                <a:cubicBezTo>
                  <a:pt x="36078" y="-1209"/>
                  <a:pt x="25449" y="605"/>
                  <a:pt x="15489" y="2598"/>
                </a:cubicBezTo>
              </a:path>
            </a:pathLst>
          </a:custGeom>
          <a:noFill/>
          <a:ln cap="flat" cmpd="sng" w="38100">
            <a:solidFill>
              <a:srgbClr val="0000FF"/>
            </a:solidFill>
            <a:prstDash val="solid"/>
            <a:round/>
            <a:headEnd len="med" w="med" type="none"/>
            <a:tailEnd len="med" w="med" type="none"/>
          </a:ln>
        </p:spPr>
      </p:sp>
      <p:sp>
        <p:nvSpPr>
          <p:cNvPr id="321" name="Google Shape;321;p28"/>
          <p:cNvSpPr/>
          <p:nvPr/>
        </p:nvSpPr>
        <p:spPr>
          <a:xfrm>
            <a:off x="4204950" y="2097543"/>
            <a:ext cx="734093" cy="436452"/>
          </a:xfrm>
          <a:custGeom>
            <a:rect b="b" l="l" r="r" t="t"/>
            <a:pathLst>
              <a:path extrusionOk="0" h="40291" w="62676">
                <a:moveTo>
                  <a:pt x="62676" y="40291"/>
                </a:moveTo>
                <a:cubicBezTo>
                  <a:pt x="49615" y="37031"/>
                  <a:pt x="39158" y="27076"/>
                  <a:pt x="28204" y="19250"/>
                </a:cubicBezTo>
                <a:cubicBezTo>
                  <a:pt x="18942" y="12633"/>
                  <a:pt x="5095" y="10178"/>
                  <a:pt x="0" y="0"/>
                </a:cubicBezTo>
              </a:path>
            </a:pathLst>
          </a:custGeom>
          <a:noFill/>
          <a:ln cap="flat" cmpd="sng" w="38100">
            <a:solidFill>
              <a:srgbClr val="0000FF"/>
            </a:solidFill>
            <a:prstDash val="solid"/>
            <a:round/>
            <a:headEnd len="med" w="med" type="none"/>
            <a:tailEnd len="med" w="med" type="none"/>
          </a:ln>
        </p:spPr>
      </p:sp>
      <p:sp>
        <p:nvSpPr>
          <p:cNvPr id="322" name="Google Shape;322;p28"/>
          <p:cNvSpPr/>
          <p:nvPr/>
        </p:nvSpPr>
        <p:spPr>
          <a:xfrm>
            <a:off x="2898149" y="710725"/>
            <a:ext cx="1936237" cy="1363219"/>
          </a:xfrm>
          <a:custGeom>
            <a:rect b="b" l="l" r="r" t="t"/>
            <a:pathLst>
              <a:path extrusionOk="0" h="76866" w="105002">
                <a:moveTo>
                  <a:pt x="36768" y="2950"/>
                </a:moveTo>
                <a:cubicBezTo>
                  <a:pt x="25793" y="2950"/>
                  <a:pt x="11560" y="1234"/>
                  <a:pt x="4534" y="9666"/>
                </a:cubicBezTo>
                <a:cubicBezTo>
                  <a:pt x="-3492" y="19299"/>
                  <a:pt x="1178" y="34976"/>
                  <a:pt x="3639" y="47271"/>
                </a:cubicBezTo>
                <a:cubicBezTo>
                  <a:pt x="4931" y="53724"/>
                  <a:pt x="1034" y="61704"/>
                  <a:pt x="4982" y="66969"/>
                </a:cubicBezTo>
                <a:cubicBezTo>
                  <a:pt x="15168" y="80552"/>
                  <a:pt x="38376" y="73130"/>
                  <a:pt x="55123" y="75923"/>
                </a:cubicBezTo>
                <a:cubicBezTo>
                  <a:pt x="63808" y="77372"/>
                  <a:pt x="72776" y="76800"/>
                  <a:pt x="81537" y="75923"/>
                </a:cubicBezTo>
                <a:cubicBezTo>
                  <a:pt x="88131" y="75263"/>
                  <a:pt x="95933" y="77213"/>
                  <a:pt x="101235" y="73237"/>
                </a:cubicBezTo>
                <a:cubicBezTo>
                  <a:pt x="105085" y="70350"/>
                  <a:pt x="103025" y="63723"/>
                  <a:pt x="103025" y="58911"/>
                </a:cubicBezTo>
                <a:cubicBezTo>
                  <a:pt x="103025" y="52912"/>
                  <a:pt x="105561" y="46956"/>
                  <a:pt x="104816" y="41004"/>
                </a:cubicBezTo>
                <a:cubicBezTo>
                  <a:pt x="103756" y="32531"/>
                  <a:pt x="104105" y="23887"/>
                  <a:pt x="102578" y="15486"/>
                </a:cubicBezTo>
                <a:cubicBezTo>
                  <a:pt x="101918" y="11854"/>
                  <a:pt x="102503" y="7352"/>
                  <a:pt x="99892" y="4741"/>
                </a:cubicBezTo>
                <a:cubicBezTo>
                  <a:pt x="92908" y="-2243"/>
                  <a:pt x="80222" y="2503"/>
                  <a:pt x="70344" y="2503"/>
                </a:cubicBezTo>
                <a:cubicBezTo>
                  <a:pt x="58406" y="2503"/>
                  <a:pt x="45207" y="-2836"/>
                  <a:pt x="34529" y="2503"/>
                </a:cubicBezTo>
              </a:path>
            </a:pathLst>
          </a:custGeom>
          <a:noFill/>
          <a:ln cap="flat" cmpd="sng" w="76200">
            <a:solidFill>
              <a:srgbClr val="FF0000"/>
            </a:solidFill>
            <a:prstDash val="solid"/>
            <a:round/>
            <a:headEnd len="med" w="med" type="none"/>
            <a:tailEnd len="med" w="med" type="none"/>
          </a:ln>
        </p:spPr>
      </p:sp>
      <p:sp>
        <p:nvSpPr>
          <p:cNvPr id="323" name="Google Shape;323;p28"/>
          <p:cNvSpPr txBox="1"/>
          <p:nvPr/>
        </p:nvSpPr>
        <p:spPr>
          <a:xfrm>
            <a:off x="452825" y="3886650"/>
            <a:ext cx="1936200" cy="447900"/>
          </a:xfrm>
          <a:prstGeom prst="rect">
            <a:avLst/>
          </a:prstGeom>
          <a:noFill/>
          <a:ln>
            <a:noFill/>
          </a:ln>
        </p:spPr>
        <p:txBody>
          <a:bodyPr anchorCtr="0" anchor="t" bIns="91425" lIns="91425" spcFirstLastPara="1" rIns="91425" wrap="square" tIns="91425">
            <a:spAutoFit/>
          </a:bodyPr>
          <a:lstStyle/>
          <a:p>
            <a:pPr indent="0" lvl="0" marL="0" rtl="0" algn="l">
              <a:lnSpc>
                <a:spcPct val="95000"/>
              </a:lnSpc>
              <a:spcBef>
                <a:spcPts val="0"/>
              </a:spcBef>
              <a:spcAft>
                <a:spcPts val="1200"/>
              </a:spcAft>
              <a:buNone/>
            </a:pPr>
            <a:r>
              <a:rPr lang="en" sz="1800">
                <a:solidFill>
                  <a:srgbClr val="374151"/>
                </a:solidFill>
                <a:latin typeface="Roboto"/>
                <a:ea typeface="Roboto"/>
                <a:cs typeface="Roboto"/>
                <a:sym typeface="Roboto"/>
              </a:rPr>
              <a:t>P(ham|words)</a:t>
            </a:r>
            <a:endParaRPr sz="1800"/>
          </a:p>
        </p:txBody>
      </p:sp>
      <p:sp>
        <p:nvSpPr>
          <p:cNvPr id="324" name="Google Shape;324;p28"/>
          <p:cNvSpPr/>
          <p:nvPr/>
        </p:nvSpPr>
        <p:spPr>
          <a:xfrm>
            <a:off x="2154000" y="3892350"/>
            <a:ext cx="447600" cy="436500"/>
          </a:xfrm>
          <a:prstGeom prst="mathEqual">
            <a:avLst>
              <a:gd fmla="val 23520" name="adj1"/>
              <a:gd fmla="val 1176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25" name="Google Shape;325;p28"/>
          <p:cNvSpPr/>
          <p:nvPr/>
        </p:nvSpPr>
        <p:spPr>
          <a:xfrm>
            <a:off x="1986125" y="4013800"/>
            <a:ext cx="5484900" cy="284100"/>
          </a:xfrm>
          <a:prstGeom prst="mathMin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26" name="Google Shape;326;p28"/>
          <p:cNvSpPr txBox="1"/>
          <p:nvPr/>
        </p:nvSpPr>
        <p:spPr>
          <a:xfrm>
            <a:off x="2943250" y="2887350"/>
            <a:ext cx="3290100" cy="1237500"/>
          </a:xfrm>
          <a:prstGeom prst="rect">
            <a:avLst/>
          </a:prstGeom>
          <a:noFill/>
          <a:ln>
            <a:noFill/>
          </a:ln>
        </p:spPr>
        <p:txBody>
          <a:bodyPr anchorCtr="0" anchor="t" bIns="91425" lIns="91425" spcFirstLastPara="1" rIns="91425" wrap="square" tIns="91425">
            <a:spAutoFit/>
          </a:bodyPr>
          <a:lstStyle/>
          <a:p>
            <a:pPr indent="0" lvl="0" marL="0" rtl="0" algn="l">
              <a:lnSpc>
                <a:spcPct val="95000"/>
              </a:lnSpc>
              <a:spcBef>
                <a:spcPts val="0"/>
              </a:spcBef>
              <a:spcAft>
                <a:spcPts val="1200"/>
              </a:spcAft>
              <a:buNone/>
            </a:pPr>
            <a:r>
              <a:rPr b="1" lang="en" sz="1800">
                <a:solidFill>
                  <a:srgbClr val="374151"/>
                </a:solidFill>
                <a:latin typeface="Roboto"/>
                <a:ea typeface="Roboto"/>
                <a:cs typeface="Roboto"/>
                <a:sym typeface="Roboto"/>
              </a:rPr>
              <a:t>P(wordA|ham)</a:t>
            </a:r>
            <a:r>
              <a:rPr lang="en" sz="1800">
                <a:solidFill>
                  <a:srgbClr val="374151"/>
                </a:solidFill>
                <a:latin typeface="Roboto"/>
                <a:ea typeface="Roboto"/>
                <a:cs typeface="Roboto"/>
                <a:sym typeface="Roboto"/>
              </a:rPr>
              <a:t> * </a:t>
            </a:r>
            <a:r>
              <a:rPr b="1" lang="en" sz="1800">
                <a:solidFill>
                  <a:srgbClr val="374151"/>
                </a:solidFill>
                <a:latin typeface="Roboto"/>
                <a:ea typeface="Roboto"/>
                <a:cs typeface="Roboto"/>
                <a:sym typeface="Roboto"/>
              </a:rPr>
              <a:t>P(wordB|ham)</a:t>
            </a:r>
            <a:r>
              <a:rPr lang="en" sz="1800">
                <a:solidFill>
                  <a:srgbClr val="374151"/>
                </a:solidFill>
                <a:latin typeface="Roboto"/>
                <a:ea typeface="Roboto"/>
                <a:cs typeface="Roboto"/>
                <a:sym typeface="Roboto"/>
              </a:rPr>
              <a:t> * </a:t>
            </a:r>
            <a:r>
              <a:rPr b="1" lang="en" sz="1800">
                <a:solidFill>
                  <a:srgbClr val="374151"/>
                </a:solidFill>
                <a:latin typeface="Roboto"/>
                <a:ea typeface="Roboto"/>
                <a:cs typeface="Roboto"/>
                <a:sym typeface="Roboto"/>
              </a:rPr>
              <a:t>P(wordC|ham)</a:t>
            </a:r>
            <a:r>
              <a:rPr lang="en" sz="1800">
                <a:solidFill>
                  <a:srgbClr val="374151"/>
                </a:solidFill>
                <a:latin typeface="Roboto"/>
                <a:ea typeface="Roboto"/>
                <a:cs typeface="Roboto"/>
                <a:sym typeface="Roboto"/>
              </a:rPr>
              <a:t> * </a:t>
            </a:r>
            <a:r>
              <a:rPr b="1" lang="en" sz="1800">
                <a:solidFill>
                  <a:srgbClr val="374151"/>
                </a:solidFill>
                <a:latin typeface="Roboto"/>
                <a:ea typeface="Roboto"/>
                <a:cs typeface="Roboto"/>
                <a:sym typeface="Roboto"/>
              </a:rPr>
              <a:t>P(wordD|ham) </a:t>
            </a:r>
            <a:r>
              <a:rPr lang="en" sz="1800">
                <a:solidFill>
                  <a:srgbClr val="374151"/>
                </a:solidFill>
                <a:latin typeface="Roboto"/>
                <a:ea typeface="Roboto"/>
                <a:cs typeface="Roboto"/>
                <a:sym typeface="Roboto"/>
              </a:rPr>
              <a:t>* P(ham) </a:t>
            </a:r>
            <a:endParaRPr sz="1800">
              <a:solidFill>
                <a:srgbClr val="374151"/>
              </a:solidFill>
              <a:latin typeface="Roboto"/>
              <a:ea typeface="Roboto"/>
              <a:cs typeface="Roboto"/>
              <a:sym typeface="Roboto"/>
            </a:endParaRPr>
          </a:p>
        </p:txBody>
      </p:sp>
      <p:sp>
        <p:nvSpPr>
          <p:cNvPr id="327" name="Google Shape;327;p28"/>
          <p:cNvSpPr txBox="1"/>
          <p:nvPr/>
        </p:nvSpPr>
        <p:spPr>
          <a:xfrm>
            <a:off x="3972750" y="4142821"/>
            <a:ext cx="3000000" cy="447900"/>
          </a:xfrm>
          <a:prstGeom prst="rect">
            <a:avLst/>
          </a:prstGeom>
          <a:noFill/>
          <a:ln>
            <a:noFill/>
          </a:ln>
        </p:spPr>
        <p:txBody>
          <a:bodyPr anchorCtr="0" anchor="t" bIns="91425" lIns="91425" spcFirstLastPara="1" rIns="91425" wrap="square" tIns="91425">
            <a:spAutoFit/>
          </a:bodyPr>
          <a:lstStyle/>
          <a:p>
            <a:pPr indent="0" lvl="0" marL="0" rtl="0" algn="l">
              <a:lnSpc>
                <a:spcPct val="95000"/>
              </a:lnSpc>
              <a:spcBef>
                <a:spcPts val="0"/>
              </a:spcBef>
              <a:spcAft>
                <a:spcPts val="1200"/>
              </a:spcAft>
              <a:buNone/>
            </a:pPr>
            <a:r>
              <a:rPr lang="en" sz="1800">
                <a:solidFill>
                  <a:srgbClr val="374151"/>
                </a:solidFill>
                <a:latin typeface="Roboto"/>
                <a:ea typeface="Roboto"/>
                <a:cs typeface="Roboto"/>
                <a:sym typeface="Roboto"/>
              </a:rPr>
              <a:t>P(words)                                     </a:t>
            </a:r>
            <a:endParaRPr sz="1800"/>
          </a:p>
        </p:txBody>
      </p:sp>
      <p:sp>
        <p:nvSpPr>
          <p:cNvPr id="328" name="Google Shape;328;p28"/>
          <p:cNvSpPr/>
          <p:nvPr/>
        </p:nvSpPr>
        <p:spPr>
          <a:xfrm>
            <a:off x="2898150" y="2761725"/>
            <a:ext cx="1772171" cy="1363219"/>
          </a:xfrm>
          <a:custGeom>
            <a:rect b="b" l="l" r="r" t="t"/>
            <a:pathLst>
              <a:path extrusionOk="0" h="76866" w="105002">
                <a:moveTo>
                  <a:pt x="36768" y="2950"/>
                </a:moveTo>
                <a:cubicBezTo>
                  <a:pt x="25793" y="2950"/>
                  <a:pt x="11560" y="1234"/>
                  <a:pt x="4534" y="9666"/>
                </a:cubicBezTo>
                <a:cubicBezTo>
                  <a:pt x="-3492" y="19299"/>
                  <a:pt x="1178" y="34976"/>
                  <a:pt x="3639" y="47271"/>
                </a:cubicBezTo>
                <a:cubicBezTo>
                  <a:pt x="4931" y="53724"/>
                  <a:pt x="1034" y="61704"/>
                  <a:pt x="4982" y="66969"/>
                </a:cubicBezTo>
                <a:cubicBezTo>
                  <a:pt x="15168" y="80552"/>
                  <a:pt x="38376" y="73130"/>
                  <a:pt x="55123" y="75923"/>
                </a:cubicBezTo>
                <a:cubicBezTo>
                  <a:pt x="63808" y="77372"/>
                  <a:pt x="72776" y="76800"/>
                  <a:pt x="81537" y="75923"/>
                </a:cubicBezTo>
                <a:cubicBezTo>
                  <a:pt x="88131" y="75263"/>
                  <a:pt x="95933" y="77213"/>
                  <a:pt x="101235" y="73237"/>
                </a:cubicBezTo>
                <a:cubicBezTo>
                  <a:pt x="105085" y="70350"/>
                  <a:pt x="103025" y="63723"/>
                  <a:pt x="103025" y="58911"/>
                </a:cubicBezTo>
                <a:cubicBezTo>
                  <a:pt x="103025" y="52912"/>
                  <a:pt x="105561" y="46956"/>
                  <a:pt x="104816" y="41004"/>
                </a:cubicBezTo>
                <a:cubicBezTo>
                  <a:pt x="103756" y="32531"/>
                  <a:pt x="104105" y="23887"/>
                  <a:pt x="102578" y="15486"/>
                </a:cubicBezTo>
                <a:cubicBezTo>
                  <a:pt x="101918" y="11854"/>
                  <a:pt x="102503" y="7352"/>
                  <a:pt x="99892" y="4741"/>
                </a:cubicBezTo>
                <a:cubicBezTo>
                  <a:pt x="92908" y="-2243"/>
                  <a:pt x="80222" y="2503"/>
                  <a:pt x="70344" y="2503"/>
                </a:cubicBezTo>
                <a:cubicBezTo>
                  <a:pt x="58406" y="2503"/>
                  <a:pt x="45207" y="-2836"/>
                  <a:pt x="34529" y="2503"/>
                </a:cubicBezTo>
              </a:path>
            </a:pathLst>
          </a:custGeom>
          <a:noFill/>
          <a:ln cap="flat" cmpd="sng" w="76200">
            <a:solidFill>
              <a:srgbClr val="FF0000"/>
            </a:solidFill>
            <a:prstDash val="solid"/>
            <a:round/>
            <a:headEnd len="med" w="med" type="none"/>
            <a:tailEnd len="med" w="med" type="none"/>
          </a:ln>
        </p:spPr>
      </p:sp>
      <p:sp>
        <p:nvSpPr>
          <p:cNvPr id="329" name="Google Shape;329;p28"/>
          <p:cNvSpPr/>
          <p:nvPr/>
        </p:nvSpPr>
        <p:spPr>
          <a:xfrm>
            <a:off x="3708025" y="4178500"/>
            <a:ext cx="1570125" cy="376547"/>
          </a:xfrm>
          <a:custGeom>
            <a:rect b="b" l="l" r="r" t="t"/>
            <a:pathLst>
              <a:path extrusionOk="0" h="36189" w="62805">
                <a:moveTo>
                  <a:pt x="21309" y="2598"/>
                </a:moveTo>
                <a:cubicBezTo>
                  <a:pt x="14835" y="2598"/>
                  <a:pt x="7894" y="6049"/>
                  <a:pt x="3849" y="11104"/>
                </a:cubicBezTo>
                <a:cubicBezTo>
                  <a:pt x="22" y="15887"/>
                  <a:pt x="-1831" y="25634"/>
                  <a:pt x="2954" y="29459"/>
                </a:cubicBezTo>
                <a:cubicBezTo>
                  <a:pt x="13638" y="38000"/>
                  <a:pt x="30200" y="36629"/>
                  <a:pt x="43693" y="34384"/>
                </a:cubicBezTo>
                <a:cubicBezTo>
                  <a:pt x="50212" y="33299"/>
                  <a:pt x="58392" y="31655"/>
                  <a:pt x="61601" y="25878"/>
                </a:cubicBezTo>
                <a:cubicBezTo>
                  <a:pt x="66325" y="17373"/>
                  <a:pt x="55370" y="3615"/>
                  <a:pt x="45932" y="1255"/>
                </a:cubicBezTo>
                <a:cubicBezTo>
                  <a:pt x="36078" y="-1209"/>
                  <a:pt x="25449" y="605"/>
                  <a:pt x="15489" y="2598"/>
                </a:cubicBezTo>
              </a:path>
            </a:pathLst>
          </a:custGeom>
          <a:noFill/>
          <a:ln cap="flat" cmpd="sng" w="38100">
            <a:solidFill>
              <a:srgbClr val="0000FF"/>
            </a:solidFill>
            <a:prstDash val="solid"/>
            <a:round/>
            <a:headEnd len="med" w="med" type="none"/>
            <a:tailEnd len="med" w="med" type="none"/>
          </a:ln>
        </p:spPr>
      </p:sp>
      <p:sp>
        <p:nvSpPr>
          <p:cNvPr id="330" name="Google Shape;330;p28"/>
          <p:cNvSpPr/>
          <p:nvPr/>
        </p:nvSpPr>
        <p:spPr>
          <a:xfrm>
            <a:off x="4204950" y="4148543"/>
            <a:ext cx="734093" cy="436452"/>
          </a:xfrm>
          <a:custGeom>
            <a:rect b="b" l="l" r="r" t="t"/>
            <a:pathLst>
              <a:path extrusionOk="0" h="40291" w="62676">
                <a:moveTo>
                  <a:pt x="62676" y="40291"/>
                </a:moveTo>
                <a:cubicBezTo>
                  <a:pt x="49615" y="37031"/>
                  <a:pt x="39158" y="27076"/>
                  <a:pt x="28204" y="19250"/>
                </a:cubicBezTo>
                <a:cubicBezTo>
                  <a:pt x="18942" y="12633"/>
                  <a:pt x="5095" y="10178"/>
                  <a:pt x="0" y="0"/>
                </a:cubicBezTo>
              </a:path>
            </a:pathLst>
          </a:custGeom>
          <a:noFill/>
          <a:ln cap="flat" cmpd="sng" w="38100">
            <a:solidFill>
              <a:srgbClr val="0000FF"/>
            </a:solidFill>
            <a:prstDash val="solid"/>
            <a:round/>
            <a:headEnd len="med" w="med" type="none"/>
            <a:tailEnd len="med" w="med" type="none"/>
          </a:ln>
        </p:spPr>
      </p:sp>
      <p:sp>
        <p:nvSpPr>
          <p:cNvPr id="331" name="Google Shape;331;p28"/>
          <p:cNvSpPr/>
          <p:nvPr/>
        </p:nvSpPr>
        <p:spPr>
          <a:xfrm>
            <a:off x="4670425" y="3540550"/>
            <a:ext cx="981506" cy="536717"/>
          </a:xfrm>
          <a:custGeom>
            <a:rect b="b" l="l" r="r" t="t"/>
            <a:pathLst>
              <a:path extrusionOk="0" h="76866" w="105002">
                <a:moveTo>
                  <a:pt x="36768" y="2950"/>
                </a:moveTo>
                <a:cubicBezTo>
                  <a:pt x="25793" y="2950"/>
                  <a:pt x="11560" y="1234"/>
                  <a:pt x="4534" y="9666"/>
                </a:cubicBezTo>
                <a:cubicBezTo>
                  <a:pt x="-3492" y="19299"/>
                  <a:pt x="1178" y="34976"/>
                  <a:pt x="3639" y="47271"/>
                </a:cubicBezTo>
                <a:cubicBezTo>
                  <a:pt x="4931" y="53724"/>
                  <a:pt x="1034" y="61704"/>
                  <a:pt x="4982" y="66969"/>
                </a:cubicBezTo>
                <a:cubicBezTo>
                  <a:pt x="15168" y="80552"/>
                  <a:pt x="38376" y="73130"/>
                  <a:pt x="55123" y="75923"/>
                </a:cubicBezTo>
                <a:cubicBezTo>
                  <a:pt x="63808" y="77372"/>
                  <a:pt x="72776" y="76800"/>
                  <a:pt x="81537" y="75923"/>
                </a:cubicBezTo>
                <a:cubicBezTo>
                  <a:pt x="88131" y="75263"/>
                  <a:pt x="95933" y="77213"/>
                  <a:pt x="101235" y="73237"/>
                </a:cubicBezTo>
                <a:cubicBezTo>
                  <a:pt x="105085" y="70350"/>
                  <a:pt x="103025" y="63723"/>
                  <a:pt x="103025" y="58911"/>
                </a:cubicBezTo>
                <a:cubicBezTo>
                  <a:pt x="103025" y="52912"/>
                  <a:pt x="105561" y="46956"/>
                  <a:pt x="104816" y="41004"/>
                </a:cubicBezTo>
                <a:cubicBezTo>
                  <a:pt x="103756" y="32531"/>
                  <a:pt x="104105" y="23887"/>
                  <a:pt x="102578" y="15486"/>
                </a:cubicBezTo>
                <a:cubicBezTo>
                  <a:pt x="101918" y="11854"/>
                  <a:pt x="102503" y="7352"/>
                  <a:pt x="99892" y="4741"/>
                </a:cubicBezTo>
                <a:cubicBezTo>
                  <a:pt x="92908" y="-2243"/>
                  <a:pt x="80222" y="2503"/>
                  <a:pt x="70344" y="2503"/>
                </a:cubicBezTo>
                <a:cubicBezTo>
                  <a:pt x="58406" y="2503"/>
                  <a:pt x="45207" y="-2836"/>
                  <a:pt x="34529" y="2503"/>
                </a:cubicBezTo>
              </a:path>
            </a:pathLst>
          </a:custGeom>
          <a:noFill/>
          <a:ln cap="flat" cmpd="sng" w="76200">
            <a:solidFill>
              <a:srgbClr val="FF0000"/>
            </a:solidFill>
            <a:prstDash val="solid"/>
            <a:round/>
            <a:headEnd len="med" w="med" type="none"/>
            <a:tailEnd len="med" w="med" type="none"/>
          </a:ln>
        </p:spPr>
      </p:sp>
      <p:sp>
        <p:nvSpPr>
          <p:cNvPr id="332" name="Google Shape;332;p28"/>
          <p:cNvSpPr/>
          <p:nvPr/>
        </p:nvSpPr>
        <p:spPr>
          <a:xfrm>
            <a:off x="4744475" y="1566350"/>
            <a:ext cx="981506" cy="536717"/>
          </a:xfrm>
          <a:custGeom>
            <a:rect b="b" l="l" r="r" t="t"/>
            <a:pathLst>
              <a:path extrusionOk="0" h="76866" w="105002">
                <a:moveTo>
                  <a:pt x="36768" y="2950"/>
                </a:moveTo>
                <a:cubicBezTo>
                  <a:pt x="25793" y="2950"/>
                  <a:pt x="11560" y="1234"/>
                  <a:pt x="4534" y="9666"/>
                </a:cubicBezTo>
                <a:cubicBezTo>
                  <a:pt x="-3492" y="19299"/>
                  <a:pt x="1178" y="34976"/>
                  <a:pt x="3639" y="47271"/>
                </a:cubicBezTo>
                <a:cubicBezTo>
                  <a:pt x="4931" y="53724"/>
                  <a:pt x="1034" y="61704"/>
                  <a:pt x="4982" y="66969"/>
                </a:cubicBezTo>
                <a:cubicBezTo>
                  <a:pt x="15168" y="80552"/>
                  <a:pt x="38376" y="73130"/>
                  <a:pt x="55123" y="75923"/>
                </a:cubicBezTo>
                <a:cubicBezTo>
                  <a:pt x="63808" y="77372"/>
                  <a:pt x="72776" y="76800"/>
                  <a:pt x="81537" y="75923"/>
                </a:cubicBezTo>
                <a:cubicBezTo>
                  <a:pt x="88131" y="75263"/>
                  <a:pt x="95933" y="77213"/>
                  <a:pt x="101235" y="73237"/>
                </a:cubicBezTo>
                <a:cubicBezTo>
                  <a:pt x="105085" y="70350"/>
                  <a:pt x="103025" y="63723"/>
                  <a:pt x="103025" y="58911"/>
                </a:cubicBezTo>
                <a:cubicBezTo>
                  <a:pt x="103025" y="52912"/>
                  <a:pt x="105561" y="46956"/>
                  <a:pt x="104816" y="41004"/>
                </a:cubicBezTo>
                <a:cubicBezTo>
                  <a:pt x="103756" y="32531"/>
                  <a:pt x="104105" y="23887"/>
                  <a:pt x="102578" y="15486"/>
                </a:cubicBezTo>
                <a:cubicBezTo>
                  <a:pt x="101918" y="11854"/>
                  <a:pt x="102503" y="7352"/>
                  <a:pt x="99892" y="4741"/>
                </a:cubicBezTo>
                <a:cubicBezTo>
                  <a:pt x="92908" y="-2243"/>
                  <a:pt x="80222" y="2503"/>
                  <a:pt x="70344" y="2503"/>
                </a:cubicBezTo>
                <a:cubicBezTo>
                  <a:pt x="58406" y="2503"/>
                  <a:pt x="45207" y="-2836"/>
                  <a:pt x="34529" y="2503"/>
                </a:cubicBezTo>
              </a:path>
            </a:pathLst>
          </a:custGeom>
          <a:noFill/>
          <a:ln cap="flat" cmpd="sng" w="76200">
            <a:solidFill>
              <a:srgbClr val="FF0000"/>
            </a:solidFill>
            <a:prstDash val="solid"/>
            <a:round/>
            <a:headEnd len="med" w="med" type="none"/>
            <a:tailEnd len="med" w="med" type="none"/>
          </a:ln>
        </p:spPr>
      </p:sp>
      <p:sp>
        <p:nvSpPr>
          <p:cNvPr id="333" name="Google Shape;333;p28"/>
          <p:cNvSpPr txBox="1"/>
          <p:nvPr/>
        </p:nvSpPr>
        <p:spPr>
          <a:xfrm>
            <a:off x="822175" y="2864000"/>
            <a:ext cx="1936200" cy="462600"/>
          </a:xfrm>
          <a:prstGeom prst="rect">
            <a:avLst/>
          </a:prstGeom>
          <a:noFill/>
          <a:ln>
            <a:noFill/>
          </a:ln>
        </p:spPr>
        <p:txBody>
          <a:bodyPr anchorCtr="0" anchor="t" bIns="91425" lIns="91425" spcFirstLastPara="1" rIns="91425" wrap="square" tIns="91425">
            <a:spAutoFit/>
          </a:bodyPr>
          <a:lstStyle/>
          <a:p>
            <a:pPr indent="0" lvl="0" marL="0" rtl="0" algn="l">
              <a:lnSpc>
                <a:spcPct val="95000"/>
              </a:lnSpc>
              <a:spcBef>
                <a:spcPts val="0"/>
              </a:spcBef>
              <a:spcAft>
                <a:spcPts val="1200"/>
              </a:spcAft>
              <a:buNone/>
            </a:pPr>
            <a:r>
              <a:rPr b="1" lang="en" sz="1900">
                <a:solidFill>
                  <a:srgbClr val="374151"/>
                </a:solidFill>
                <a:latin typeface="Roboto"/>
                <a:ea typeface="Roboto"/>
                <a:cs typeface="Roboto"/>
                <a:sym typeface="Roboto"/>
              </a:rPr>
              <a:t>VS</a:t>
            </a:r>
            <a:endParaRPr b="1" sz="19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29"/>
          <p:cNvSpPr txBox="1"/>
          <p:nvPr>
            <p:ph type="title"/>
          </p:nvPr>
        </p:nvSpPr>
        <p:spPr>
          <a:xfrm>
            <a:off x="750900" y="1984050"/>
            <a:ext cx="7642200" cy="1175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n"/>
              <a:t>Model Training</a:t>
            </a:r>
            <a:endParaRPr/>
          </a:p>
          <a:p>
            <a:pPr indent="0" lvl="0" marL="0" rtl="0" algn="ctr">
              <a:spcBef>
                <a:spcPts val="0"/>
              </a:spcBef>
              <a:spcAft>
                <a:spcPts val="0"/>
              </a:spcAft>
              <a:buNone/>
            </a:pPr>
            <a:r>
              <a:rPr lang="en"/>
              <a:t>2 How to use database to train the model?</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30"/>
          <p:cNvSpPr txBox="1"/>
          <p:nvPr>
            <p:ph type="title"/>
          </p:nvPr>
        </p:nvSpPr>
        <p:spPr>
          <a:xfrm>
            <a:off x="307350" y="198975"/>
            <a:ext cx="7505700" cy="59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Training Process</a:t>
            </a:r>
            <a:endParaRPr b="1"/>
          </a:p>
        </p:txBody>
      </p:sp>
      <p:pic>
        <p:nvPicPr>
          <p:cNvPr id="344" name="Google Shape;344;p30" title="Points scored"/>
          <p:cNvPicPr preferRelativeResize="0"/>
          <p:nvPr/>
        </p:nvPicPr>
        <p:blipFill>
          <a:blip r:embed="rId3">
            <a:alphaModFix/>
          </a:blip>
          <a:stretch>
            <a:fillRect/>
          </a:stretch>
        </p:blipFill>
        <p:spPr>
          <a:xfrm>
            <a:off x="2959875" y="1287250"/>
            <a:ext cx="3945699" cy="2439726"/>
          </a:xfrm>
          <a:prstGeom prst="rect">
            <a:avLst/>
          </a:prstGeom>
          <a:noFill/>
          <a:ln>
            <a:noFill/>
          </a:ln>
        </p:spPr>
      </p:pic>
      <p:sp>
        <p:nvSpPr>
          <p:cNvPr id="345" name="Google Shape;345;p30"/>
          <p:cNvSpPr txBox="1"/>
          <p:nvPr/>
        </p:nvSpPr>
        <p:spPr>
          <a:xfrm>
            <a:off x="3897425" y="3671225"/>
            <a:ext cx="2070600" cy="892800"/>
          </a:xfrm>
          <a:prstGeom prst="rect">
            <a:avLst/>
          </a:prstGeom>
          <a:solidFill>
            <a:srgbClr val="D9D9D9"/>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300">
                <a:solidFill>
                  <a:srgbClr val="0000FF"/>
                </a:solidFill>
                <a:latin typeface="Calibri"/>
                <a:ea typeface="Calibri"/>
                <a:cs typeface="Calibri"/>
                <a:sym typeface="Calibri"/>
              </a:rPr>
              <a:t>P(spam) = 0.3</a:t>
            </a:r>
            <a:endParaRPr b="1" sz="2300">
              <a:solidFill>
                <a:srgbClr val="0000FF"/>
              </a:solidFill>
              <a:latin typeface="Calibri"/>
              <a:ea typeface="Calibri"/>
              <a:cs typeface="Calibri"/>
              <a:sym typeface="Calibri"/>
            </a:endParaRPr>
          </a:p>
          <a:p>
            <a:pPr indent="0" lvl="0" marL="0" rtl="0" algn="l">
              <a:spcBef>
                <a:spcPts val="0"/>
              </a:spcBef>
              <a:spcAft>
                <a:spcPts val="0"/>
              </a:spcAft>
              <a:buNone/>
            </a:pPr>
            <a:r>
              <a:rPr b="1" lang="en" sz="2300">
                <a:solidFill>
                  <a:srgbClr val="0000FF"/>
                </a:solidFill>
                <a:latin typeface="Calibri"/>
                <a:ea typeface="Calibri"/>
                <a:cs typeface="Calibri"/>
                <a:sym typeface="Calibri"/>
              </a:rPr>
              <a:t>P(ham) = 0.7</a:t>
            </a:r>
            <a:endParaRPr b="1" sz="2300">
              <a:solidFill>
                <a:srgbClr val="0000FF"/>
              </a:solidFill>
              <a:latin typeface="Calibri"/>
              <a:ea typeface="Calibri"/>
              <a:cs typeface="Calibri"/>
              <a:sym typeface="Calibri"/>
            </a:endParaRPr>
          </a:p>
        </p:txBody>
      </p:sp>
      <p:sp>
        <p:nvSpPr>
          <p:cNvPr id="346" name="Google Shape;346;p30"/>
          <p:cNvSpPr txBox="1"/>
          <p:nvPr>
            <p:ph type="title"/>
          </p:nvPr>
        </p:nvSpPr>
        <p:spPr>
          <a:xfrm>
            <a:off x="385700" y="888600"/>
            <a:ext cx="7505700" cy="595200"/>
          </a:xfrm>
          <a:prstGeom prst="rect">
            <a:avLst/>
          </a:prstGeom>
        </p:spPr>
        <p:txBody>
          <a:bodyPr anchorCtr="0" anchor="t" bIns="91425" lIns="91425" spcFirstLastPara="1" rIns="91425" wrap="square" tIns="91425">
            <a:normAutofit fontScale="90000"/>
          </a:bodyPr>
          <a:lstStyle/>
          <a:p>
            <a:pPr indent="-400050" lvl="0" marL="457200" rtl="0" algn="l">
              <a:spcBef>
                <a:spcPts val="0"/>
              </a:spcBef>
              <a:spcAft>
                <a:spcPts val="0"/>
              </a:spcAft>
              <a:buSzPct val="100000"/>
              <a:buAutoNum type="arabicPeriod"/>
            </a:pPr>
            <a:r>
              <a:rPr b="1" lang="en"/>
              <a:t>For every email </a:t>
            </a:r>
            <a:endParaRPr b="1"/>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43"/>
                                        </p:tgtEl>
                                        <p:attrNameLst>
                                          <p:attrName>style.visibility</p:attrName>
                                        </p:attrNameLst>
                                      </p:cBhvr>
                                      <p:to>
                                        <p:strVal val="visible"/>
                                      </p:to>
                                    </p:set>
                                    <p:anim calcmode="lin" valueType="num">
                                      <p:cBhvr additive="base">
                                        <p:cTn dur="1000"/>
                                        <p:tgtEl>
                                          <p:spTgt spid="343"/>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46"/>
                                        </p:tgtEl>
                                        <p:attrNameLst>
                                          <p:attrName>style.visibility</p:attrName>
                                        </p:attrNameLst>
                                      </p:cBhvr>
                                      <p:to>
                                        <p:strVal val="visible"/>
                                      </p:to>
                                    </p:set>
                                    <p:anim calcmode="lin" valueType="num">
                                      <p:cBhvr additive="base">
                                        <p:cTn dur="1000"/>
                                        <p:tgtEl>
                                          <p:spTgt spid="346"/>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4"/>
                                        </p:tgtEl>
                                        <p:attrNameLst>
                                          <p:attrName>style.visibility</p:attrName>
                                        </p:attrNameLst>
                                      </p:cBhvr>
                                      <p:to>
                                        <p:strVal val="visible"/>
                                      </p:to>
                                    </p:set>
                                    <p:animEffect filter="fade" transition="in">
                                      <p:cBhvr>
                                        <p:cTn dur="1000"/>
                                        <p:tgtEl>
                                          <p:spTgt spid="3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45"/>
                                        </p:tgtEl>
                                        <p:attrNameLst>
                                          <p:attrName>style.visibility</p:attrName>
                                        </p:attrNameLst>
                                      </p:cBhvr>
                                      <p:to>
                                        <p:strVal val="visible"/>
                                      </p:to>
                                    </p:set>
                                    <p:anim calcmode="lin" valueType="num">
                                      <p:cBhvr additive="base">
                                        <p:cTn dur="1000"/>
                                        <p:tgtEl>
                                          <p:spTgt spid="345"/>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31"/>
          <p:cNvSpPr txBox="1"/>
          <p:nvPr>
            <p:ph type="title"/>
          </p:nvPr>
        </p:nvSpPr>
        <p:spPr>
          <a:xfrm>
            <a:off x="307350" y="198975"/>
            <a:ext cx="7505700" cy="59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Training Process</a:t>
            </a:r>
            <a:endParaRPr b="1"/>
          </a:p>
        </p:txBody>
      </p:sp>
      <p:sp>
        <p:nvSpPr>
          <p:cNvPr id="352" name="Google Shape;352;p31"/>
          <p:cNvSpPr txBox="1"/>
          <p:nvPr>
            <p:ph type="title"/>
          </p:nvPr>
        </p:nvSpPr>
        <p:spPr>
          <a:xfrm>
            <a:off x="374500" y="743100"/>
            <a:ext cx="7505700" cy="59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2.  For every words in each email</a:t>
            </a:r>
            <a:endParaRPr b="1"/>
          </a:p>
        </p:txBody>
      </p:sp>
      <p:sp>
        <p:nvSpPr>
          <p:cNvPr id="353" name="Google Shape;353;p31"/>
          <p:cNvSpPr/>
          <p:nvPr/>
        </p:nvSpPr>
        <p:spPr>
          <a:xfrm>
            <a:off x="470050" y="1338300"/>
            <a:ext cx="8405400" cy="3089400"/>
          </a:xfrm>
          <a:prstGeom prst="snip1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600">
                <a:latin typeface="Calibri"/>
                <a:ea typeface="Calibri"/>
                <a:cs typeface="Calibri"/>
                <a:sym typeface="Calibri"/>
              </a:rPr>
              <a:t>Subject: Congratulations! You have a chance to </a:t>
            </a:r>
            <a:r>
              <a:rPr b="1" lang="en" sz="1600">
                <a:solidFill>
                  <a:srgbClr val="FF0000"/>
                </a:solidFill>
                <a:latin typeface="Calibri"/>
                <a:ea typeface="Calibri"/>
                <a:cs typeface="Calibri"/>
                <a:sym typeface="Calibri"/>
              </a:rPr>
              <a:t>win</a:t>
            </a:r>
            <a:r>
              <a:rPr lang="en" sz="1600">
                <a:latin typeface="Calibri"/>
                <a:ea typeface="Calibri"/>
                <a:cs typeface="Calibri"/>
                <a:sym typeface="Calibri"/>
              </a:rPr>
              <a:t> big prizes!</a:t>
            </a:r>
            <a:endParaRPr sz="1600">
              <a:latin typeface="Calibri"/>
              <a:ea typeface="Calibri"/>
              <a:cs typeface="Calibri"/>
              <a:sym typeface="Calibri"/>
            </a:endParaRPr>
          </a:p>
          <a:p>
            <a:pPr indent="0" lvl="0" marL="0" rtl="0" algn="l">
              <a:spcBef>
                <a:spcPts val="0"/>
              </a:spcBef>
              <a:spcAft>
                <a:spcPts val="0"/>
              </a:spcAft>
              <a:buNone/>
            </a:pPr>
            <a:r>
              <a:t/>
            </a:r>
            <a:endParaRPr sz="1600">
              <a:latin typeface="Calibri"/>
              <a:ea typeface="Calibri"/>
              <a:cs typeface="Calibri"/>
              <a:sym typeface="Calibri"/>
            </a:endParaRPr>
          </a:p>
          <a:p>
            <a:pPr indent="0" lvl="0" marL="0" rtl="0" algn="l">
              <a:spcBef>
                <a:spcPts val="0"/>
              </a:spcBef>
              <a:spcAft>
                <a:spcPts val="0"/>
              </a:spcAft>
              <a:buNone/>
            </a:pPr>
            <a:r>
              <a:rPr lang="en" sz="1600">
                <a:latin typeface="Calibri"/>
                <a:ea typeface="Calibri"/>
                <a:cs typeface="Calibri"/>
                <a:sym typeface="Calibri"/>
              </a:rPr>
              <a:t>Dear lucky user,</a:t>
            </a:r>
            <a:endParaRPr sz="1600">
              <a:latin typeface="Calibri"/>
              <a:ea typeface="Calibri"/>
              <a:cs typeface="Calibri"/>
              <a:sym typeface="Calibri"/>
            </a:endParaRPr>
          </a:p>
          <a:p>
            <a:pPr indent="0" lvl="0" marL="0" rtl="0" algn="l">
              <a:spcBef>
                <a:spcPts val="0"/>
              </a:spcBef>
              <a:spcAft>
                <a:spcPts val="0"/>
              </a:spcAft>
              <a:buNone/>
            </a:pPr>
            <a:r>
              <a:t/>
            </a:r>
            <a:endParaRPr sz="1600">
              <a:latin typeface="Calibri"/>
              <a:ea typeface="Calibri"/>
              <a:cs typeface="Calibri"/>
              <a:sym typeface="Calibri"/>
            </a:endParaRPr>
          </a:p>
          <a:p>
            <a:pPr indent="0" lvl="0" marL="0" rtl="0" algn="l">
              <a:spcBef>
                <a:spcPts val="0"/>
              </a:spcBef>
              <a:spcAft>
                <a:spcPts val="0"/>
              </a:spcAft>
              <a:buNone/>
            </a:pPr>
            <a:r>
              <a:rPr b="1" lang="en" sz="1600">
                <a:solidFill>
                  <a:srgbClr val="FF0000"/>
                </a:solidFill>
                <a:latin typeface="Calibri"/>
                <a:ea typeface="Calibri"/>
                <a:cs typeface="Calibri"/>
                <a:sym typeface="Calibri"/>
              </a:rPr>
              <a:t>Today </a:t>
            </a:r>
            <a:r>
              <a:rPr lang="en" sz="1600">
                <a:latin typeface="Calibri"/>
                <a:ea typeface="Calibri"/>
                <a:cs typeface="Calibri"/>
                <a:sym typeface="Calibri"/>
              </a:rPr>
              <a:t>is your lucky day! You have been selected for a chance to </a:t>
            </a:r>
            <a:r>
              <a:rPr b="1" lang="en" sz="1600">
                <a:solidFill>
                  <a:srgbClr val="FF0000"/>
                </a:solidFill>
                <a:latin typeface="Calibri"/>
                <a:ea typeface="Calibri"/>
                <a:cs typeface="Calibri"/>
                <a:sym typeface="Calibri"/>
              </a:rPr>
              <a:t>win</a:t>
            </a:r>
            <a:r>
              <a:rPr lang="en" sz="1600">
                <a:latin typeface="Calibri"/>
                <a:ea typeface="Calibri"/>
                <a:cs typeface="Calibri"/>
                <a:sym typeface="Calibri"/>
              </a:rPr>
              <a:t> an exclusive reward. To claim your prize, simply click the link below and enter our </a:t>
            </a:r>
            <a:r>
              <a:rPr b="1" lang="en" sz="1600">
                <a:solidFill>
                  <a:srgbClr val="FF0000"/>
                </a:solidFill>
                <a:latin typeface="Calibri"/>
                <a:ea typeface="Calibri"/>
                <a:cs typeface="Calibri"/>
                <a:sym typeface="Calibri"/>
              </a:rPr>
              <a:t>free</a:t>
            </a:r>
            <a:r>
              <a:rPr lang="en" sz="1600">
                <a:latin typeface="Calibri"/>
                <a:ea typeface="Calibri"/>
                <a:cs typeface="Calibri"/>
                <a:sym typeface="Calibri"/>
              </a:rPr>
              <a:t> draw. Don't miss out on this opportunity to </a:t>
            </a:r>
            <a:r>
              <a:rPr b="1" lang="en" sz="1600">
                <a:solidFill>
                  <a:srgbClr val="FF0000"/>
                </a:solidFill>
                <a:latin typeface="Calibri"/>
                <a:ea typeface="Calibri"/>
                <a:cs typeface="Calibri"/>
                <a:sym typeface="Calibri"/>
              </a:rPr>
              <a:t>win</a:t>
            </a:r>
            <a:r>
              <a:rPr lang="en" sz="1600">
                <a:latin typeface="Calibri"/>
                <a:ea typeface="Calibri"/>
                <a:cs typeface="Calibri"/>
                <a:sym typeface="Calibri"/>
              </a:rPr>
              <a:t> big </a:t>
            </a:r>
            <a:r>
              <a:rPr b="1" lang="en" sz="1600">
                <a:solidFill>
                  <a:srgbClr val="FF0000"/>
                </a:solidFill>
                <a:latin typeface="Calibri"/>
                <a:ea typeface="Calibri"/>
                <a:cs typeface="Calibri"/>
                <a:sym typeface="Calibri"/>
              </a:rPr>
              <a:t>money</a:t>
            </a:r>
            <a:r>
              <a:rPr lang="en" sz="1600">
                <a:latin typeface="Calibri"/>
                <a:ea typeface="Calibri"/>
                <a:cs typeface="Calibri"/>
                <a:sym typeface="Calibri"/>
              </a:rPr>
              <a:t> with no investment for </a:t>
            </a:r>
            <a:r>
              <a:rPr b="1" lang="en" sz="1600">
                <a:solidFill>
                  <a:srgbClr val="FF0000"/>
                </a:solidFill>
                <a:latin typeface="Calibri"/>
                <a:ea typeface="Calibri"/>
                <a:cs typeface="Calibri"/>
                <a:sym typeface="Calibri"/>
              </a:rPr>
              <a:t>free</a:t>
            </a:r>
            <a:r>
              <a:rPr lang="en" sz="1600">
                <a:latin typeface="Calibri"/>
                <a:ea typeface="Calibri"/>
                <a:cs typeface="Calibri"/>
                <a:sym typeface="Calibri"/>
              </a:rPr>
              <a:t>.</a:t>
            </a:r>
            <a:endParaRPr sz="1600">
              <a:latin typeface="Calibri"/>
              <a:ea typeface="Calibri"/>
              <a:cs typeface="Calibri"/>
              <a:sym typeface="Calibri"/>
            </a:endParaRPr>
          </a:p>
          <a:p>
            <a:pPr indent="0" lvl="0" marL="0" rtl="0" algn="l">
              <a:spcBef>
                <a:spcPts val="0"/>
              </a:spcBef>
              <a:spcAft>
                <a:spcPts val="0"/>
              </a:spcAft>
              <a:buNone/>
            </a:pPr>
            <a:r>
              <a:t/>
            </a:r>
            <a:endParaRPr sz="1600">
              <a:latin typeface="Calibri"/>
              <a:ea typeface="Calibri"/>
              <a:cs typeface="Calibri"/>
              <a:sym typeface="Calibri"/>
            </a:endParaRPr>
          </a:p>
          <a:p>
            <a:pPr indent="0" lvl="0" marL="0" rtl="0" algn="l">
              <a:spcBef>
                <a:spcPts val="0"/>
              </a:spcBef>
              <a:spcAft>
                <a:spcPts val="0"/>
              </a:spcAft>
              <a:buNone/>
            </a:pPr>
            <a:r>
              <a:rPr lang="en" sz="1600">
                <a:latin typeface="Calibri"/>
                <a:ea typeface="Calibri"/>
                <a:cs typeface="Calibri"/>
                <a:sym typeface="Calibri"/>
              </a:rPr>
              <a:t>Click now and start your journey to fortune!</a:t>
            </a:r>
            <a:endParaRPr sz="1600">
              <a:latin typeface="Calibri"/>
              <a:ea typeface="Calibri"/>
              <a:cs typeface="Calibri"/>
              <a:sym typeface="Calibri"/>
            </a:endParaRPr>
          </a:p>
          <a:p>
            <a:pPr indent="0" lvl="0" marL="0" rtl="0" algn="l">
              <a:spcBef>
                <a:spcPts val="0"/>
              </a:spcBef>
              <a:spcAft>
                <a:spcPts val="0"/>
              </a:spcAft>
              <a:buNone/>
            </a:pPr>
            <a:r>
              <a:t/>
            </a:r>
            <a:endParaRPr sz="1600">
              <a:latin typeface="Calibri"/>
              <a:ea typeface="Calibri"/>
              <a:cs typeface="Calibri"/>
              <a:sym typeface="Calibri"/>
            </a:endParaRPr>
          </a:p>
          <a:p>
            <a:pPr indent="0" lvl="0" marL="0" rtl="0" algn="l">
              <a:spcBef>
                <a:spcPts val="0"/>
              </a:spcBef>
              <a:spcAft>
                <a:spcPts val="0"/>
              </a:spcAft>
              <a:buNone/>
            </a:pPr>
            <a:r>
              <a:rPr lang="en" sz="1600">
                <a:latin typeface="Calibri"/>
                <a:ea typeface="Calibri"/>
                <a:cs typeface="Calibri"/>
                <a:sym typeface="Calibri"/>
              </a:rPr>
              <a:t>Best regards,</a:t>
            </a:r>
            <a:endParaRPr sz="1600">
              <a:latin typeface="Calibri"/>
              <a:ea typeface="Calibri"/>
              <a:cs typeface="Calibri"/>
              <a:sym typeface="Calibri"/>
            </a:endParaRPr>
          </a:p>
          <a:p>
            <a:pPr indent="0" lvl="0" marL="0" rtl="0" algn="l">
              <a:spcBef>
                <a:spcPts val="0"/>
              </a:spcBef>
              <a:spcAft>
                <a:spcPts val="0"/>
              </a:spcAft>
              <a:buNone/>
            </a:pPr>
            <a:r>
              <a:rPr lang="en" sz="1600">
                <a:latin typeface="Calibri"/>
                <a:ea typeface="Calibri"/>
                <a:cs typeface="Calibri"/>
                <a:sym typeface="Calibri"/>
              </a:rPr>
              <a:t>The Contest Team</a:t>
            </a:r>
            <a:endParaRPr sz="1600">
              <a:latin typeface="Calibri"/>
              <a:ea typeface="Calibri"/>
              <a:cs typeface="Calibri"/>
              <a:sym typeface="Calibri"/>
            </a:endParaRPr>
          </a:p>
          <a:p>
            <a:pPr indent="0" lvl="0" marL="0" rtl="0" algn="l">
              <a:spcBef>
                <a:spcPts val="0"/>
              </a:spcBef>
              <a:spcAft>
                <a:spcPts val="0"/>
              </a:spcAft>
              <a:buNone/>
            </a:pPr>
            <a:r>
              <a:t/>
            </a:r>
            <a:endParaRPr sz="1600">
              <a:latin typeface="Calibri"/>
              <a:ea typeface="Calibri"/>
              <a:cs typeface="Calibri"/>
              <a:sym typeface="Calibri"/>
            </a:endParaRPr>
          </a:p>
        </p:txBody>
      </p:sp>
      <p:sp>
        <p:nvSpPr>
          <p:cNvPr id="354" name="Google Shape;354;p31"/>
          <p:cNvSpPr txBox="1"/>
          <p:nvPr/>
        </p:nvSpPr>
        <p:spPr>
          <a:xfrm>
            <a:off x="4454350" y="3445800"/>
            <a:ext cx="4421100" cy="506400"/>
          </a:xfrm>
          <a:prstGeom prst="rect">
            <a:avLst/>
          </a:prstGeom>
          <a:solidFill>
            <a:srgbClr val="F4CCCC"/>
          </a:solidFill>
          <a:ln>
            <a:noFill/>
          </a:ln>
        </p:spPr>
        <p:txBody>
          <a:bodyPr anchorCtr="0" anchor="t" bIns="91425" lIns="91425" spcFirstLastPara="1" rIns="91425" wrap="square" tIns="91425">
            <a:spAutoFit/>
          </a:bodyPr>
          <a:lstStyle/>
          <a:p>
            <a:pPr indent="0" lvl="0" marL="0" rtl="0" algn="ctr">
              <a:lnSpc>
                <a:spcPct val="95000"/>
              </a:lnSpc>
              <a:spcBef>
                <a:spcPts val="0"/>
              </a:spcBef>
              <a:spcAft>
                <a:spcPts val="1200"/>
              </a:spcAft>
              <a:buNone/>
            </a:pPr>
            <a:r>
              <a:rPr b="1" lang="en" sz="2200">
                <a:solidFill>
                  <a:srgbClr val="374151"/>
                </a:solidFill>
                <a:latin typeface="Roboto"/>
                <a:ea typeface="Roboto"/>
                <a:cs typeface="Roboto"/>
                <a:sym typeface="Roboto"/>
              </a:rPr>
              <a:t>“win” “free” “money” “today”</a:t>
            </a:r>
            <a:endParaRPr b="1" sz="2200">
              <a:solidFill>
                <a:srgbClr val="374151"/>
              </a:solidFill>
              <a:latin typeface="Roboto"/>
              <a:ea typeface="Roboto"/>
              <a:cs typeface="Roboto"/>
              <a:sym typeface="Roboto"/>
            </a:endParaRPr>
          </a:p>
        </p:txBody>
      </p:sp>
      <p:sp>
        <p:nvSpPr>
          <p:cNvPr id="355" name="Google Shape;355;p31"/>
          <p:cNvSpPr/>
          <p:nvPr/>
        </p:nvSpPr>
        <p:spPr>
          <a:xfrm>
            <a:off x="4320175" y="3234525"/>
            <a:ext cx="380525" cy="626775"/>
          </a:xfrm>
          <a:custGeom>
            <a:rect b="b" l="l" r="r" t="t"/>
            <a:pathLst>
              <a:path extrusionOk="0" h="25071" w="15221">
                <a:moveTo>
                  <a:pt x="0" y="0"/>
                </a:moveTo>
                <a:cubicBezTo>
                  <a:pt x="3851" y="8986"/>
                  <a:pt x="8308" y="18158"/>
                  <a:pt x="15221" y="25071"/>
                </a:cubicBezTo>
              </a:path>
            </a:pathLst>
          </a:custGeom>
          <a:noFill/>
          <a:ln cap="flat" cmpd="sng" w="38100">
            <a:solidFill>
              <a:srgbClr val="FF0000"/>
            </a:solidFill>
            <a:prstDash val="solid"/>
            <a:round/>
            <a:headEnd len="med" w="med" type="none"/>
            <a:tailEnd len="med" w="med" type="none"/>
          </a:ln>
        </p:spPr>
      </p:sp>
      <p:sp>
        <p:nvSpPr>
          <p:cNvPr id="356" name="Google Shape;356;p31"/>
          <p:cNvSpPr/>
          <p:nvPr/>
        </p:nvSpPr>
        <p:spPr>
          <a:xfrm>
            <a:off x="4476875" y="3615075"/>
            <a:ext cx="268600" cy="283400"/>
          </a:xfrm>
          <a:custGeom>
            <a:rect b="b" l="l" r="r" t="t"/>
            <a:pathLst>
              <a:path extrusionOk="0" h="11336" w="10744">
                <a:moveTo>
                  <a:pt x="0" y="8058"/>
                </a:moveTo>
                <a:cubicBezTo>
                  <a:pt x="2618" y="8432"/>
                  <a:pt x="5314" y="8985"/>
                  <a:pt x="7610" y="10297"/>
                </a:cubicBezTo>
                <a:cubicBezTo>
                  <a:pt x="7915" y="10471"/>
                  <a:pt x="9777" y="11337"/>
                  <a:pt x="9849" y="11192"/>
                </a:cubicBezTo>
                <a:cubicBezTo>
                  <a:pt x="11524" y="7845"/>
                  <a:pt x="9069" y="3347"/>
                  <a:pt x="10744" y="0"/>
                </a:cubicBezTo>
              </a:path>
            </a:pathLst>
          </a:custGeom>
          <a:noFill/>
          <a:ln cap="flat" cmpd="sng" w="38100">
            <a:solidFill>
              <a:srgbClr val="FF0000"/>
            </a:solidFill>
            <a:prstDash val="solid"/>
            <a:round/>
            <a:headEnd len="med" w="med" type="none"/>
            <a:tailEnd len="med" w="med" type="none"/>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51"/>
                                        </p:tgtEl>
                                        <p:attrNameLst>
                                          <p:attrName>style.visibility</p:attrName>
                                        </p:attrNameLst>
                                      </p:cBhvr>
                                      <p:to>
                                        <p:strVal val="visible"/>
                                      </p:to>
                                    </p:set>
                                    <p:anim calcmode="lin" valueType="num">
                                      <p:cBhvr additive="base">
                                        <p:cTn dur="1000"/>
                                        <p:tgtEl>
                                          <p:spTgt spid="351"/>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52"/>
                                        </p:tgtEl>
                                        <p:attrNameLst>
                                          <p:attrName>style.visibility</p:attrName>
                                        </p:attrNameLst>
                                      </p:cBhvr>
                                      <p:to>
                                        <p:strVal val="visible"/>
                                      </p:to>
                                    </p:set>
                                    <p:anim calcmode="lin" valueType="num">
                                      <p:cBhvr additive="base">
                                        <p:cTn dur="1000"/>
                                        <p:tgtEl>
                                          <p:spTgt spid="352"/>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53"/>
                                        </p:tgtEl>
                                        <p:attrNameLst>
                                          <p:attrName>style.visibility</p:attrName>
                                        </p:attrNameLst>
                                      </p:cBhvr>
                                      <p:to>
                                        <p:strVal val="visible"/>
                                      </p:to>
                                    </p:set>
                                    <p:anim calcmode="lin" valueType="num">
                                      <p:cBhvr additive="base">
                                        <p:cTn dur="1000"/>
                                        <p:tgtEl>
                                          <p:spTgt spid="353"/>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55"/>
                                        </p:tgtEl>
                                        <p:attrNameLst>
                                          <p:attrName>style.visibility</p:attrName>
                                        </p:attrNameLst>
                                      </p:cBhvr>
                                      <p:to>
                                        <p:strVal val="visible"/>
                                      </p:to>
                                    </p:set>
                                    <p:anim calcmode="lin" valueType="num">
                                      <p:cBhvr additive="base">
                                        <p:cTn dur="1000"/>
                                        <p:tgtEl>
                                          <p:spTgt spid="355"/>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56"/>
                                        </p:tgtEl>
                                        <p:attrNameLst>
                                          <p:attrName>style.visibility</p:attrName>
                                        </p:attrNameLst>
                                      </p:cBhvr>
                                      <p:to>
                                        <p:strVal val="visible"/>
                                      </p:to>
                                    </p:set>
                                    <p:anim calcmode="lin" valueType="num">
                                      <p:cBhvr additive="base">
                                        <p:cTn dur="1000"/>
                                        <p:tgtEl>
                                          <p:spTgt spid="356"/>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54"/>
                                        </p:tgtEl>
                                        <p:attrNameLst>
                                          <p:attrName>style.visibility</p:attrName>
                                        </p:attrNameLst>
                                      </p:cBhvr>
                                      <p:to>
                                        <p:strVal val="visible"/>
                                      </p:to>
                                    </p:set>
                                    <p:anim calcmode="lin" valueType="num">
                                      <p:cBhvr additive="base">
                                        <p:cTn dur="1000"/>
                                        <p:tgtEl>
                                          <p:spTgt spid="354"/>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pic>
        <p:nvPicPr>
          <p:cNvPr id="361" name="Google Shape;361;p32" title="Points scored"/>
          <p:cNvPicPr preferRelativeResize="0"/>
          <p:nvPr/>
        </p:nvPicPr>
        <p:blipFill>
          <a:blip r:embed="rId3">
            <a:alphaModFix/>
          </a:blip>
          <a:stretch>
            <a:fillRect/>
          </a:stretch>
        </p:blipFill>
        <p:spPr>
          <a:xfrm>
            <a:off x="307350" y="1302058"/>
            <a:ext cx="5638125" cy="3486242"/>
          </a:xfrm>
          <a:prstGeom prst="rect">
            <a:avLst/>
          </a:prstGeom>
          <a:noFill/>
          <a:ln>
            <a:noFill/>
          </a:ln>
        </p:spPr>
      </p:pic>
      <p:sp>
        <p:nvSpPr>
          <p:cNvPr id="362" name="Google Shape;362;p32"/>
          <p:cNvSpPr txBox="1"/>
          <p:nvPr>
            <p:ph type="title"/>
          </p:nvPr>
        </p:nvSpPr>
        <p:spPr>
          <a:xfrm>
            <a:off x="307350" y="198975"/>
            <a:ext cx="7505700" cy="59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Training Process</a:t>
            </a:r>
            <a:endParaRPr b="1"/>
          </a:p>
        </p:txBody>
      </p:sp>
      <p:sp>
        <p:nvSpPr>
          <p:cNvPr id="363" name="Google Shape;363;p32"/>
          <p:cNvSpPr txBox="1"/>
          <p:nvPr/>
        </p:nvSpPr>
        <p:spPr>
          <a:xfrm>
            <a:off x="6227000" y="1302050"/>
            <a:ext cx="2558700" cy="2370300"/>
          </a:xfrm>
          <a:prstGeom prst="rect">
            <a:avLst/>
          </a:prstGeom>
          <a:solidFill>
            <a:srgbClr val="F4CCCC"/>
          </a:solidFill>
          <a:ln>
            <a:noFill/>
          </a:ln>
        </p:spPr>
        <p:txBody>
          <a:bodyPr anchorCtr="0" anchor="t" bIns="91425" lIns="91425" spcFirstLastPara="1" rIns="91425" wrap="square" tIns="91425">
            <a:spAutoFit/>
          </a:bodyPr>
          <a:lstStyle/>
          <a:p>
            <a:pPr indent="0" lvl="0" marL="0" rtl="0" algn="l">
              <a:lnSpc>
                <a:spcPct val="70000"/>
              </a:lnSpc>
              <a:spcBef>
                <a:spcPts val="0"/>
              </a:spcBef>
              <a:spcAft>
                <a:spcPts val="0"/>
              </a:spcAft>
              <a:buNone/>
            </a:pPr>
            <a:r>
              <a:rPr b="1" lang="en" sz="2000">
                <a:solidFill>
                  <a:srgbClr val="FF0000"/>
                </a:solidFill>
                <a:latin typeface="Calibri"/>
                <a:ea typeface="Calibri"/>
                <a:cs typeface="Calibri"/>
                <a:sym typeface="Calibri"/>
              </a:rPr>
              <a:t>P("win"∣ham)=0.9,    P("win"∣spam)=0.1</a:t>
            </a:r>
            <a:endParaRPr b="1" sz="2000">
              <a:solidFill>
                <a:srgbClr val="FF0000"/>
              </a:solidFill>
              <a:latin typeface="Calibri"/>
              <a:ea typeface="Calibri"/>
              <a:cs typeface="Calibri"/>
              <a:sym typeface="Calibri"/>
            </a:endParaRPr>
          </a:p>
          <a:p>
            <a:pPr indent="0" lvl="0" marL="0" rtl="0" algn="l">
              <a:lnSpc>
                <a:spcPct val="70000"/>
              </a:lnSpc>
              <a:spcBef>
                <a:spcPts val="1200"/>
              </a:spcBef>
              <a:spcAft>
                <a:spcPts val="0"/>
              </a:spcAft>
              <a:buNone/>
            </a:pPr>
            <a:r>
              <a:rPr b="1" lang="en" sz="2000">
                <a:solidFill>
                  <a:srgbClr val="FF0000"/>
                </a:solidFill>
                <a:latin typeface="Calibri"/>
                <a:ea typeface="Calibri"/>
                <a:cs typeface="Calibri"/>
                <a:sym typeface="Calibri"/>
              </a:rPr>
              <a:t>P("free"∣ham)=0.2,    P("free"∣spam)=0.8</a:t>
            </a:r>
            <a:endParaRPr b="1" sz="2000">
              <a:solidFill>
                <a:srgbClr val="FF0000"/>
              </a:solidFill>
              <a:latin typeface="Calibri"/>
              <a:ea typeface="Calibri"/>
              <a:cs typeface="Calibri"/>
              <a:sym typeface="Calibri"/>
            </a:endParaRPr>
          </a:p>
          <a:p>
            <a:pPr indent="0" lvl="0" marL="0" rtl="0" algn="l">
              <a:lnSpc>
                <a:spcPct val="70000"/>
              </a:lnSpc>
              <a:spcBef>
                <a:spcPts val="1200"/>
              </a:spcBef>
              <a:spcAft>
                <a:spcPts val="0"/>
              </a:spcAft>
              <a:buNone/>
            </a:pPr>
            <a:r>
              <a:rPr b="1" lang="en" sz="2000">
                <a:solidFill>
                  <a:srgbClr val="FF0000"/>
                </a:solidFill>
                <a:latin typeface="Calibri"/>
                <a:ea typeface="Calibri"/>
                <a:cs typeface="Calibri"/>
                <a:sym typeface="Calibri"/>
              </a:rPr>
              <a:t>P("money"∣ham)=0.3,  P("money"∣spam)=0.7</a:t>
            </a:r>
            <a:endParaRPr b="1" sz="2000">
              <a:solidFill>
                <a:srgbClr val="FF0000"/>
              </a:solidFill>
              <a:latin typeface="Calibri"/>
              <a:ea typeface="Calibri"/>
              <a:cs typeface="Calibri"/>
              <a:sym typeface="Calibri"/>
            </a:endParaRPr>
          </a:p>
          <a:p>
            <a:pPr indent="0" lvl="0" marL="0" rtl="0" algn="l">
              <a:lnSpc>
                <a:spcPct val="70000"/>
              </a:lnSpc>
              <a:spcBef>
                <a:spcPts val="1200"/>
              </a:spcBef>
              <a:spcAft>
                <a:spcPts val="1200"/>
              </a:spcAft>
              <a:buNone/>
            </a:pPr>
            <a:r>
              <a:rPr b="1" lang="en" sz="2000">
                <a:solidFill>
                  <a:srgbClr val="FF0000"/>
                </a:solidFill>
                <a:latin typeface="Calibri"/>
                <a:ea typeface="Calibri"/>
                <a:cs typeface="Calibri"/>
                <a:sym typeface="Calibri"/>
              </a:rPr>
              <a:t>P("today"∣ham)=0.5, P("today"∣spam)=0.5</a:t>
            </a:r>
            <a:endParaRPr b="1" sz="2000">
              <a:solidFill>
                <a:srgbClr val="FF0000"/>
              </a:solidFill>
              <a:latin typeface="Calibri"/>
              <a:ea typeface="Calibri"/>
              <a:cs typeface="Calibri"/>
              <a:sym typeface="Calibri"/>
            </a:endParaRPr>
          </a:p>
        </p:txBody>
      </p:sp>
      <p:sp>
        <p:nvSpPr>
          <p:cNvPr id="364" name="Google Shape;364;p32"/>
          <p:cNvSpPr txBox="1"/>
          <p:nvPr>
            <p:ph type="title"/>
          </p:nvPr>
        </p:nvSpPr>
        <p:spPr>
          <a:xfrm>
            <a:off x="374500" y="743100"/>
            <a:ext cx="7505700" cy="59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2.  For every words in each email</a:t>
            </a:r>
            <a:endParaRPr b="1"/>
          </a:p>
        </p:txBody>
      </p:sp>
      <p:sp>
        <p:nvSpPr>
          <p:cNvPr id="365" name="Google Shape;365;p32"/>
          <p:cNvSpPr/>
          <p:nvPr/>
        </p:nvSpPr>
        <p:spPr>
          <a:xfrm>
            <a:off x="734648" y="4141054"/>
            <a:ext cx="495400" cy="392975"/>
          </a:xfrm>
          <a:custGeom>
            <a:rect b="b" l="l" r="r" t="t"/>
            <a:pathLst>
              <a:path extrusionOk="0" h="15719" w="19816">
                <a:moveTo>
                  <a:pt x="6898" y="688"/>
                </a:moveTo>
                <a:cubicBezTo>
                  <a:pt x="3561" y="2356"/>
                  <a:pt x="-549" y="5984"/>
                  <a:pt x="183" y="9642"/>
                </a:cubicBezTo>
                <a:cubicBezTo>
                  <a:pt x="1230" y="14871"/>
                  <a:pt x="10775" y="17212"/>
                  <a:pt x="15405" y="14566"/>
                </a:cubicBezTo>
                <a:cubicBezTo>
                  <a:pt x="18129" y="13009"/>
                  <a:pt x="20670" y="8944"/>
                  <a:pt x="19434" y="6060"/>
                </a:cubicBezTo>
                <a:cubicBezTo>
                  <a:pt x="17643" y="1881"/>
                  <a:pt x="10964" y="-1345"/>
                  <a:pt x="6898" y="688"/>
                </a:cubicBezTo>
              </a:path>
            </a:pathLst>
          </a:custGeom>
          <a:noFill/>
          <a:ln cap="flat" cmpd="sng" w="38100">
            <a:solidFill>
              <a:srgbClr val="FF0000"/>
            </a:solidFill>
            <a:prstDash val="solid"/>
            <a:round/>
            <a:headEnd len="med" w="med" type="none"/>
            <a:tailEnd len="med" w="med" type="none"/>
          </a:ln>
        </p:spPr>
      </p:sp>
      <p:sp>
        <p:nvSpPr>
          <p:cNvPr id="366" name="Google Shape;366;p32"/>
          <p:cNvSpPr/>
          <p:nvPr/>
        </p:nvSpPr>
        <p:spPr>
          <a:xfrm>
            <a:off x="734650" y="3557852"/>
            <a:ext cx="495400" cy="392975"/>
          </a:xfrm>
          <a:custGeom>
            <a:rect b="b" l="l" r="r" t="t"/>
            <a:pathLst>
              <a:path extrusionOk="0" h="15719" w="19816">
                <a:moveTo>
                  <a:pt x="6898" y="688"/>
                </a:moveTo>
                <a:cubicBezTo>
                  <a:pt x="3561" y="2356"/>
                  <a:pt x="-549" y="5984"/>
                  <a:pt x="183" y="9642"/>
                </a:cubicBezTo>
                <a:cubicBezTo>
                  <a:pt x="1230" y="14871"/>
                  <a:pt x="10775" y="17212"/>
                  <a:pt x="15405" y="14566"/>
                </a:cubicBezTo>
                <a:cubicBezTo>
                  <a:pt x="18129" y="13009"/>
                  <a:pt x="20670" y="8944"/>
                  <a:pt x="19434" y="6060"/>
                </a:cubicBezTo>
                <a:cubicBezTo>
                  <a:pt x="17643" y="1881"/>
                  <a:pt x="10964" y="-1345"/>
                  <a:pt x="6898" y="688"/>
                </a:cubicBezTo>
              </a:path>
            </a:pathLst>
          </a:custGeom>
          <a:noFill/>
          <a:ln cap="flat" cmpd="sng" w="38100">
            <a:solidFill>
              <a:srgbClr val="FF0000"/>
            </a:solidFill>
            <a:prstDash val="solid"/>
            <a:round/>
            <a:headEnd len="med" w="med" type="none"/>
            <a:tailEnd len="med" w="med" type="none"/>
          </a:ln>
        </p:spPr>
      </p:sp>
      <p:sp>
        <p:nvSpPr>
          <p:cNvPr id="367" name="Google Shape;367;p32"/>
          <p:cNvSpPr/>
          <p:nvPr/>
        </p:nvSpPr>
        <p:spPr>
          <a:xfrm>
            <a:off x="307341" y="3727000"/>
            <a:ext cx="484500" cy="660325"/>
          </a:xfrm>
          <a:custGeom>
            <a:rect b="b" l="l" r="r" t="t"/>
            <a:pathLst>
              <a:path extrusionOk="0" h="26413" w="19380">
                <a:moveTo>
                  <a:pt x="17142" y="26413"/>
                </a:moveTo>
                <a:cubicBezTo>
                  <a:pt x="9868" y="22778"/>
                  <a:pt x="-2726" y="15936"/>
                  <a:pt x="577" y="8506"/>
                </a:cubicBezTo>
                <a:cubicBezTo>
                  <a:pt x="3371" y="2220"/>
                  <a:pt x="12501" y="0"/>
                  <a:pt x="19380" y="0"/>
                </a:cubicBezTo>
              </a:path>
            </a:pathLst>
          </a:custGeom>
          <a:noFill/>
          <a:ln cap="flat" cmpd="sng" w="38100">
            <a:solidFill>
              <a:srgbClr val="FF0000"/>
            </a:solidFill>
            <a:prstDash val="solid"/>
            <a:round/>
            <a:headEnd len="med" w="med" type="none"/>
            <a:tailEnd len="med" w="med" type="none"/>
          </a:ln>
        </p:spPr>
      </p:sp>
      <p:sp>
        <p:nvSpPr>
          <p:cNvPr id="368" name="Google Shape;368;p32"/>
          <p:cNvSpPr/>
          <p:nvPr/>
        </p:nvSpPr>
        <p:spPr>
          <a:xfrm>
            <a:off x="370263" y="3648650"/>
            <a:ext cx="358675" cy="302200"/>
          </a:xfrm>
          <a:custGeom>
            <a:rect b="b" l="l" r="r" t="t"/>
            <a:pathLst>
              <a:path extrusionOk="0" h="12088" w="14347">
                <a:moveTo>
                  <a:pt x="0" y="0"/>
                </a:moveTo>
                <a:cubicBezTo>
                  <a:pt x="3210" y="1427"/>
                  <a:pt x="6788" y="2072"/>
                  <a:pt x="10297" y="2239"/>
                </a:cubicBezTo>
                <a:cubicBezTo>
                  <a:pt x="13578" y="2395"/>
                  <a:pt x="14348" y="2194"/>
                  <a:pt x="14326" y="2239"/>
                </a:cubicBezTo>
                <a:cubicBezTo>
                  <a:pt x="11895" y="7096"/>
                  <a:pt x="5183" y="8246"/>
                  <a:pt x="1343" y="12088"/>
                </a:cubicBezTo>
              </a:path>
            </a:pathLst>
          </a:custGeom>
          <a:noFill/>
          <a:ln cap="flat" cmpd="sng" w="38100">
            <a:solidFill>
              <a:srgbClr val="FF0000"/>
            </a:solidFill>
            <a:prstDash val="solid"/>
            <a:round/>
            <a:headEnd len="med" w="med" type="none"/>
            <a:tailEnd len="med" w="med" type="none"/>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62"/>
                                        </p:tgtEl>
                                        <p:attrNameLst>
                                          <p:attrName>style.visibility</p:attrName>
                                        </p:attrNameLst>
                                      </p:cBhvr>
                                      <p:to>
                                        <p:strVal val="visible"/>
                                      </p:to>
                                    </p:set>
                                    <p:anim calcmode="lin" valueType="num">
                                      <p:cBhvr additive="base">
                                        <p:cTn dur="1000"/>
                                        <p:tgtEl>
                                          <p:spTgt spid="362"/>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61"/>
                                        </p:tgtEl>
                                        <p:attrNameLst>
                                          <p:attrName>style.visibility</p:attrName>
                                        </p:attrNameLst>
                                      </p:cBhvr>
                                      <p:to>
                                        <p:strVal val="visible"/>
                                      </p:to>
                                    </p:set>
                                    <p:anim calcmode="lin" valueType="num">
                                      <p:cBhvr additive="base">
                                        <p:cTn dur="1000"/>
                                        <p:tgtEl>
                                          <p:spTgt spid="361"/>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363"/>
                                        </p:tgtEl>
                                        <p:attrNameLst>
                                          <p:attrName>style.visibility</p:attrName>
                                        </p:attrNameLst>
                                      </p:cBhvr>
                                      <p:to>
                                        <p:strVal val="visible"/>
                                      </p:to>
                                    </p:set>
                                    <p:anim calcmode="lin" valueType="num">
                                      <p:cBhvr additive="base">
                                        <p:cTn dur="1000"/>
                                        <p:tgtEl>
                                          <p:spTgt spid="363"/>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33"/>
          <p:cNvSpPr txBox="1"/>
          <p:nvPr/>
        </p:nvSpPr>
        <p:spPr>
          <a:xfrm>
            <a:off x="344650" y="2160075"/>
            <a:ext cx="2607600" cy="2370300"/>
          </a:xfrm>
          <a:prstGeom prst="rect">
            <a:avLst/>
          </a:prstGeom>
          <a:solidFill>
            <a:srgbClr val="F4CCCC"/>
          </a:solidFill>
          <a:ln>
            <a:noFill/>
          </a:ln>
        </p:spPr>
        <p:txBody>
          <a:bodyPr anchorCtr="0" anchor="t" bIns="91425" lIns="91425" spcFirstLastPara="1" rIns="91425" wrap="square" tIns="91425">
            <a:spAutoFit/>
          </a:bodyPr>
          <a:lstStyle/>
          <a:p>
            <a:pPr indent="0" lvl="0" marL="0" rtl="0" algn="l">
              <a:lnSpc>
                <a:spcPct val="70000"/>
              </a:lnSpc>
              <a:spcBef>
                <a:spcPts val="0"/>
              </a:spcBef>
              <a:spcAft>
                <a:spcPts val="0"/>
              </a:spcAft>
              <a:buNone/>
            </a:pPr>
            <a:r>
              <a:rPr b="1" lang="en" sz="2000">
                <a:solidFill>
                  <a:srgbClr val="FF0000"/>
                </a:solidFill>
                <a:latin typeface="Calibri"/>
                <a:ea typeface="Calibri"/>
                <a:cs typeface="Calibri"/>
                <a:sym typeface="Calibri"/>
              </a:rPr>
              <a:t>P("win"∣ham)=0.1,    P("win"∣spam)=0.9</a:t>
            </a:r>
            <a:endParaRPr b="1" sz="2000">
              <a:solidFill>
                <a:srgbClr val="FF0000"/>
              </a:solidFill>
              <a:latin typeface="Calibri"/>
              <a:ea typeface="Calibri"/>
              <a:cs typeface="Calibri"/>
              <a:sym typeface="Calibri"/>
            </a:endParaRPr>
          </a:p>
          <a:p>
            <a:pPr indent="0" lvl="0" marL="0" rtl="0" algn="l">
              <a:lnSpc>
                <a:spcPct val="70000"/>
              </a:lnSpc>
              <a:spcBef>
                <a:spcPts val="1200"/>
              </a:spcBef>
              <a:spcAft>
                <a:spcPts val="0"/>
              </a:spcAft>
              <a:buNone/>
            </a:pPr>
            <a:r>
              <a:rPr b="1" lang="en" sz="2000">
                <a:solidFill>
                  <a:srgbClr val="FF0000"/>
                </a:solidFill>
                <a:latin typeface="Calibri"/>
                <a:ea typeface="Calibri"/>
                <a:cs typeface="Calibri"/>
                <a:sym typeface="Calibri"/>
              </a:rPr>
              <a:t>P("free"∣ham)=0.2,    P("free"∣spam)=0.8</a:t>
            </a:r>
            <a:endParaRPr b="1" sz="2000">
              <a:solidFill>
                <a:srgbClr val="FF0000"/>
              </a:solidFill>
              <a:latin typeface="Calibri"/>
              <a:ea typeface="Calibri"/>
              <a:cs typeface="Calibri"/>
              <a:sym typeface="Calibri"/>
            </a:endParaRPr>
          </a:p>
          <a:p>
            <a:pPr indent="0" lvl="0" marL="0" rtl="0" algn="l">
              <a:lnSpc>
                <a:spcPct val="70000"/>
              </a:lnSpc>
              <a:spcBef>
                <a:spcPts val="1200"/>
              </a:spcBef>
              <a:spcAft>
                <a:spcPts val="0"/>
              </a:spcAft>
              <a:buNone/>
            </a:pPr>
            <a:r>
              <a:rPr b="1" lang="en" sz="2000">
                <a:solidFill>
                  <a:srgbClr val="FF0000"/>
                </a:solidFill>
                <a:latin typeface="Calibri"/>
                <a:ea typeface="Calibri"/>
                <a:cs typeface="Calibri"/>
                <a:sym typeface="Calibri"/>
              </a:rPr>
              <a:t>P("money"∣ham)=0.3,  P("money"∣spam)=0.7</a:t>
            </a:r>
            <a:endParaRPr b="1" sz="2000">
              <a:solidFill>
                <a:srgbClr val="FF0000"/>
              </a:solidFill>
              <a:latin typeface="Calibri"/>
              <a:ea typeface="Calibri"/>
              <a:cs typeface="Calibri"/>
              <a:sym typeface="Calibri"/>
            </a:endParaRPr>
          </a:p>
          <a:p>
            <a:pPr indent="0" lvl="0" marL="0" rtl="0" algn="l">
              <a:lnSpc>
                <a:spcPct val="70000"/>
              </a:lnSpc>
              <a:spcBef>
                <a:spcPts val="1200"/>
              </a:spcBef>
              <a:spcAft>
                <a:spcPts val="1200"/>
              </a:spcAft>
              <a:buNone/>
            </a:pPr>
            <a:r>
              <a:rPr b="1" lang="en" sz="2000">
                <a:solidFill>
                  <a:srgbClr val="FF0000"/>
                </a:solidFill>
                <a:latin typeface="Calibri"/>
                <a:ea typeface="Calibri"/>
                <a:cs typeface="Calibri"/>
                <a:sym typeface="Calibri"/>
              </a:rPr>
              <a:t>P("today"∣ham)=0.5, P("today"∣spam)=0.5</a:t>
            </a:r>
            <a:endParaRPr b="1" sz="2000">
              <a:solidFill>
                <a:srgbClr val="FF0000"/>
              </a:solidFill>
              <a:latin typeface="Calibri"/>
              <a:ea typeface="Calibri"/>
              <a:cs typeface="Calibri"/>
              <a:sym typeface="Calibri"/>
            </a:endParaRPr>
          </a:p>
        </p:txBody>
      </p:sp>
      <p:sp>
        <p:nvSpPr>
          <p:cNvPr id="374" name="Google Shape;374;p33"/>
          <p:cNvSpPr txBox="1"/>
          <p:nvPr/>
        </p:nvSpPr>
        <p:spPr>
          <a:xfrm>
            <a:off x="344650" y="1272975"/>
            <a:ext cx="1837800" cy="892800"/>
          </a:xfrm>
          <a:prstGeom prst="rect">
            <a:avLst/>
          </a:prstGeom>
          <a:solidFill>
            <a:srgbClr val="D9D9D9"/>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300">
                <a:solidFill>
                  <a:srgbClr val="0000FF"/>
                </a:solidFill>
                <a:latin typeface="Calibri"/>
                <a:ea typeface="Calibri"/>
                <a:cs typeface="Calibri"/>
                <a:sym typeface="Calibri"/>
              </a:rPr>
              <a:t>P(spam) = 0.3</a:t>
            </a:r>
            <a:endParaRPr b="1" sz="2300">
              <a:solidFill>
                <a:srgbClr val="0000FF"/>
              </a:solidFill>
              <a:latin typeface="Calibri"/>
              <a:ea typeface="Calibri"/>
              <a:cs typeface="Calibri"/>
              <a:sym typeface="Calibri"/>
            </a:endParaRPr>
          </a:p>
          <a:p>
            <a:pPr indent="0" lvl="0" marL="0" rtl="0" algn="l">
              <a:spcBef>
                <a:spcPts val="0"/>
              </a:spcBef>
              <a:spcAft>
                <a:spcPts val="0"/>
              </a:spcAft>
              <a:buNone/>
            </a:pPr>
            <a:r>
              <a:rPr b="1" lang="en" sz="2300">
                <a:solidFill>
                  <a:srgbClr val="0000FF"/>
                </a:solidFill>
                <a:latin typeface="Calibri"/>
                <a:ea typeface="Calibri"/>
                <a:cs typeface="Calibri"/>
                <a:sym typeface="Calibri"/>
              </a:rPr>
              <a:t>P(ham) = 0.7</a:t>
            </a:r>
            <a:endParaRPr b="1" sz="2300">
              <a:solidFill>
                <a:srgbClr val="0000FF"/>
              </a:solidFill>
              <a:latin typeface="Calibri"/>
              <a:ea typeface="Calibri"/>
              <a:cs typeface="Calibri"/>
              <a:sym typeface="Calibri"/>
            </a:endParaRPr>
          </a:p>
        </p:txBody>
      </p:sp>
      <p:sp>
        <p:nvSpPr>
          <p:cNvPr id="375" name="Google Shape;375;p33"/>
          <p:cNvSpPr txBox="1"/>
          <p:nvPr/>
        </p:nvSpPr>
        <p:spPr>
          <a:xfrm>
            <a:off x="2952363" y="1809000"/>
            <a:ext cx="1936200" cy="447900"/>
          </a:xfrm>
          <a:prstGeom prst="rect">
            <a:avLst/>
          </a:prstGeom>
          <a:noFill/>
          <a:ln>
            <a:noFill/>
          </a:ln>
        </p:spPr>
        <p:txBody>
          <a:bodyPr anchorCtr="0" anchor="t" bIns="91425" lIns="91425" spcFirstLastPara="1" rIns="91425" wrap="square" tIns="91425">
            <a:spAutoFit/>
          </a:bodyPr>
          <a:lstStyle/>
          <a:p>
            <a:pPr indent="0" lvl="0" marL="0" rtl="0" algn="l">
              <a:lnSpc>
                <a:spcPct val="95000"/>
              </a:lnSpc>
              <a:spcBef>
                <a:spcPts val="0"/>
              </a:spcBef>
              <a:spcAft>
                <a:spcPts val="1200"/>
              </a:spcAft>
              <a:buNone/>
            </a:pPr>
            <a:r>
              <a:rPr lang="en" sz="1800">
                <a:solidFill>
                  <a:srgbClr val="374151"/>
                </a:solidFill>
                <a:latin typeface="Roboto"/>
                <a:ea typeface="Roboto"/>
                <a:cs typeface="Roboto"/>
                <a:sym typeface="Roboto"/>
              </a:rPr>
              <a:t>P(</a:t>
            </a:r>
            <a:r>
              <a:rPr lang="en" sz="1800">
                <a:solidFill>
                  <a:srgbClr val="374151"/>
                </a:solidFill>
                <a:latin typeface="Roboto"/>
                <a:ea typeface="Roboto"/>
                <a:cs typeface="Roboto"/>
                <a:sym typeface="Roboto"/>
              </a:rPr>
              <a:t>sp</a:t>
            </a:r>
            <a:r>
              <a:rPr lang="en" sz="1800">
                <a:solidFill>
                  <a:srgbClr val="374151"/>
                </a:solidFill>
                <a:latin typeface="Roboto"/>
                <a:ea typeface="Roboto"/>
                <a:cs typeface="Roboto"/>
                <a:sym typeface="Roboto"/>
              </a:rPr>
              <a:t>am|words)</a:t>
            </a:r>
            <a:endParaRPr sz="1800"/>
          </a:p>
        </p:txBody>
      </p:sp>
      <p:sp>
        <p:nvSpPr>
          <p:cNvPr id="376" name="Google Shape;376;p33"/>
          <p:cNvSpPr/>
          <p:nvPr/>
        </p:nvSpPr>
        <p:spPr>
          <a:xfrm>
            <a:off x="4631625" y="1814700"/>
            <a:ext cx="447600" cy="436500"/>
          </a:xfrm>
          <a:prstGeom prst="mathEqual">
            <a:avLst>
              <a:gd fmla="val 23520" name="adj1"/>
              <a:gd fmla="val 1176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77" name="Google Shape;377;p33"/>
          <p:cNvSpPr/>
          <p:nvPr/>
        </p:nvSpPr>
        <p:spPr>
          <a:xfrm>
            <a:off x="4499925" y="2148700"/>
            <a:ext cx="4986600" cy="284100"/>
          </a:xfrm>
          <a:prstGeom prst="mathMin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78" name="Google Shape;378;p33"/>
          <p:cNvSpPr txBox="1"/>
          <p:nvPr/>
        </p:nvSpPr>
        <p:spPr>
          <a:xfrm>
            <a:off x="5457050" y="931125"/>
            <a:ext cx="3290100" cy="1237500"/>
          </a:xfrm>
          <a:prstGeom prst="rect">
            <a:avLst/>
          </a:prstGeom>
          <a:noFill/>
          <a:ln>
            <a:noFill/>
          </a:ln>
        </p:spPr>
        <p:txBody>
          <a:bodyPr anchorCtr="0" anchor="t" bIns="91425" lIns="91425" spcFirstLastPara="1" rIns="91425" wrap="square" tIns="91425">
            <a:spAutoFit/>
          </a:bodyPr>
          <a:lstStyle/>
          <a:p>
            <a:pPr indent="0" lvl="0" marL="0" rtl="0" algn="l">
              <a:lnSpc>
                <a:spcPct val="95000"/>
              </a:lnSpc>
              <a:spcBef>
                <a:spcPts val="0"/>
              </a:spcBef>
              <a:spcAft>
                <a:spcPts val="1200"/>
              </a:spcAft>
              <a:buNone/>
            </a:pPr>
            <a:r>
              <a:rPr b="1" lang="en" sz="1800">
                <a:solidFill>
                  <a:srgbClr val="374151"/>
                </a:solidFill>
                <a:latin typeface="Roboto"/>
                <a:ea typeface="Roboto"/>
                <a:cs typeface="Roboto"/>
                <a:sym typeface="Roboto"/>
              </a:rPr>
              <a:t>P(wordA|spam)</a:t>
            </a:r>
            <a:r>
              <a:rPr lang="en" sz="1800">
                <a:solidFill>
                  <a:srgbClr val="374151"/>
                </a:solidFill>
                <a:latin typeface="Roboto"/>
                <a:ea typeface="Roboto"/>
                <a:cs typeface="Roboto"/>
                <a:sym typeface="Roboto"/>
              </a:rPr>
              <a:t> * </a:t>
            </a:r>
            <a:r>
              <a:rPr b="1" lang="en" sz="1800">
                <a:solidFill>
                  <a:srgbClr val="374151"/>
                </a:solidFill>
                <a:latin typeface="Roboto"/>
                <a:ea typeface="Roboto"/>
                <a:cs typeface="Roboto"/>
                <a:sym typeface="Roboto"/>
              </a:rPr>
              <a:t>P(wordB|spam)</a:t>
            </a:r>
            <a:r>
              <a:rPr lang="en" sz="1800">
                <a:solidFill>
                  <a:srgbClr val="374151"/>
                </a:solidFill>
                <a:latin typeface="Roboto"/>
                <a:ea typeface="Roboto"/>
                <a:cs typeface="Roboto"/>
                <a:sym typeface="Roboto"/>
              </a:rPr>
              <a:t> * </a:t>
            </a:r>
            <a:r>
              <a:rPr b="1" lang="en" sz="1800">
                <a:solidFill>
                  <a:srgbClr val="374151"/>
                </a:solidFill>
                <a:latin typeface="Roboto"/>
                <a:ea typeface="Roboto"/>
                <a:cs typeface="Roboto"/>
                <a:sym typeface="Roboto"/>
              </a:rPr>
              <a:t>P(wordC|spam)</a:t>
            </a:r>
            <a:r>
              <a:rPr lang="en" sz="1800">
                <a:solidFill>
                  <a:srgbClr val="374151"/>
                </a:solidFill>
                <a:latin typeface="Roboto"/>
                <a:ea typeface="Roboto"/>
                <a:cs typeface="Roboto"/>
                <a:sym typeface="Roboto"/>
              </a:rPr>
              <a:t> * </a:t>
            </a:r>
            <a:r>
              <a:rPr b="1" lang="en" sz="1800">
                <a:solidFill>
                  <a:srgbClr val="374151"/>
                </a:solidFill>
                <a:latin typeface="Roboto"/>
                <a:ea typeface="Roboto"/>
                <a:cs typeface="Roboto"/>
                <a:sym typeface="Roboto"/>
              </a:rPr>
              <a:t>P(wordD|spam) </a:t>
            </a:r>
            <a:r>
              <a:rPr lang="en" sz="1800">
                <a:solidFill>
                  <a:srgbClr val="374151"/>
                </a:solidFill>
                <a:latin typeface="Roboto"/>
                <a:ea typeface="Roboto"/>
                <a:cs typeface="Roboto"/>
                <a:sym typeface="Roboto"/>
              </a:rPr>
              <a:t>* P(spam) </a:t>
            </a:r>
            <a:endParaRPr sz="1800">
              <a:solidFill>
                <a:srgbClr val="374151"/>
              </a:solidFill>
              <a:latin typeface="Roboto"/>
              <a:ea typeface="Roboto"/>
              <a:cs typeface="Roboto"/>
              <a:sym typeface="Roboto"/>
            </a:endParaRPr>
          </a:p>
        </p:txBody>
      </p:sp>
      <p:sp>
        <p:nvSpPr>
          <p:cNvPr id="379" name="Google Shape;379;p33"/>
          <p:cNvSpPr txBox="1"/>
          <p:nvPr/>
        </p:nvSpPr>
        <p:spPr>
          <a:xfrm>
            <a:off x="6486550" y="2186596"/>
            <a:ext cx="3000000" cy="447900"/>
          </a:xfrm>
          <a:prstGeom prst="rect">
            <a:avLst/>
          </a:prstGeom>
          <a:noFill/>
          <a:ln>
            <a:noFill/>
          </a:ln>
        </p:spPr>
        <p:txBody>
          <a:bodyPr anchorCtr="0" anchor="t" bIns="91425" lIns="91425" spcFirstLastPara="1" rIns="91425" wrap="square" tIns="91425">
            <a:spAutoFit/>
          </a:bodyPr>
          <a:lstStyle/>
          <a:p>
            <a:pPr indent="0" lvl="0" marL="0" rtl="0" algn="l">
              <a:lnSpc>
                <a:spcPct val="95000"/>
              </a:lnSpc>
              <a:spcBef>
                <a:spcPts val="0"/>
              </a:spcBef>
              <a:spcAft>
                <a:spcPts val="1200"/>
              </a:spcAft>
              <a:buNone/>
            </a:pPr>
            <a:r>
              <a:rPr lang="en" sz="1800">
                <a:solidFill>
                  <a:srgbClr val="374151"/>
                </a:solidFill>
                <a:latin typeface="Roboto"/>
                <a:ea typeface="Roboto"/>
                <a:cs typeface="Roboto"/>
                <a:sym typeface="Roboto"/>
              </a:rPr>
              <a:t>P(words)                                     </a:t>
            </a:r>
            <a:endParaRPr sz="1800"/>
          </a:p>
        </p:txBody>
      </p:sp>
      <p:sp>
        <p:nvSpPr>
          <p:cNvPr id="380" name="Google Shape;380;p33"/>
          <p:cNvSpPr/>
          <p:nvPr/>
        </p:nvSpPr>
        <p:spPr>
          <a:xfrm>
            <a:off x="6221825" y="2222900"/>
            <a:ext cx="1570125" cy="376547"/>
          </a:xfrm>
          <a:custGeom>
            <a:rect b="b" l="l" r="r" t="t"/>
            <a:pathLst>
              <a:path extrusionOk="0" h="36189" w="62805">
                <a:moveTo>
                  <a:pt x="21309" y="2598"/>
                </a:moveTo>
                <a:cubicBezTo>
                  <a:pt x="14835" y="2598"/>
                  <a:pt x="7894" y="6049"/>
                  <a:pt x="3849" y="11104"/>
                </a:cubicBezTo>
                <a:cubicBezTo>
                  <a:pt x="22" y="15887"/>
                  <a:pt x="-1831" y="25634"/>
                  <a:pt x="2954" y="29459"/>
                </a:cubicBezTo>
                <a:cubicBezTo>
                  <a:pt x="13638" y="38000"/>
                  <a:pt x="30200" y="36629"/>
                  <a:pt x="43693" y="34384"/>
                </a:cubicBezTo>
                <a:cubicBezTo>
                  <a:pt x="50212" y="33299"/>
                  <a:pt x="58392" y="31655"/>
                  <a:pt x="61601" y="25878"/>
                </a:cubicBezTo>
                <a:cubicBezTo>
                  <a:pt x="66325" y="17373"/>
                  <a:pt x="55370" y="3615"/>
                  <a:pt x="45932" y="1255"/>
                </a:cubicBezTo>
                <a:cubicBezTo>
                  <a:pt x="36078" y="-1209"/>
                  <a:pt x="25449" y="605"/>
                  <a:pt x="15489" y="2598"/>
                </a:cubicBezTo>
              </a:path>
            </a:pathLst>
          </a:custGeom>
          <a:noFill/>
          <a:ln cap="flat" cmpd="sng" w="38100">
            <a:solidFill>
              <a:srgbClr val="0000FF"/>
            </a:solidFill>
            <a:prstDash val="solid"/>
            <a:round/>
            <a:headEnd len="med" w="med" type="none"/>
            <a:tailEnd len="med" w="med" type="none"/>
          </a:ln>
        </p:spPr>
      </p:sp>
      <p:sp>
        <p:nvSpPr>
          <p:cNvPr id="381" name="Google Shape;381;p33"/>
          <p:cNvSpPr/>
          <p:nvPr/>
        </p:nvSpPr>
        <p:spPr>
          <a:xfrm>
            <a:off x="6718750" y="2192318"/>
            <a:ext cx="734093" cy="436452"/>
          </a:xfrm>
          <a:custGeom>
            <a:rect b="b" l="l" r="r" t="t"/>
            <a:pathLst>
              <a:path extrusionOk="0" h="40291" w="62676">
                <a:moveTo>
                  <a:pt x="62676" y="40291"/>
                </a:moveTo>
                <a:cubicBezTo>
                  <a:pt x="49615" y="37031"/>
                  <a:pt x="39158" y="27076"/>
                  <a:pt x="28204" y="19250"/>
                </a:cubicBezTo>
                <a:cubicBezTo>
                  <a:pt x="18942" y="12633"/>
                  <a:pt x="5095" y="10178"/>
                  <a:pt x="0" y="0"/>
                </a:cubicBezTo>
              </a:path>
            </a:pathLst>
          </a:custGeom>
          <a:noFill/>
          <a:ln cap="flat" cmpd="sng" w="38100">
            <a:solidFill>
              <a:srgbClr val="0000FF"/>
            </a:solidFill>
            <a:prstDash val="solid"/>
            <a:round/>
            <a:headEnd len="med" w="med" type="none"/>
            <a:tailEnd len="med" w="med" type="none"/>
          </a:ln>
        </p:spPr>
      </p:sp>
      <p:sp>
        <p:nvSpPr>
          <p:cNvPr id="382" name="Google Shape;382;p33"/>
          <p:cNvSpPr/>
          <p:nvPr/>
        </p:nvSpPr>
        <p:spPr>
          <a:xfrm>
            <a:off x="5411950" y="931225"/>
            <a:ext cx="1936237" cy="1237543"/>
          </a:xfrm>
          <a:custGeom>
            <a:rect b="b" l="l" r="r" t="t"/>
            <a:pathLst>
              <a:path extrusionOk="0" h="76866" w="105002">
                <a:moveTo>
                  <a:pt x="36768" y="2950"/>
                </a:moveTo>
                <a:cubicBezTo>
                  <a:pt x="25793" y="2950"/>
                  <a:pt x="11560" y="1234"/>
                  <a:pt x="4534" y="9666"/>
                </a:cubicBezTo>
                <a:cubicBezTo>
                  <a:pt x="-3492" y="19299"/>
                  <a:pt x="1178" y="34976"/>
                  <a:pt x="3639" y="47271"/>
                </a:cubicBezTo>
                <a:cubicBezTo>
                  <a:pt x="4931" y="53724"/>
                  <a:pt x="1034" y="61704"/>
                  <a:pt x="4982" y="66969"/>
                </a:cubicBezTo>
                <a:cubicBezTo>
                  <a:pt x="15168" y="80552"/>
                  <a:pt x="38376" y="73130"/>
                  <a:pt x="55123" y="75923"/>
                </a:cubicBezTo>
                <a:cubicBezTo>
                  <a:pt x="63808" y="77372"/>
                  <a:pt x="72776" y="76800"/>
                  <a:pt x="81537" y="75923"/>
                </a:cubicBezTo>
                <a:cubicBezTo>
                  <a:pt x="88131" y="75263"/>
                  <a:pt x="95933" y="77213"/>
                  <a:pt x="101235" y="73237"/>
                </a:cubicBezTo>
                <a:cubicBezTo>
                  <a:pt x="105085" y="70350"/>
                  <a:pt x="103025" y="63723"/>
                  <a:pt x="103025" y="58911"/>
                </a:cubicBezTo>
                <a:cubicBezTo>
                  <a:pt x="103025" y="52912"/>
                  <a:pt x="105561" y="46956"/>
                  <a:pt x="104816" y="41004"/>
                </a:cubicBezTo>
                <a:cubicBezTo>
                  <a:pt x="103756" y="32531"/>
                  <a:pt x="104105" y="23887"/>
                  <a:pt x="102578" y="15486"/>
                </a:cubicBezTo>
                <a:cubicBezTo>
                  <a:pt x="101918" y="11854"/>
                  <a:pt x="102503" y="7352"/>
                  <a:pt x="99892" y="4741"/>
                </a:cubicBezTo>
                <a:cubicBezTo>
                  <a:pt x="92908" y="-2243"/>
                  <a:pt x="80222" y="2503"/>
                  <a:pt x="70344" y="2503"/>
                </a:cubicBezTo>
                <a:cubicBezTo>
                  <a:pt x="58406" y="2503"/>
                  <a:pt x="45207" y="-2836"/>
                  <a:pt x="34529" y="2503"/>
                </a:cubicBezTo>
              </a:path>
            </a:pathLst>
          </a:custGeom>
          <a:noFill/>
          <a:ln cap="flat" cmpd="sng" w="76200">
            <a:solidFill>
              <a:srgbClr val="FF0000"/>
            </a:solidFill>
            <a:prstDash val="solid"/>
            <a:round/>
            <a:headEnd len="med" w="med" type="none"/>
            <a:tailEnd len="med" w="med" type="none"/>
          </a:ln>
        </p:spPr>
      </p:sp>
      <p:sp>
        <p:nvSpPr>
          <p:cNvPr id="383" name="Google Shape;383;p33"/>
          <p:cNvSpPr txBox="1"/>
          <p:nvPr/>
        </p:nvSpPr>
        <p:spPr>
          <a:xfrm>
            <a:off x="3067050" y="3851950"/>
            <a:ext cx="1936200" cy="447900"/>
          </a:xfrm>
          <a:prstGeom prst="rect">
            <a:avLst/>
          </a:prstGeom>
          <a:noFill/>
          <a:ln>
            <a:noFill/>
          </a:ln>
        </p:spPr>
        <p:txBody>
          <a:bodyPr anchorCtr="0" anchor="t" bIns="91425" lIns="91425" spcFirstLastPara="1" rIns="91425" wrap="square" tIns="91425">
            <a:spAutoFit/>
          </a:bodyPr>
          <a:lstStyle/>
          <a:p>
            <a:pPr indent="0" lvl="0" marL="0" rtl="0" algn="l">
              <a:lnSpc>
                <a:spcPct val="95000"/>
              </a:lnSpc>
              <a:spcBef>
                <a:spcPts val="0"/>
              </a:spcBef>
              <a:spcAft>
                <a:spcPts val="1200"/>
              </a:spcAft>
              <a:buNone/>
            </a:pPr>
            <a:r>
              <a:rPr lang="en" sz="1800">
                <a:solidFill>
                  <a:srgbClr val="374151"/>
                </a:solidFill>
                <a:latin typeface="Roboto"/>
                <a:ea typeface="Roboto"/>
                <a:cs typeface="Roboto"/>
                <a:sym typeface="Roboto"/>
              </a:rPr>
              <a:t>P(ham|words)</a:t>
            </a:r>
            <a:endParaRPr sz="1800"/>
          </a:p>
        </p:txBody>
      </p:sp>
      <p:sp>
        <p:nvSpPr>
          <p:cNvPr id="384" name="Google Shape;384;p33"/>
          <p:cNvSpPr/>
          <p:nvPr/>
        </p:nvSpPr>
        <p:spPr>
          <a:xfrm>
            <a:off x="4631625" y="3857650"/>
            <a:ext cx="447600" cy="436500"/>
          </a:xfrm>
          <a:prstGeom prst="mathEqual">
            <a:avLst>
              <a:gd fmla="val 23520" name="adj1"/>
              <a:gd fmla="val 1176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85" name="Google Shape;385;p33"/>
          <p:cNvSpPr/>
          <p:nvPr/>
        </p:nvSpPr>
        <p:spPr>
          <a:xfrm>
            <a:off x="4407375" y="3933850"/>
            <a:ext cx="4986600" cy="284100"/>
          </a:xfrm>
          <a:prstGeom prst="mathMin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86" name="Google Shape;386;p33"/>
          <p:cNvSpPr txBox="1"/>
          <p:nvPr/>
        </p:nvSpPr>
        <p:spPr>
          <a:xfrm>
            <a:off x="5348200" y="2807425"/>
            <a:ext cx="3290100" cy="1237500"/>
          </a:xfrm>
          <a:prstGeom prst="rect">
            <a:avLst/>
          </a:prstGeom>
          <a:noFill/>
          <a:ln>
            <a:noFill/>
          </a:ln>
        </p:spPr>
        <p:txBody>
          <a:bodyPr anchorCtr="0" anchor="t" bIns="91425" lIns="91425" spcFirstLastPara="1" rIns="91425" wrap="square" tIns="91425">
            <a:spAutoFit/>
          </a:bodyPr>
          <a:lstStyle/>
          <a:p>
            <a:pPr indent="0" lvl="0" marL="0" rtl="0" algn="l">
              <a:lnSpc>
                <a:spcPct val="95000"/>
              </a:lnSpc>
              <a:spcBef>
                <a:spcPts val="0"/>
              </a:spcBef>
              <a:spcAft>
                <a:spcPts val="1200"/>
              </a:spcAft>
              <a:buNone/>
            </a:pPr>
            <a:r>
              <a:rPr b="1" lang="en" sz="1800">
                <a:solidFill>
                  <a:srgbClr val="374151"/>
                </a:solidFill>
                <a:latin typeface="Roboto"/>
                <a:ea typeface="Roboto"/>
                <a:cs typeface="Roboto"/>
                <a:sym typeface="Roboto"/>
              </a:rPr>
              <a:t>P(wordA|ham)</a:t>
            </a:r>
            <a:r>
              <a:rPr lang="en" sz="1800">
                <a:solidFill>
                  <a:srgbClr val="374151"/>
                </a:solidFill>
                <a:latin typeface="Roboto"/>
                <a:ea typeface="Roboto"/>
                <a:cs typeface="Roboto"/>
                <a:sym typeface="Roboto"/>
              </a:rPr>
              <a:t> * </a:t>
            </a:r>
            <a:r>
              <a:rPr b="1" lang="en" sz="1800">
                <a:solidFill>
                  <a:srgbClr val="374151"/>
                </a:solidFill>
                <a:latin typeface="Roboto"/>
                <a:ea typeface="Roboto"/>
                <a:cs typeface="Roboto"/>
                <a:sym typeface="Roboto"/>
              </a:rPr>
              <a:t>P(wordB|ham)</a:t>
            </a:r>
            <a:r>
              <a:rPr lang="en" sz="1800">
                <a:solidFill>
                  <a:srgbClr val="374151"/>
                </a:solidFill>
                <a:latin typeface="Roboto"/>
                <a:ea typeface="Roboto"/>
                <a:cs typeface="Roboto"/>
                <a:sym typeface="Roboto"/>
              </a:rPr>
              <a:t> * </a:t>
            </a:r>
            <a:r>
              <a:rPr b="1" lang="en" sz="1800">
                <a:solidFill>
                  <a:srgbClr val="374151"/>
                </a:solidFill>
                <a:latin typeface="Roboto"/>
                <a:ea typeface="Roboto"/>
                <a:cs typeface="Roboto"/>
                <a:sym typeface="Roboto"/>
              </a:rPr>
              <a:t>P(wordC|ham)</a:t>
            </a:r>
            <a:r>
              <a:rPr lang="en" sz="1800">
                <a:solidFill>
                  <a:srgbClr val="374151"/>
                </a:solidFill>
                <a:latin typeface="Roboto"/>
                <a:ea typeface="Roboto"/>
                <a:cs typeface="Roboto"/>
                <a:sym typeface="Roboto"/>
              </a:rPr>
              <a:t> * </a:t>
            </a:r>
            <a:r>
              <a:rPr b="1" lang="en" sz="1800">
                <a:solidFill>
                  <a:srgbClr val="374151"/>
                </a:solidFill>
                <a:latin typeface="Roboto"/>
                <a:ea typeface="Roboto"/>
                <a:cs typeface="Roboto"/>
                <a:sym typeface="Roboto"/>
              </a:rPr>
              <a:t>P(wordD|ham) </a:t>
            </a:r>
            <a:r>
              <a:rPr lang="en" sz="1800">
                <a:solidFill>
                  <a:srgbClr val="374151"/>
                </a:solidFill>
                <a:latin typeface="Roboto"/>
                <a:ea typeface="Roboto"/>
                <a:cs typeface="Roboto"/>
                <a:sym typeface="Roboto"/>
              </a:rPr>
              <a:t>* P(ham) </a:t>
            </a:r>
            <a:endParaRPr sz="1800">
              <a:solidFill>
                <a:srgbClr val="374151"/>
              </a:solidFill>
              <a:latin typeface="Roboto"/>
              <a:ea typeface="Roboto"/>
              <a:cs typeface="Roboto"/>
              <a:sym typeface="Roboto"/>
            </a:endParaRPr>
          </a:p>
        </p:txBody>
      </p:sp>
      <p:sp>
        <p:nvSpPr>
          <p:cNvPr id="387" name="Google Shape;387;p33"/>
          <p:cNvSpPr/>
          <p:nvPr/>
        </p:nvSpPr>
        <p:spPr>
          <a:xfrm>
            <a:off x="5241050" y="2771450"/>
            <a:ext cx="1772171" cy="1237543"/>
          </a:xfrm>
          <a:custGeom>
            <a:rect b="b" l="l" r="r" t="t"/>
            <a:pathLst>
              <a:path extrusionOk="0" h="76866" w="105002">
                <a:moveTo>
                  <a:pt x="36768" y="2950"/>
                </a:moveTo>
                <a:cubicBezTo>
                  <a:pt x="25793" y="2950"/>
                  <a:pt x="11560" y="1234"/>
                  <a:pt x="4534" y="9666"/>
                </a:cubicBezTo>
                <a:cubicBezTo>
                  <a:pt x="-3492" y="19299"/>
                  <a:pt x="1178" y="34976"/>
                  <a:pt x="3639" y="47271"/>
                </a:cubicBezTo>
                <a:cubicBezTo>
                  <a:pt x="4931" y="53724"/>
                  <a:pt x="1034" y="61704"/>
                  <a:pt x="4982" y="66969"/>
                </a:cubicBezTo>
                <a:cubicBezTo>
                  <a:pt x="15168" y="80552"/>
                  <a:pt x="38376" y="73130"/>
                  <a:pt x="55123" y="75923"/>
                </a:cubicBezTo>
                <a:cubicBezTo>
                  <a:pt x="63808" y="77372"/>
                  <a:pt x="72776" y="76800"/>
                  <a:pt x="81537" y="75923"/>
                </a:cubicBezTo>
                <a:cubicBezTo>
                  <a:pt x="88131" y="75263"/>
                  <a:pt x="95933" y="77213"/>
                  <a:pt x="101235" y="73237"/>
                </a:cubicBezTo>
                <a:cubicBezTo>
                  <a:pt x="105085" y="70350"/>
                  <a:pt x="103025" y="63723"/>
                  <a:pt x="103025" y="58911"/>
                </a:cubicBezTo>
                <a:cubicBezTo>
                  <a:pt x="103025" y="52912"/>
                  <a:pt x="105561" y="46956"/>
                  <a:pt x="104816" y="41004"/>
                </a:cubicBezTo>
                <a:cubicBezTo>
                  <a:pt x="103756" y="32531"/>
                  <a:pt x="104105" y="23887"/>
                  <a:pt x="102578" y="15486"/>
                </a:cubicBezTo>
                <a:cubicBezTo>
                  <a:pt x="101918" y="11854"/>
                  <a:pt x="102503" y="7352"/>
                  <a:pt x="99892" y="4741"/>
                </a:cubicBezTo>
                <a:cubicBezTo>
                  <a:pt x="92908" y="-2243"/>
                  <a:pt x="80222" y="2503"/>
                  <a:pt x="70344" y="2503"/>
                </a:cubicBezTo>
                <a:cubicBezTo>
                  <a:pt x="58406" y="2503"/>
                  <a:pt x="45207" y="-2836"/>
                  <a:pt x="34529" y="2503"/>
                </a:cubicBezTo>
              </a:path>
            </a:pathLst>
          </a:custGeom>
          <a:noFill/>
          <a:ln cap="flat" cmpd="sng" w="76200">
            <a:solidFill>
              <a:srgbClr val="FF0000"/>
            </a:solidFill>
            <a:prstDash val="solid"/>
            <a:round/>
            <a:headEnd len="med" w="med" type="none"/>
            <a:tailEnd len="med" w="med" type="none"/>
          </a:ln>
        </p:spPr>
      </p:sp>
      <p:sp>
        <p:nvSpPr>
          <p:cNvPr id="388" name="Google Shape;388;p33"/>
          <p:cNvSpPr/>
          <p:nvPr/>
        </p:nvSpPr>
        <p:spPr>
          <a:xfrm>
            <a:off x="7013225" y="3472275"/>
            <a:ext cx="981506" cy="536717"/>
          </a:xfrm>
          <a:custGeom>
            <a:rect b="b" l="l" r="r" t="t"/>
            <a:pathLst>
              <a:path extrusionOk="0" h="76866" w="105002">
                <a:moveTo>
                  <a:pt x="36768" y="2950"/>
                </a:moveTo>
                <a:cubicBezTo>
                  <a:pt x="25793" y="2950"/>
                  <a:pt x="11560" y="1234"/>
                  <a:pt x="4534" y="9666"/>
                </a:cubicBezTo>
                <a:cubicBezTo>
                  <a:pt x="-3492" y="19299"/>
                  <a:pt x="1178" y="34976"/>
                  <a:pt x="3639" y="47271"/>
                </a:cubicBezTo>
                <a:cubicBezTo>
                  <a:pt x="4931" y="53724"/>
                  <a:pt x="1034" y="61704"/>
                  <a:pt x="4982" y="66969"/>
                </a:cubicBezTo>
                <a:cubicBezTo>
                  <a:pt x="15168" y="80552"/>
                  <a:pt x="38376" y="73130"/>
                  <a:pt x="55123" y="75923"/>
                </a:cubicBezTo>
                <a:cubicBezTo>
                  <a:pt x="63808" y="77372"/>
                  <a:pt x="72776" y="76800"/>
                  <a:pt x="81537" y="75923"/>
                </a:cubicBezTo>
                <a:cubicBezTo>
                  <a:pt x="88131" y="75263"/>
                  <a:pt x="95933" y="77213"/>
                  <a:pt x="101235" y="73237"/>
                </a:cubicBezTo>
                <a:cubicBezTo>
                  <a:pt x="105085" y="70350"/>
                  <a:pt x="103025" y="63723"/>
                  <a:pt x="103025" y="58911"/>
                </a:cubicBezTo>
                <a:cubicBezTo>
                  <a:pt x="103025" y="52912"/>
                  <a:pt x="105561" y="46956"/>
                  <a:pt x="104816" y="41004"/>
                </a:cubicBezTo>
                <a:cubicBezTo>
                  <a:pt x="103756" y="32531"/>
                  <a:pt x="104105" y="23887"/>
                  <a:pt x="102578" y="15486"/>
                </a:cubicBezTo>
                <a:cubicBezTo>
                  <a:pt x="101918" y="11854"/>
                  <a:pt x="102503" y="7352"/>
                  <a:pt x="99892" y="4741"/>
                </a:cubicBezTo>
                <a:cubicBezTo>
                  <a:pt x="92908" y="-2243"/>
                  <a:pt x="80222" y="2503"/>
                  <a:pt x="70344" y="2503"/>
                </a:cubicBezTo>
                <a:cubicBezTo>
                  <a:pt x="58406" y="2503"/>
                  <a:pt x="45207" y="-2836"/>
                  <a:pt x="34529" y="2503"/>
                </a:cubicBezTo>
              </a:path>
            </a:pathLst>
          </a:custGeom>
          <a:noFill/>
          <a:ln cap="flat" cmpd="sng" w="76200">
            <a:solidFill>
              <a:srgbClr val="FF0000"/>
            </a:solidFill>
            <a:prstDash val="solid"/>
            <a:round/>
            <a:headEnd len="med" w="med" type="none"/>
            <a:tailEnd len="med" w="med" type="none"/>
          </a:ln>
        </p:spPr>
      </p:sp>
      <p:sp>
        <p:nvSpPr>
          <p:cNvPr id="389" name="Google Shape;389;p33"/>
          <p:cNvSpPr/>
          <p:nvPr/>
        </p:nvSpPr>
        <p:spPr>
          <a:xfrm>
            <a:off x="7258275" y="1661125"/>
            <a:ext cx="981506" cy="536717"/>
          </a:xfrm>
          <a:custGeom>
            <a:rect b="b" l="l" r="r" t="t"/>
            <a:pathLst>
              <a:path extrusionOk="0" h="76866" w="105002">
                <a:moveTo>
                  <a:pt x="36768" y="2950"/>
                </a:moveTo>
                <a:cubicBezTo>
                  <a:pt x="25793" y="2950"/>
                  <a:pt x="11560" y="1234"/>
                  <a:pt x="4534" y="9666"/>
                </a:cubicBezTo>
                <a:cubicBezTo>
                  <a:pt x="-3492" y="19299"/>
                  <a:pt x="1178" y="34976"/>
                  <a:pt x="3639" y="47271"/>
                </a:cubicBezTo>
                <a:cubicBezTo>
                  <a:pt x="4931" y="53724"/>
                  <a:pt x="1034" y="61704"/>
                  <a:pt x="4982" y="66969"/>
                </a:cubicBezTo>
                <a:cubicBezTo>
                  <a:pt x="15168" y="80552"/>
                  <a:pt x="38376" y="73130"/>
                  <a:pt x="55123" y="75923"/>
                </a:cubicBezTo>
                <a:cubicBezTo>
                  <a:pt x="63808" y="77372"/>
                  <a:pt x="72776" y="76800"/>
                  <a:pt x="81537" y="75923"/>
                </a:cubicBezTo>
                <a:cubicBezTo>
                  <a:pt x="88131" y="75263"/>
                  <a:pt x="95933" y="77213"/>
                  <a:pt x="101235" y="73237"/>
                </a:cubicBezTo>
                <a:cubicBezTo>
                  <a:pt x="105085" y="70350"/>
                  <a:pt x="103025" y="63723"/>
                  <a:pt x="103025" y="58911"/>
                </a:cubicBezTo>
                <a:cubicBezTo>
                  <a:pt x="103025" y="52912"/>
                  <a:pt x="105561" y="46956"/>
                  <a:pt x="104816" y="41004"/>
                </a:cubicBezTo>
                <a:cubicBezTo>
                  <a:pt x="103756" y="32531"/>
                  <a:pt x="104105" y="23887"/>
                  <a:pt x="102578" y="15486"/>
                </a:cubicBezTo>
                <a:cubicBezTo>
                  <a:pt x="101918" y="11854"/>
                  <a:pt x="102503" y="7352"/>
                  <a:pt x="99892" y="4741"/>
                </a:cubicBezTo>
                <a:cubicBezTo>
                  <a:pt x="92908" y="-2243"/>
                  <a:pt x="80222" y="2503"/>
                  <a:pt x="70344" y="2503"/>
                </a:cubicBezTo>
                <a:cubicBezTo>
                  <a:pt x="58406" y="2503"/>
                  <a:pt x="45207" y="-2836"/>
                  <a:pt x="34529" y="2503"/>
                </a:cubicBezTo>
              </a:path>
            </a:pathLst>
          </a:custGeom>
          <a:noFill/>
          <a:ln cap="flat" cmpd="sng" w="76200">
            <a:solidFill>
              <a:srgbClr val="FF0000"/>
            </a:solidFill>
            <a:prstDash val="solid"/>
            <a:round/>
            <a:headEnd len="med" w="med" type="none"/>
            <a:tailEnd len="med" w="med" type="none"/>
          </a:ln>
        </p:spPr>
      </p:sp>
      <p:sp>
        <p:nvSpPr>
          <p:cNvPr id="390" name="Google Shape;390;p33"/>
          <p:cNvSpPr txBox="1"/>
          <p:nvPr/>
        </p:nvSpPr>
        <p:spPr>
          <a:xfrm>
            <a:off x="6394000" y="4167233"/>
            <a:ext cx="3000000" cy="447900"/>
          </a:xfrm>
          <a:prstGeom prst="rect">
            <a:avLst/>
          </a:prstGeom>
          <a:noFill/>
          <a:ln>
            <a:noFill/>
          </a:ln>
        </p:spPr>
        <p:txBody>
          <a:bodyPr anchorCtr="0" anchor="t" bIns="91425" lIns="91425" spcFirstLastPara="1" rIns="91425" wrap="square" tIns="91425">
            <a:spAutoFit/>
          </a:bodyPr>
          <a:lstStyle/>
          <a:p>
            <a:pPr indent="0" lvl="0" marL="0" rtl="0" algn="l">
              <a:lnSpc>
                <a:spcPct val="95000"/>
              </a:lnSpc>
              <a:spcBef>
                <a:spcPts val="0"/>
              </a:spcBef>
              <a:spcAft>
                <a:spcPts val="1200"/>
              </a:spcAft>
              <a:buNone/>
            </a:pPr>
            <a:r>
              <a:rPr lang="en" sz="1800">
                <a:solidFill>
                  <a:srgbClr val="374151"/>
                </a:solidFill>
                <a:latin typeface="Roboto"/>
                <a:ea typeface="Roboto"/>
                <a:cs typeface="Roboto"/>
                <a:sym typeface="Roboto"/>
              </a:rPr>
              <a:t>P(words)                                     </a:t>
            </a:r>
            <a:endParaRPr sz="1800"/>
          </a:p>
        </p:txBody>
      </p:sp>
      <p:sp>
        <p:nvSpPr>
          <p:cNvPr id="391" name="Google Shape;391;p33"/>
          <p:cNvSpPr/>
          <p:nvPr/>
        </p:nvSpPr>
        <p:spPr>
          <a:xfrm>
            <a:off x="6129275" y="4203538"/>
            <a:ext cx="1570125" cy="376547"/>
          </a:xfrm>
          <a:custGeom>
            <a:rect b="b" l="l" r="r" t="t"/>
            <a:pathLst>
              <a:path extrusionOk="0" h="36189" w="62805">
                <a:moveTo>
                  <a:pt x="21309" y="2598"/>
                </a:moveTo>
                <a:cubicBezTo>
                  <a:pt x="14835" y="2598"/>
                  <a:pt x="7894" y="6049"/>
                  <a:pt x="3849" y="11104"/>
                </a:cubicBezTo>
                <a:cubicBezTo>
                  <a:pt x="22" y="15887"/>
                  <a:pt x="-1831" y="25634"/>
                  <a:pt x="2954" y="29459"/>
                </a:cubicBezTo>
                <a:cubicBezTo>
                  <a:pt x="13638" y="38000"/>
                  <a:pt x="30200" y="36629"/>
                  <a:pt x="43693" y="34384"/>
                </a:cubicBezTo>
                <a:cubicBezTo>
                  <a:pt x="50212" y="33299"/>
                  <a:pt x="58392" y="31655"/>
                  <a:pt x="61601" y="25878"/>
                </a:cubicBezTo>
                <a:cubicBezTo>
                  <a:pt x="66325" y="17373"/>
                  <a:pt x="55370" y="3615"/>
                  <a:pt x="45932" y="1255"/>
                </a:cubicBezTo>
                <a:cubicBezTo>
                  <a:pt x="36078" y="-1209"/>
                  <a:pt x="25449" y="605"/>
                  <a:pt x="15489" y="2598"/>
                </a:cubicBezTo>
              </a:path>
            </a:pathLst>
          </a:custGeom>
          <a:noFill/>
          <a:ln cap="flat" cmpd="sng" w="38100">
            <a:solidFill>
              <a:srgbClr val="0000FF"/>
            </a:solidFill>
            <a:prstDash val="solid"/>
            <a:round/>
            <a:headEnd len="med" w="med" type="none"/>
            <a:tailEnd len="med" w="med" type="none"/>
          </a:ln>
        </p:spPr>
      </p:sp>
      <p:sp>
        <p:nvSpPr>
          <p:cNvPr id="392" name="Google Shape;392;p33"/>
          <p:cNvSpPr/>
          <p:nvPr/>
        </p:nvSpPr>
        <p:spPr>
          <a:xfrm>
            <a:off x="6626200" y="4172955"/>
            <a:ext cx="734093" cy="436452"/>
          </a:xfrm>
          <a:custGeom>
            <a:rect b="b" l="l" r="r" t="t"/>
            <a:pathLst>
              <a:path extrusionOk="0" h="40291" w="62676">
                <a:moveTo>
                  <a:pt x="62676" y="40291"/>
                </a:moveTo>
                <a:cubicBezTo>
                  <a:pt x="49615" y="37031"/>
                  <a:pt x="39158" y="27076"/>
                  <a:pt x="28204" y="19250"/>
                </a:cubicBezTo>
                <a:cubicBezTo>
                  <a:pt x="18942" y="12633"/>
                  <a:pt x="5095" y="10178"/>
                  <a:pt x="0" y="0"/>
                </a:cubicBezTo>
              </a:path>
            </a:pathLst>
          </a:custGeom>
          <a:noFill/>
          <a:ln cap="flat" cmpd="sng" w="38100">
            <a:solidFill>
              <a:srgbClr val="0000FF"/>
            </a:solidFill>
            <a:prstDash val="solid"/>
            <a:round/>
            <a:headEnd len="med" w="med" type="none"/>
            <a:tailEnd len="med" w="med" type="none"/>
          </a:ln>
        </p:spPr>
      </p:sp>
      <p:sp>
        <p:nvSpPr>
          <p:cNvPr id="393" name="Google Shape;393;p33"/>
          <p:cNvSpPr txBox="1"/>
          <p:nvPr/>
        </p:nvSpPr>
        <p:spPr>
          <a:xfrm>
            <a:off x="3751300" y="2579100"/>
            <a:ext cx="1936200" cy="521100"/>
          </a:xfrm>
          <a:prstGeom prst="rect">
            <a:avLst/>
          </a:prstGeom>
          <a:noFill/>
          <a:ln>
            <a:noFill/>
          </a:ln>
        </p:spPr>
        <p:txBody>
          <a:bodyPr anchorCtr="0" anchor="t" bIns="91425" lIns="91425" spcFirstLastPara="1" rIns="91425" wrap="square" tIns="91425">
            <a:spAutoFit/>
          </a:bodyPr>
          <a:lstStyle/>
          <a:p>
            <a:pPr indent="0" lvl="0" marL="0" rtl="0" algn="l">
              <a:lnSpc>
                <a:spcPct val="95000"/>
              </a:lnSpc>
              <a:spcBef>
                <a:spcPts val="0"/>
              </a:spcBef>
              <a:spcAft>
                <a:spcPts val="1200"/>
              </a:spcAft>
              <a:buNone/>
            </a:pPr>
            <a:r>
              <a:rPr b="1" lang="en" sz="2300">
                <a:solidFill>
                  <a:srgbClr val="FF0000"/>
                </a:solidFill>
                <a:latin typeface="Roboto"/>
                <a:ea typeface="Roboto"/>
                <a:cs typeface="Roboto"/>
                <a:sym typeface="Roboto"/>
              </a:rPr>
              <a:t>V</a:t>
            </a:r>
            <a:endParaRPr b="1" sz="2300">
              <a:solidFill>
                <a:srgbClr val="FF0000"/>
              </a:solidFill>
            </a:endParaRPr>
          </a:p>
        </p:txBody>
      </p:sp>
      <p:sp>
        <p:nvSpPr>
          <p:cNvPr id="394" name="Google Shape;394;p33"/>
          <p:cNvSpPr/>
          <p:nvPr/>
        </p:nvSpPr>
        <p:spPr>
          <a:xfrm>
            <a:off x="3508025" y="1658300"/>
            <a:ext cx="838325" cy="749300"/>
          </a:xfrm>
          <a:custGeom>
            <a:rect b="b" l="l" r="r" t="t"/>
            <a:pathLst>
              <a:path extrusionOk="0" h="29972" w="33533">
                <a:moveTo>
                  <a:pt x="0" y="18630"/>
                </a:moveTo>
                <a:cubicBezTo>
                  <a:pt x="2359" y="21461"/>
                  <a:pt x="4224" y="24718"/>
                  <a:pt x="6830" y="27324"/>
                </a:cubicBezTo>
                <a:cubicBezTo>
                  <a:pt x="7562" y="28056"/>
                  <a:pt x="7711" y="30135"/>
                  <a:pt x="8693" y="29808"/>
                </a:cubicBezTo>
                <a:cubicBezTo>
                  <a:pt x="13848" y="28090"/>
                  <a:pt x="15714" y="21513"/>
                  <a:pt x="19250" y="17388"/>
                </a:cubicBezTo>
                <a:cubicBezTo>
                  <a:pt x="24131" y="11693"/>
                  <a:pt x="30179" y="6709"/>
                  <a:pt x="33533" y="0"/>
                </a:cubicBezTo>
              </a:path>
            </a:pathLst>
          </a:custGeom>
          <a:noFill/>
          <a:ln cap="flat" cmpd="sng" w="38100">
            <a:solidFill>
              <a:srgbClr val="FF0000"/>
            </a:solidFill>
            <a:prstDash val="solid"/>
            <a:round/>
            <a:headEnd len="med" w="med" type="none"/>
            <a:tailEnd len="med" w="med" type="none"/>
          </a:ln>
        </p:spPr>
      </p:sp>
      <p:sp>
        <p:nvSpPr>
          <p:cNvPr id="395" name="Google Shape;395;p33"/>
          <p:cNvSpPr txBox="1"/>
          <p:nvPr>
            <p:ph type="title"/>
          </p:nvPr>
        </p:nvSpPr>
        <p:spPr>
          <a:xfrm>
            <a:off x="307350" y="198975"/>
            <a:ext cx="7505700" cy="59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Training Process</a:t>
            </a:r>
            <a:endParaRPr b="1"/>
          </a:p>
        </p:txBody>
      </p:sp>
      <p:sp>
        <p:nvSpPr>
          <p:cNvPr id="396" name="Google Shape;396;p33"/>
          <p:cNvSpPr txBox="1"/>
          <p:nvPr>
            <p:ph type="title"/>
          </p:nvPr>
        </p:nvSpPr>
        <p:spPr>
          <a:xfrm>
            <a:off x="307350" y="599050"/>
            <a:ext cx="7505700" cy="59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3. Compare P(S|W) and P(H|W)</a:t>
            </a:r>
            <a:endParaRPr b="1"/>
          </a:p>
        </p:txBody>
      </p:sp>
      <p:sp>
        <p:nvSpPr>
          <p:cNvPr id="397" name="Google Shape;397;p33"/>
          <p:cNvSpPr txBox="1"/>
          <p:nvPr/>
        </p:nvSpPr>
        <p:spPr>
          <a:xfrm>
            <a:off x="2427175" y="1159538"/>
            <a:ext cx="3000000" cy="284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chemeClr val="dk2"/>
                </a:solidFill>
                <a:latin typeface="Calibri"/>
                <a:ea typeface="Calibri"/>
                <a:cs typeface="Calibri"/>
                <a:sym typeface="Calibri"/>
              </a:rPr>
              <a:t>(0.9 * 0.8 * 0.7 * 0.5) * 0.3 </a:t>
            </a:r>
            <a:endParaRPr b="1" sz="1600">
              <a:solidFill>
                <a:schemeClr val="dk2"/>
              </a:solidFill>
              <a:latin typeface="Calibri"/>
              <a:ea typeface="Calibri"/>
              <a:cs typeface="Calibri"/>
              <a:sym typeface="Calibri"/>
            </a:endParaRPr>
          </a:p>
          <a:p>
            <a:pPr indent="0" lvl="0" marL="0" rtl="0" algn="ctr">
              <a:spcBef>
                <a:spcPts val="0"/>
              </a:spcBef>
              <a:spcAft>
                <a:spcPts val="0"/>
              </a:spcAft>
              <a:buNone/>
            </a:pPr>
            <a:r>
              <a:rPr b="1" lang="en" sz="2300">
                <a:solidFill>
                  <a:srgbClr val="FF0000"/>
                </a:solidFill>
                <a:latin typeface="Calibri"/>
                <a:ea typeface="Calibri"/>
                <a:cs typeface="Calibri"/>
                <a:sym typeface="Calibri"/>
              </a:rPr>
              <a:t>0.08 </a:t>
            </a:r>
            <a:endParaRPr b="1" sz="2300">
              <a:solidFill>
                <a:srgbClr val="FF0000"/>
              </a:solidFill>
              <a:latin typeface="Calibri"/>
              <a:ea typeface="Calibri"/>
              <a:cs typeface="Calibri"/>
              <a:sym typeface="Calibri"/>
            </a:endParaRPr>
          </a:p>
        </p:txBody>
      </p:sp>
      <p:sp>
        <p:nvSpPr>
          <p:cNvPr id="398" name="Google Shape;398;p33"/>
          <p:cNvSpPr txBox="1"/>
          <p:nvPr/>
        </p:nvSpPr>
        <p:spPr>
          <a:xfrm>
            <a:off x="2465851" y="3271725"/>
            <a:ext cx="3188700" cy="284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chemeClr val="dk2"/>
                </a:solidFill>
                <a:latin typeface="Calibri"/>
                <a:ea typeface="Calibri"/>
                <a:cs typeface="Calibri"/>
                <a:sym typeface="Calibri"/>
              </a:rPr>
              <a:t>(0.1 * 0.2 * 0.3 * 0.5) * 0.7 </a:t>
            </a:r>
            <a:endParaRPr b="1" sz="1600">
              <a:solidFill>
                <a:schemeClr val="dk2"/>
              </a:solidFill>
              <a:latin typeface="Calibri"/>
              <a:ea typeface="Calibri"/>
              <a:cs typeface="Calibri"/>
              <a:sym typeface="Calibri"/>
            </a:endParaRPr>
          </a:p>
          <a:p>
            <a:pPr indent="0" lvl="0" marL="0" rtl="0" algn="ctr">
              <a:spcBef>
                <a:spcPts val="0"/>
              </a:spcBef>
              <a:spcAft>
                <a:spcPts val="0"/>
              </a:spcAft>
              <a:buNone/>
            </a:pPr>
            <a:r>
              <a:rPr b="1" lang="en" sz="2300">
                <a:solidFill>
                  <a:srgbClr val="FF0000"/>
                </a:solidFill>
                <a:latin typeface="Calibri"/>
                <a:ea typeface="Calibri"/>
                <a:cs typeface="Calibri"/>
                <a:sym typeface="Calibri"/>
              </a:rPr>
              <a:t>0.002</a:t>
            </a:r>
            <a:endParaRPr b="1" sz="2300">
              <a:solidFill>
                <a:srgbClr val="FF0000"/>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34"/>
          <p:cNvSpPr txBox="1"/>
          <p:nvPr/>
        </p:nvSpPr>
        <p:spPr>
          <a:xfrm>
            <a:off x="4595350" y="1194250"/>
            <a:ext cx="4347000" cy="2364900"/>
          </a:xfrm>
          <a:prstGeom prst="rect">
            <a:avLst/>
          </a:prstGeom>
          <a:solidFill>
            <a:srgbClr val="F4CCCC"/>
          </a:solidFill>
          <a:ln>
            <a:noFill/>
          </a:ln>
        </p:spPr>
        <p:txBody>
          <a:bodyPr anchorCtr="0" anchor="t" bIns="91425" lIns="91425" spcFirstLastPara="1" rIns="91425" wrap="square" tIns="91425">
            <a:spAutoFit/>
          </a:bodyPr>
          <a:lstStyle/>
          <a:p>
            <a:pPr indent="0" lvl="0" marL="0" rtl="0" algn="ctr">
              <a:lnSpc>
                <a:spcPct val="95000"/>
              </a:lnSpc>
              <a:spcBef>
                <a:spcPts val="0"/>
              </a:spcBef>
              <a:spcAft>
                <a:spcPts val="0"/>
              </a:spcAft>
              <a:buNone/>
            </a:pPr>
            <a:r>
              <a:rPr b="1" lang="en" sz="2200">
                <a:solidFill>
                  <a:srgbClr val="374151"/>
                </a:solidFill>
                <a:latin typeface="Roboto"/>
                <a:ea typeface="Roboto"/>
                <a:cs typeface="Roboto"/>
                <a:sym typeface="Roboto"/>
              </a:rPr>
              <a:t>“win” “free” “money” “today”...</a:t>
            </a:r>
            <a:endParaRPr b="1" sz="2200">
              <a:solidFill>
                <a:srgbClr val="374151"/>
              </a:solidFill>
              <a:latin typeface="Roboto"/>
              <a:ea typeface="Roboto"/>
              <a:cs typeface="Roboto"/>
              <a:sym typeface="Roboto"/>
            </a:endParaRPr>
          </a:p>
          <a:p>
            <a:pPr indent="0" lvl="0" marL="0" rtl="0" algn="ctr">
              <a:lnSpc>
                <a:spcPct val="95000"/>
              </a:lnSpc>
              <a:spcBef>
                <a:spcPts val="1200"/>
              </a:spcBef>
              <a:spcAft>
                <a:spcPts val="0"/>
              </a:spcAft>
              <a:buNone/>
            </a:pPr>
            <a:r>
              <a:t/>
            </a:r>
            <a:endParaRPr b="1" sz="2200">
              <a:solidFill>
                <a:srgbClr val="374151"/>
              </a:solidFill>
              <a:latin typeface="Roboto"/>
              <a:ea typeface="Roboto"/>
              <a:cs typeface="Roboto"/>
              <a:sym typeface="Roboto"/>
            </a:endParaRPr>
          </a:p>
          <a:p>
            <a:pPr indent="0" lvl="0" marL="0" rtl="0" algn="ctr">
              <a:lnSpc>
                <a:spcPct val="95000"/>
              </a:lnSpc>
              <a:spcBef>
                <a:spcPts val="1200"/>
              </a:spcBef>
              <a:spcAft>
                <a:spcPts val="0"/>
              </a:spcAft>
              <a:buNone/>
            </a:pPr>
            <a:r>
              <a:rPr b="1" lang="en" sz="2100">
                <a:solidFill>
                  <a:srgbClr val="374151"/>
                </a:solidFill>
                <a:latin typeface="Roboto"/>
                <a:ea typeface="Roboto"/>
                <a:cs typeface="Roboto"/>
                <a:sym typeface="Roboto"/>
              </a:rPr>
              <a:t>P(spam|words) &gt; P(ham|words)</a:t>
            </a:r>
            <a:endParaRPr b="1" sz="2100">
              <a:solidFill>
                <a:srgbClr val="374151"/>
              </a:solidFill>
              <a:latin typeface="Roboto"/>
              <a:ea typeface="Roboto"/>
              <a:cs typeface="Roboto"/>
              <a:sym typeface="Roboto"/>
            </a:endParaRPr>
          </a:p>
          <a:p>
            <a:pPr indent="0" lvl="0" marL="0" rtl="0" algn="ctr">
              <a:lnSpc>
                <a:spcPct val="95000"/>
              </a:lnSpc>
              <a:spcBef>
                <a:spcPts val="1200"/>
              </a:spcBef>
              <a:spcAft>
                <a:spcPts val="0"/>
              </a:spcAft>
              <a:buNone/>
            </a:pPr>
            <a:r>
              <a:rPr b="1" lang="en" sz="2100">
                <a:solidFill>
                  <a:srgbClr val="374151"/>
                </a:solidFill>
                <a:latin typeface="Roboto"/>
                <a:ea typeface="Roboto"/>
                <a:cs typeface="Roboto"/>
                <a:sym typeface="Roboto"/>
              </a:rPr>
              <a:t>If the word occurs, </a:t>
            </a:r>
            <a:endParaRPr b="1" sz="2100">
              <a:solidFill>
                <a:srgbClr val="374151"/>
              </a:solidFill>
              <a:latin typeface="Roboto"/>
              <a:ea typeface="Roboto"/>
              <a:cs typeface="Roboto"/>
              <a:sym typeface="Roboto"/>
            </a:endParaRPr>
          </a:p>
          <a:p>
            <a:pPr indent="0" lvl="0" marL="0" rtl="0" algn="ctr">
              <a:lnSpc>
                <a:spcPct val="95000"/>
              </a:lnSpc>
              <a:spcBef>
                <a:spcPts val="1200"/>
              </a:spcBef>
              <a:spcAft>
                <a:spcPts val="1200"/>
              </a:spcAft>
              <a:buNone/>
            </a:pPr>
            <a:r>
              <a:rPr b="1" lang="en" sz="2100">
                <a:solidFill>
                  <a:srgbClr val="374151"/>
                </a:solidFill>
                <a:latin typeface="Roboto"/>
                <a:ea typeface="Roboto"/>
                <a:cs typeface="Roboto"/>
                <a:sym typeface="Roboto"/>
              </a:rPr>
              <a:t>it’s more likely to be a spam email</a:t>
            </a:r>
            <a:endParaRPr b="1" sz="2100">
              <a:solidFill>
                <a:srgbClr val="374151"/>
              </a:solidFill>
              <a:latin typeface="Roboto"/>
              <a:ea typeface="Roboto"/>
              <a:cs typeface="Roboto"/>
              <a:sym typeface="Roboto"/>
            </a:endParaRPr>
          </a:p>
        </p:txBody>
      </p:sp>
      <p:sp>
        <p:nvSpPr>
          <p:cNvPr id="404" name="Google Shape;404;p34"/>
          <p:cNvSpPr/>
          <p:nvPr/>
        </p:nvSpPr>
        <p:spPr>
          <a:xfrm>
            <a:off x="225000" y="1096575"/>
            <a:ext cx="4347000" cy="3864300"/>
          </a:xfrm>
          <a:prstGeom prst="snip1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600">
                <a:latin typeface="Calibri"/>
                <a:ea typeface="Calibri"/>
                <a:cs typeface="Calibri"/>
                <a:sym typeface="Calibri"/>
              </a:rPr>
              <a:t>Subject: Congratulations! You have a chance to </a:t>
            </a:r>
            <a:r>
              <a:rPr b="1" lang="en" sz="1600">
                <a:solidFill>
                  <a:srgbClr val="FF0000"/>
                </a:solidFill>
                <a:latin typeface="Calibri"/>
                <a:ea typeface="Calibri"/>
                <a:cs typeface="Calibri"/>
                <a:sym typeface="Calibri"/>
              </a:rPr>
              <a:t>win</a:t>
            </a:r>
            <a:r>
              <a:rPr lang="en" sz="1600">
                <a:latin typeface="Calibri"/>
                <a:ea typeface="Calibri"/>
                <a:cs typeface="Calibri"/>
                <a:sym typeface="Calibri"/>
              </a:rPr>
              <a:t> big prizes!</a:t>
            </a:r>
            <a:endParaRPr sz="1600">
              <a:latin typeface="Calibri"/>
              <a:ea typeface="Calibri"/>
              <a:cs typeface="Calibri"/>
              <a:sym typeface="Calibri"/>
            </a:endParaRPr>
          </a:p>
          <a:p>
            <a:pPr indent="0" lvl="0" marL="0" rtl="0" algn="l">
              <a:spcBef>
                <a:spcPts val="0"/>
              </a:spcBef>
              <a:spcAft>
                <a:spcPts val="0"/>
              </a:spcAft>
              <a:buNone/>
            </a:pPr>
            <a:r>
              <a:rPr lang="en" sz="1600">
                <a:latin typeface="Calibri"/>
                <a:ea typeface="Calibri"/>
                <a:cs typeface="Calibri"/>
                <a:sym typeface="Calibri"/>
              </a:rPr>
              <a:t>Dear lucky user,</a:t>
            </a:r>
            <a:endParaRPr sz="1600">
              <a:latin typeface="Calibri"/>
              <a:ea typeface="Calibri"/>
              <a:cs typeface="Calibri"/>
              <a:sym typeface="Calibri"/>
            </a:endParaRPr>
          </a:p>
          <a:p>
            <a:pPr indent="0" lvl="0" marL="0" rtl="0" algn="l">
              <a:spcBef>
                <a:spcPts val="0"/>
              </a:spcBef>
              <a:spcAft>
                <a:spcPts val="0"/>
              </a:spcAft>
              <a:buNone/>
            </a:pPr>
            <a:r>
              <a:t/>
            </a:r>
            <a:endParaRPr sz="1600">
              <a:latin typeface="Calibri"/>
              <a:ea typeface="Calibri"/>
              <a:cs typeface="Calibri"/>
              <a:sym typeface="Calibri"/>
            </a:endParaRPr>
          </a:p>
          <a:p>
            <a:pPr indent="0" lvl="0" marL="0" rtl="0" algn="l">
              <a:spcBef>
                <a:spcPts val="0"/>
              </a:spcBef>
              <a:spcAft>
                <a:spcPts val="0"/>
              </a:spcAft>
              <a:buNone/>
            </a:pPr>
            <a:r>
              <a:rPr b="1" lang="en" sz="1600">
                <a:solidFill>
                  <a:srgbClr val="FF0000"/>
                </a:solidFill>
                <a:latin typeface="Calibri"/>
                <a:ea typeface="Calibri"/>
                <a:cs typeface="Calibri"/>
                <a:sym typeface="Calibri"/>
              </a:rPr>
              <a:t>Today </a:t>
            </a:r>
            <a:r>
              <a:rPr lang="en" sz="1600">
                <a:latin typeface="Calibri"/>
                <a:ea typeface="Calibri"/>
                <a:cs typeface="Calibri"/>
                <a:sym typeface="Calibri"/>
              </a:rPr>
              <a:t>is your lucky day! You have been selected for a chance to </a:t>
            </a:r>
            <a:r>
              <a:rPr b="1" lang="en" sz="1600">
                <a:solidFill>
                  <a:srgbClr val="FF0000"/>
                </a:solidFill>
                <a:latin typeface="Calibri"/>
                <a:ea typeface="Calibri"/>
                <a:cs typeface="Calibri"/>
                <a:sym typeface="Calibri"/>
              </a:rPr>
              <a:t>win</a:t>
            </a:r>
            <a:r>
              <a:rPr lang="en" sz="1600">
                <a:latin typeface="Calibri"/>
                <a:ea typeface="Calibri"/>
                <a:cs typeface="Calibri"/>
                <a:sym typeface="Calibri"/>
              </a:rPr>
              <a:t> an exclusive reward. To claim your prize, simply click the link below and enter our </a:t>
            </a:r>
            <a:r>
              <a:rPr b="1" lang="en" sz="1600">
                <a:solidFill>
                  <a:srgbClr val="FF0000"/>
                </a:solidFill>
                <a:latin typeface="Calibri"/>
                <a:ea typeface="Calibri"/>
                <a:cs typeface="Calibri"/>
                <a:sym typeface="Calibri"/>
              </a:rPr>
              <a:t>free</a:t>
            </a:r>
            <a:r>
              <a:rPr lang="en" sz="1600">
                <a:latin typeface="Calibri"/>
                <a:ea typeface="Calibri"/>
                <a:cs typeface="Calibri"/>
                <a:sym typeface="Calibri"/>
              </a:rPr>
              <a:t> draw. Don't miss out on this opportunity to </a:t>
            </a:r>
            <a:r>
              <a:rPr b="1" lang="en" sz="1600">
                <a:solidFill>
                  <a:srgbClr val="FF0000"/>
                </a:solidFill>
                <a:latin typeface="Calibri"/>
                <a:ea typeface="Calibri"/>
                <a:cs typeface="Calibri"/>
                <a:sym typeface="Calibri"/>
              </a:rPr>
              <a:t>win</a:t>
            </a:r>
            <a:r>
              <a:rPr lang="en" sz="1600">
                <a:latin typeface="Calibri"/>
                <a:ea typeface="Calibri"/>
                <a:cs typeface="Calibri"/>
                <a:sym typeface="Calibri"/>
              </a:rPr>
              <a:t> big </a:t>
            </a:r>
            <a:r>
              <a:rPr b="1" lang="en" sz="1600">
                <a:solidFill>
                  <a:srgbClr val="FF0000"/>
                </a:solidFill>
                <a:latin typeface="Calibri"/>
                <a:ea typeface="Calibri"/>
                <a:cs typeface="Calibri"/>
                <a:sym typeface="Calibri"/>
              </a:rPr>
              <a:t>money</a:t>
            </a:r>
            <a:r>
              <a:rPr lang="en" sz="1600">
                <a:latin typeface="Calibri"/>
                <a:ea typeface="Calibri"/>
                <a:cs typeface="Calibri"/>
                <a:sym typeface="Calibri"/>
              </a:rPr>
              <a:t> with no investment for </a:t>
            </a:r>
            <a:r>
              <a:rPr b="1" lang="en" sz="1600">
                <a:solidFill>
                  <a:srgbClr val="FF0000"/>
                </a:solidFill>
                <a:latin typeface="Calibri"/>
                <a:ea typeface="Calibri"/>
                <a:cs typeface="Calibri"/>
                <a:sym typeface="Calibri"/>
              </a:rPr>
              <a:t>free</a:t>
            </a:r>
            <a:r>
              <a:rPr lang="en" sz="1600">
                <a:latin typeface="Calibri"/>
                <a:ea typeface="Calibri"/>
                <a:cs typeface="Calibri"/>
                <a:sym typeface="Calibri"/>
              </a:rPr>
              <a:t>.</a:t>
            </a:r>
            <a:endParaRPr sz="1600">
              <a:latin typeface="Calibri"/>
              <a:ea typeface="Calibri"/>
              <a:cs typeface="Calibri"/>
              <a:sym typeface="Calibri"/>
            </a:endParaRPr>
          </a:p>
          <a:p>
            <a:pPr indent="0" lvl="0" marL="0" rtl="0" algn="l">
              <a:spcBef>
                <a:spcPts val="0"/>
              </a:spcBef>
              <a:spcAft>
                <a:spcPts val="0"/>
              </a:spcAft>
              <a:buNone/>
            </a:pPr>
            <a:r>
              <a:t/>
            </a:r>
            <a:endParaRPr sz="1600">
              <a:latin typeface="Calibri"/>
              <a:ea typeface="Calibri"/>
              <a:cs typeface="Calibri"/>
              <a:sym typeface="Calibri"/>
            </a:endParaRPr>
          </a:p>
          <a:p>
            <a:pPr indent="0" lvl="0" marL="0" rtl="0" algn="l">
              <a:spcBef>
                <a:spcPts val="0"/>
              </a:spcBef>
              <a:spcAft>
                <a:spcPts val="0"/>
              </a:spcAft>
              <a:buNone/>
            </a:pPr>
            <a:r>
              <a:rPr lang="en" sz="1600">
                <a:latin typeface="Calibri"/>
                <a:ea typeface="Calibri"/>
                <a:cs typeface="Calibri"/>
                <a:sym typeface="Calibri"/>
              </a:rPr>
              <a:t>Click now and start your journey to fortune!</a:t>
            </a:r>
            <a:endParaRPr sz="1600">
              <a:latin typeface="Calibri"/>
              <a:ea typeface="Calibri"/>
              <a:cs typeface="Calibri"/>
              <a:sym typeface="Calibri"/>
            </a:endParaRPr>
          </a:p>
          <a:p>
            <a:pPr indent="0" lvl="0" marL="0" rtl="0" algn="l">
              <a:spcBef>
                <a:spcPts val="0"/>
              </a:spcBef>
              <a:spcAft>
                <a:spcPts val="0"/>
              </a:spcAft>
              <a:buNone/>
            </a:pPr>
            <a:r>
              <a:t/>
            </a:r>
            <a:endParaRPr sz="1600">
              <a:latin typeface="Calibri"/>
              <a:ea typeface="Calibri"/>
              <a:cs typeface="Calibri"/>
              <a:sym typeface="Calibri"/>
            </a:endParaRPr>
          </a:p>
          <a:p>
            <a:pPr indent="0" lvl="0" marL="0" rtl="0" algn="l">
              <a:spcBef>
                <a:spcPts val="0"/>
              </a:spcBef>
              <a:spcAft>
                <a:spcPts val="0"/>
              </a:spcAft>
              <a:buNone/>
            </a:pPr>
            <a:r>
              <a:rPr lang="en" sz="1600">
                <a:latin typeface="Calibri"/>
                <a:ea typeface="Calibri"/>
                <a:cs typeface="Calibri"/>
                <a:sym typeface="Calibri"/>
              </a:rPr>
              <a:t>Best regards,</a:t>
            </a:r>
            <a:endParaRPr sz="1600">
              <a:latin typeface="Calibri"/>
              <a:ea typeface="Calibri"/>
              <a:cs typeface="Calibri"/>
              <a:sym typeface="Calibri"/>
            </a:endParaRPr>
          </a:p>
          <a:p>
            <a:pPr indent="0" lvl="0" marL="0" rtl="0" algn="l">
              <a:spcBef>
                <a:spcPts val="0"/>
              </a:spcBef>
              <a:spcAft>
                <a:spcPts val="0"/>
              </a:spcAft>
              <a:buNone/>
            </a:pPr>
            <a:r>
              <a:rPr lang="en" sz="1600">
                <a:latin typeface="Calibri"/>
                <a:ea typeface="Calibri"/>
                <a:cs typeface="Calibri"/>
                <a:sym typeface="Calibri"/>
              </a:rPr>
              <a:t>The Contest Team</a:t>
            </a:r>
            <a:endParaRPr sz="1600">
              <a:latin typeface="Calibri"/>
              <a:ea typeface="Calibri"/>
              <a:cs typeface="Calibri"/>
              <a:sym typeface="Calibri"/>
            </a:endParaRPr>
          </a:p>
          <a:p>
            <a:pPr indent="0" lvl="0" marL="0" rtl="0" algn="l">
              <a:spcBef>
                <a:spcPts val="0"/>
              </a:spcBef>
              <a:spcAft>
                <a:spcPts val="0"/>
              </a:spcAft>
              <a:buNone/>
            </a:pPr>
            <a:r>
              <a:t/>
            </a:r>
            <a:endParaRPr sz="1600">
              <a:latin typeface="Calibri"/>
              <a:ea typeface="Calibri"/>
              <a:cs typeface="Calibri"/>
              <a:sym typeface="Calibri"/>
            </a:endParaRPr>
          </a:p>
        </p:txBody>
      </p:sp>
      <p:sp>
        <p:nvSpPr>
          <p:cNvPr id="405" name="Google Shape;405;p34"/>
          <p:cNvSpPr/>
          <p:nvPr/>
        </p:nvSpPr>
        <p:spPr>
          <a:xfrm rot="1299624">
            <a:off x="6184605" y="1559954"/>
            <a:ext cx="209590" cy="543598"/>
          </a:xfrm>
          <a:custGeom>
            <a:rect b="b" l="l" r="r" t="t"/>
            <a:pathLst>
              <a:path extrusionOk="0" h="25071" w="15221">
                <a:moveTo>
                  <a:pt x="0" y="0"/>
                </a:moveTo>
                <a:cubicBezTo>
                  <a:pt x="3851" y="8986"/>
                  <a:pt x="8308" y="18158"/>
                  <a:pt x="15221" y="25071"/>
                </a:cubicBezTo>
              </a:path>
            </a:pathLst>
          </a:custGeom>
          <a:noFill/>
          <a:ln cap="flat" cmpd="sng" w="38100">
            <a:solidFill>
              <a:srgbClr val="FF0000"/>
            </a:solidFill>
            <a:prstDash val="solid"/>
            <a:round/>
            <a:headEnd len="med" w="med" type="none"/>
            <a:tailEnd len="med" w="med" type="none"/>
          </a:ln>
        </p:spPr>
      </p:sp>
      <p:sp>
        <p:nvSpPr>
          <p:cNvPr id="406" name="Google Shape;406;p34"/>
          <p:cNvSpPr/>
          <p:nvPr/>
        </p:nvSpPr>
        <p:spPr>
          <a:xfrm rot="960596">
            <a:off x="6091727" y="1916126"/>
            <a:ext cx="268596" cy="283396"/>
          </a:xfrm>
          <a:custGeom>
            <a:rect b="b" l="l" r="r" t="t"/>
            <a:pathLst>
              <a:path extrusionOk="0" h="11336" w="10744">
                <a:moveTo>
                  <a:pt x="0" y="8058"/>
                </a:moveTo>
                <a:cubicBezTo>
                  <a:pt x="2618" y="8432"/>
                  <a:pt x="5314" y="8985"/>
                  <a:pt x="7610" y="10297"/>
                </a:cubicBezTo>
                <a:cubicBezTo>
                  <a:pt x="7915" y="10471"/>
                  <a:pt x="9777" y="11337"/>
                  <a:pt x="9849" y="11192"/>
                </a:cubicBezTo>
                <a:cubicBezTo>
                  <a:pt x="11524" y="7845"/>
                  <a:pt x="9069" y="3347"/>
                  <a:pt x="10744" y="0"/>
                </a:cubicBezTo>
              </a:path>
            </a:pathLst>
          </a:custGeom>
          <a:noFill/>
          <a:ln cap="flat" cmpd="sng" w="38100">
            <a:solidFill>
              <a:srgbClr val="FF0000"/>
            </a:solidFill>
            <a:prstDash val="solid"/>
            <a:round/>
            <a:headEnd len="med" w="med" type="none"/>
            <a:tailEnd len="med" w="med" type="none"/>
          </a:ln>
        </p:spPr>
      </p:sp>
      <p:sp>
        <p:nvSpPr>
          <p:cNvPr id="407" name="Google Shape;407;p34"/>
          <p:cNvSpPr txBox="1"/>
          <p:nvPr>
            <p:ph type="title"/>
          </p:nvPr>
        </p:nvSpPr>
        <p:spPr>
          <a:xfrm>
            <a:off x="307350" y="198975"/>
            <a:ext cx="7505700" cy="59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Training Process</a:t>
            </a:r>
            <a:endParaRPr b="1"/>
          </a:p>
        </p:txBody>
      </p:sp>
      <p:sp>
        <p:nvSpPr>
          <p:cNvPr id="408" name="Google Shape;408;p34"/>
          <p:cNvSpPr txBox="1"/>
          <p:nvPr>
            <p:ph type="title"/>
          </p:nvPr>
        </p:nvSpPr>
        <p:spPr>
          <a:xfrm>
            <a:off x="307350" y="599050"/>
            <a:ext cx="7505700" cy="59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4</a:t>
            </a:r>
            <a:r>
              <a:rPr b="1" lang="en"/>
              <a:t>. Final Result(Training Data)</a:t>
            </a:r>
            <a:endParaRPr b="1"/>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35"/>
          <p:cNvSpPr txBox="1"/>
          <p:nvPr>
            <p:ph type="title"/>
          </p:nvPr>
        </p:nvSpPr>
        <p:spPr>
          <a:xfrm>
            <a:off x="307350" y="198975"/>
            <a:ext cx="7505700" cy="59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Training Model</a:t>
            </a:r>
            <a:endParaRPr b="1"/>
          </a:p>
        </p:txBody>
      </p:sp>
      <p:pic>
        <p:nvPicPr>
          <p:cNvPr id="414" name="Google Shape;414;p35"/>
          <p:cNvPicPr preferRelativeResize="0"/>
          <p:nvPr/>
        </p:nvPicPr>
        <p:blipFill>
          <a:blip r:embed="rId3">
            <a:alphaModFix/>
          </a:blip>
          <a:stretch>
            <a:fillRect/>
          </a:stretch>
        </p:blipFill>
        <p:spPr>
          <a:xfrm>
            <a:off x="1963550" y="1795125"/>
            <a:ext cx="5086350" cy="12382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13"/>
                                        </p:tgtEl>
                                        <p:attrNameLst>
                                          <p:attrName>style.visibility</p:attrName>
                                        </p:attrNameLst>
                                      </p:cBhvr>
                                      <p:to>
                                        <p:strVal val="visible"/>
                                      </p:to>
                                    </p:set>
                                    <p:anim calcmode="lin" valueType="num">
                                      <p:cBhvr additive="base">
                                        <p:cTn dur="1000"/>
                                        <p:tgtEl>
                                          <p:spTgt spid="413"/>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414"/>
                                        </p:tgtEl>
                                        <p:attrNameLst>
                                          <p:attrName>style.visibility</p:attrName>
                                        </p:attrNameLst>
                                      </p:cBhvr>
                                      <p:to>
                                        <p:strVal val="visible"/>
                                      </p:to>
                                    </p:set>
                                    <p:anim calcmode="lin" valueType="num">
                                      <p:cBhvr additive="base">
                                        <p:cTn dur="1000"/>
                                        <p:tgtEl>
                                          <p:spTgt spid="414"/>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36"/>
          <p:cNvSpPr txBox="1"/>
          <p:nvPr>
            <p:ph type="title"/>
          </p:nvPr>
        </p:nvSpPr>
        <p:spPr>
          <a:xfrm>
            <a:off x="2937150" y="2274150"/>
            <a:ext cx="3269700" cy="59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a:t>Model Evaluation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19"/>
                                        </p:tgtEl>
                                        <p:attrNameLst>
                                          <p:attrName>style.visibility</p:attrName>
                                        </p:attrNameLst>
                                      </p:cBhvr>
                                      <p:to>
                                        <p:strVal val="visible"/>
                                      </p:to>
                                    </p:set>
                                    <p:anim calcmode="lin" valueType="num">
                                      <p:cBhvr additive="base">
                                        <p:cTn dur="1000"/>
                                        <p:tgtEl>
                                          <p:spTgt spid="419"/>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37"/>
          <p:cNvSpPr txBox="1"/>
          <p:nvPr>
            <p:ph type="title"/>
          </p:nvPr>
        </p:nvSpPr>
        <p:spPr>
          <a:xfrm>
            <a:off x="460750" y="370975"/>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Model Evaluation</a:t>
            </a:r>
            <a:endParaRPr/>
          </a:p>
        </p:txBody>
      </p:sp>
      <p:pic>
        <p:nvPicPr>
          <p:cNvPr id="425" name="Google Shape;425;p37"/>
          <p:cNvPicPr preferRelativeResize="0"/>
          <p:nvPr/>
        </p:nvPicPr>
        <p:blipFill>
          <a:blip r:embed="rId3">
            <a:alphaModFix/>
          </a:blip>
          <a:stretch>
            <a:fillRect/>
          </a:stretch>
        </p:blipFill>
        <p:spPr>
          <a:xfrm>
            <a:off x="1256675" y="1129275"/>
            <a:ext cx="6471176" cy="35131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24"/>
                                        </p:tgtEl>
                                        <p:attrNameLst>
                                          <p:attrName>style.visibility</p:attrName>
                                        </p:attrNameLst>
                                      </p:cBhvr>
                                      <p:to>
                                        <p:strVal val="visible"/>
                                      </p:to>
                                    </p:set>
                                    <p:anim calcmode="lin" valueType="num">
                                      <p:cBhvr additive="base">
                                        <p:cTn dur="1000"/>
                                        <p:tgtEl>
                                          <p:spTgt spid="424"/>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425"/>
                                        </p:tgtEl>
                                        <p:attrNameLst>
                                          <p:attrName>style.visibility</p:attrName>
                                        </p:attrNameLst>
                                      </p:cBhvr>
                                      <p:to>
                                        <p:strVal val="visible"/>
                                      </p:to>
                                    </p:set>
                                    <p:anim calcmode="lin" valueType="num">
                                      <p:cBhvr additive="base">
                                        <p:cTn dur="1000"/>
                                        <p:tgtEl>
                                          <p:spTgt spid="425"/>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38"/>
          <p:cNvSpPr txBox="1"/>
          <p:nvPr>
            <p:ph type="title"/>
          </p:nvPr>
        </p:nvSpPr>
        <p:spPr>
          <a:xfrm>
            <a:off x="460750" y="370975"/>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Model Evaluation</a:t>
            </a:r>
            <a:endParaRPr/>
          </a:p>
        </p:txBody>
      </p:sp>
      <p:pic>
        <p:nvPicPr>
          <p:cNvPr id="431" name="Google Shape;431;p38"/>
          <p:cNvPicPr preferRelativeResize="0"/>
          <p:nvPr/>
        </p:nvPicPr>
        <p:blipFill>
          <a:blip r:embed="rId3">
            <a:alphaModFix/>
          </a:blip>
          <a:stretch>
            <a:fillRect/>
          </a:stretch>
        </p:blipFill>
        <p:spPr>
          <a:xfrm>
            <a:off x="1649525" y="522625"/>
            <a:ext cx="5626625" cy="40982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39"/>
          <p:cNvSpPr txBox="1"/>
          <p:nvPr>
            <p:ph type="title"/>
          </p:nvPr>
        </p:nvSpPr>
        <p:spPr>
          <a:xfrm>
            <a:off x="460750" y="370975"/>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Model Evaluation</a:t>
            </a:r>
            <a:endParaRPr/>
          </a:p>
        </p:txBody>
      </p:sp>
      <p:pic>
        <p:nvPicPr>
          <p:cNvPr id="437" name="Google Shape;437;p39"/>
          <p:cNvPicPr preferRelativeResize="0"/>
          <p:nvPr/>
        </p:nvPicPr>
        <p:blipFill>
          <a:blip r:embed="rId3">
            <a:alphaModFix/>
          </a:blip>
          <a:stretch>
            <a:fillRect/>
          </a:stretch>
        </p:blipFill>
        <p:spPr>
          <a:xfrm>
            <a:off x="533387" y="1325575"/>
            <a:ext cx="4038600" cy="1409700"/>
          </a:xfrm>
          <a:prstGeom prst="rect">
            <a:avLst/>
          </a:prstGeom>
          <a:noFill/>
          <a:ln>
            <a:noFill/>
          </a:ln>
        </p:spPr>
      </p:pic>
      <p:pic>
        <p:nvPicPr>
          <p:cNvPr id="438" name="Google Shape;438;p39"/>
          <p:cNvPicPr preferRelativeResize="0"/>
          <p:nvPr/>
        </p:nvPicPr>
        <p:blipFill>
          <a:blip r:embed="rId4">
            <a:alphaModFix/>
          </a:blip>
          <a:stretch>
            <a:fillRect/>
          </a:stretch>
        </p:blipFill>
        <p:spPr>
          <a:xfrm>
            <a:off x="733574" y="3013300"/>
            <a:ext cx="3472750" cy="1475225"/>
          </a:xfrm>
          <a:prstGeom prst="rect">
            <a:avLst/>
          </a:prstGeom>
          <a:noFill/>
          <a:ln>
            <a:noFill/>
          </a:ln>
        </p:spPr>
      </p:pic>
      <p:pic>
        <p:nvPicPr>
          <p:cNvPr id="439" name="Google Shape;439;p39"/>
          <p:cNvPicPr preferRelativeResize="0"/>
          <p:nvPr/>
        </p:nvPicPr>
        <p:blipFill>
          <a:blip r:embed="rId5">
            <a:alphaModFix/>
          </a:blip>
          <a:stretch>
            <a:fillRect/>
          </a:stretch>
        </p:blipFill>
        <p:spPr>
          <a:xfrm>
            <a:off x="4206337" y="1263425"/>
            <a:ext cx="4267214" cy="310810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436"/>
                                        </p:tgtEl>
                                        <p:attrNameLst>
                                          <p:attrName>style.visibility</p:attrName>
                                        </p:attrNameLst>
                                      </p:cBhvr>
                                      <p:to>
                                        <p:strVal val="visible"/>
                                      </p:to>
                                    </p:set>
                                    <p:anim calcmode="lin" valueType="num">
                                      <p:cBhvr additive="base">
                                        <p:cTn dur="1000"/>
                                        <p:tgtEl>
                                          <p:spTgt spid="436"/>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37"/>
                                        </p:tgtEl>
                                        <p:attrNameLst>
                                          <p:attrName>style.visibility</p:attrName>
                                        </p:attrNameLst>
                                      </p:cBhvr>
                                      <p:to>
                                        <p:strVal val="visible"/>
                                      </p:to>
                                    </p:set>
                                    <p:anim calcmode="lin" valueType="num">
                                      <p:cBhvr additive="base">
                                        <p:cTn dur="1000"/>
                                        <p:tgtEl>
                                          <p:spTgt spid="437"/>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38"/>
                                        </p:tgtEl>
                                        <p:attrNameLst>
                                          <p:attrName>style.visibility</p:attrName>
                                        </p:attrNameLst>
                                      </p:cBhvr>
                                      <p:to>
                                        <p:strVal val="visible"/>
                                      </p:to>
                                    </p:set>
                                    <p:anim calcmode="lin" valueType="num">
                                      <p:cBhvr additive="base">
                                        <p:cTn dur="1000"/>
                                        <p:tgtEl>
                                          <p:spTgt spid="438"/>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40"/>
          <p:cNvSpPr txBox="1"/>
          <p:nvPr>
            <p:ph type="title"/>
          </p:nvPr>
        </p:nvSpPr>
        <p:spPr>
          <a:xfrm>
            <a:off x="819150" y="6325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Potential Improvement</a:t>
            </a:r>
            <a:endParaRPr/>
          </a:p>
        </p:txBody>
      </p:sp>
      <p:sp>
        <p:nvSpPr>
          <p:cNvPr id="445" name="Google Shape;445;p40"/>
          <p:cNvSpPr txBox="1"/>
          <p:nvPr>
            <p:ph idx="1" type="body"/>
          </p:nvPr>
        </p:nvSpPr>
        <p:spPr>
          <a:xfrm>
            <a:off x="945075" y="1642025"/>
            <a:ext cx="7505700" cy="2448000"/>
          </a:xfrm>
          <a:prstGeom prst="rect">
            <a:avLst/>
          </a:prstGeom>
        </p:spPr>
        <p:txBody>
          <a:bodyPr anchorCtr="0" anchor="t" bIns="91425" lIns="91425" spcFirstLastPara="1" rIns="91425" wrap="square" tIns="91425">
            <a:normAutofit/>
          </a:bodyPr>
          <a:lstStyle/>
          <a:p>
            <a:pPr indent="-330200" lvl="0" marL="457200" rtl="0" algn="l">
              <a:lnSpc>
                <a:spcPct val="150000"/>
              </a:lnSpc>
              <a:spcBef>
                <a:spcPts val="1500"/>
              </a:spcBef>
              <a:spcAft>
                <a:spcPts val="0"/>
              </a:spcAft>
              <a:buClr>
                <a:srgbClr val="374151"/>
              </a:buClr>
              <a:buSzPts val="1600"/>
              <a:buFont typeface="Roboto"/>
              <a:buChar char="●"/>
            </a:pPr>
            <a:r>
              <a:rPr lang="en" sz="1600">
                <a:solidFill>
                  <a:srgbClr val="374151"/>
                </a:solidFill>
                <a:latin typeface="Roboto"/>
                <a:ea typeface="Roboto"/>
                <a:cs typeface="Roboto"/>
                <a:sym typeface="Roboto"/>
              </a:rPr>
              <a:t>Expand train database</a:t>
            </a:r>
            <a:endParaRPr sz="1600">
              <a:solidFill>
                <a:srgbClr val="374151"/>
              </a:solidFill>
              <a:latin typeface="Roboto"/>
              <a:ea typeface="Roboto"/>
              <a:cs typeface="Roboto"/>
              <a:sym typeface="Roboto"/>
            </a:endParaRPr>
          </a:p>
          <a:p>
            <a:pPr indent="-330200" lvl="0" marL="457200" rtl="0" algn="l">
              <a:lnSpc>
                <a:spcPct val="150000"/>
              </a:lnSpc>
              <a:spcBef>
                <a:spcPts val="0"/>
              </a:spcBef>
              <a:spcAft>
                <a:spcPts val="0"/>
              </a:spcAft>
              <a:buClr>
                <a:srgbClr val="374151"/>
              </a:buClr>
              <a:buSzPts val="1600"/>
              <a:buFont typeface="Roboto"/>
              <a:buChar char="●"/>
            </a:pPr>
            <a:r>
              <a:rPr lang="en" sz="1600">
                <a:solidFill>
                  <a:srgbClr val="374151"/>
                </a:solidFill>
                <a:latin typeface="Roboto"/>
                <a:ea typeface="Roboto"/>
                <a:cs typeface="Roboto"/>
                <a:sym typeface="Roboto"/>
              </a:rPr>
              <a:t>Add more features</a:t>
            </a:r>
            <a:endParaRPr sz="1600">
              <a:solidFill>
                <a:srgbClr val="374151"/>
              </a:solidFill>
              <a:latin typeface="Roboto"/>
              <a:ea typeface="Roboto"/>
              <a:cs typeface="Roboto"/>
              <a:sym typeface="Roboto"/>
            </a:endParaRPr>
          </a:p>
          <a:p>
            <a:pPr indent="-330200" lvl="1" marL="914400" rtl="0" algn="l">
              <a:lnSpc>
                <a:spcPct val="150000"/>
              </a:lnSpc>
              <a:spcBef>
                <a:spcPts val="0"/>
              </a:spcBef>
              <a:spcAft>
                <a:spcPts val="0"/>
              </a:spcAft>
              <a:buClr>
                <a:srgbClr val="374151"/>
              </a:buClr>
              <a:buSzPts val="1600"/>
              <a:buFont typeface="Roboto"/>
              <a:buAutoNum type="alphaLcPeriod"/>
            </a:pPr>
            <a:r>
              <a:rPr lang="en" sz="1600">
                <a:solidFill>
                  <a:srgbClr val="374151"/>
                </a:solidFill>
                <a:latin typeface="Roboto"/>
                <a:ea typeface="Roboto"/>
                <a:cs typeface="Roboto"/>
                <a:sym typeface="Roboto"/>
              </a:rPr>
              <a:t>Subjects of emails</a:t>
            </a:r>
            <a:endParaRPr sz="1600">
              <a:solidFill>
                <a:srgbClr val="374151"/>
              </a:solidFill>
              <a:latin typeface="Roboto"/>
              <a:ea typeface="Roboto"/>
              <a:cs typeface="Roboto"/>
              <a:sym typeface="Roboto"/>
            </a:endParaRPr>
          </a:p>
          <a:p>
            <a:pPr indent="-330200" lvl="1" marL="914400" rtl="0" algn="l">
              <a:lnSpc>
                <a:spcPct val="150000"/>
              </a:lnSpc>
              <a:spcBef>
                <a:spcPts val="0"/>
              </a:spcBef>
              <a:spcAft>
                <a:spcPts val="0"/>
              </a:spcAft>
              <a:buClr>
                <a:srgbClr val="374151"/>
              </a:buClr>
              <a:buSzPts val="1600"/>
              <a:buFont typeface="Roboto"/>
              <a:buAutoNum type="alphaLcPeriod"/>
            </a:pPr>
            <a:r>
              <a:rPr lang="en" sz="1600">
                <a:solidFill>
                  <a:srgbClr val="374151"/>
                </a:solidFill>
                <a:latin typeface="Roboto"/>
                <a:ea typeface="Roboto"/>
                <a:cs typeface="Roboto"/>
                <a:sym typeface="Roboto"/>
              </a:rPr>
              <a:t>Format of sender’s email addresses</a:t>
            </a:r>
            <a:endParaRPr sz="1600">
              <a:solidFill>
                <a:srgbClr val="374151"/>
              </a:solidFill>
              <a:latin typeface="Roboto"/>
              <a:ea typeface="Roboto"/>
              <a:cs typeface="Roboto"/>
              <a:sym typeface="Roboto"/>
            </a:endParaRPr>
          </a:p>
          <a:p>
            <a:pPr indent="-330200" lvl="1" marL="914400" rtl="0" algn="l">
              <a:lnSpc>
                <a:spcPct val="150000"/>
              </a:lnSpc>
              <a:spcBef>
                <a:spcPts val="0"/>
              </a:spcBef>
              <a:spcAft>
                <a:spcPts val="0"/>
              </a:spcAft>
              <a:buClr>
                <a:srgbClr val="374151"/>
              </a:buClr>
              <a:buSzPts val="1600"/>
              <a:buFont typeface="Roboto"/>
              <a:buAutoNum type="alphaLcPeriod"/>
            </a:pPr>
            <a:r>
              <a:rPr lang="en" sz="1600">
                <a:solidFill>
                  <a:srgbClr val="374151"/>
                </a:solidFill>
                <a:latin typeface="Roboto"/>
                <a:ea typeface="Roboto"/>
                <a:cs typeface="Roboto"/>
                <a:sym typeface="Roboto"/>
              </a:rPr>
              <a:t>The length of emails</a:t>
            </a:r>
            <a:endParaRPr sz="1600">
              <a:solidFill>
                <a:srgbClr val="374151"/>
              </a:solidFill>
              <a:latin typeface="Roboto"/>
              <a:ea typeface="Roboto"/>
              <a:cs typeface="Roboto"/>
              <a:sym typeface="Roboto"/>
            </a:endParaRPr>
          </a:p>
          <a:p>
            <a:pPr indent="-330200" lvl="1" marL="914400" rtl="0" algn="l">
              <a:lnSpc>
                <a:spcPct val="150000"/>
              </a:lnSpc>
              <a:spcBef>
                <a:spcPts val="0"/>
              </a:spcBef>
              <a:spcAft>
                <a:spcPts val="0"/>
              </a:spcAft>
              <a:buClr>
                <a:srgbClr val="374151"/>
              </a:buClr>
              <a:buSzPts val="1600"/>
              <a:buFont typeface="Roboto"/>
              <a:buAutoNum type="alphaLcPeriod"/>
            </a:pPr>
            <a:r>
              <a:rPr lang="en" sz="1600">
                <a:solidFill>
                  <a:srgbClr val="374151"/>
                </a:solidFill>
                <a:latin typeface="Roboto"/>
                <a:ea typeface="Roboto"/>
                <a:cs typeface="Roboto"/>
                <a:sym typeface="Roboto"/>
              </a:rPr>
              <a:t>Timestamps and sending frequency</a:t>
            </a:r>
            <a:endParaRPr sz="1600">
              <a:solidFill>
                <a:srgbClr val="374151"/>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444"/>
                                        </p:tgtEl>
                                        <p:attrNameLst>
                                          <p:attrName>style.visibility</p:attrName>
                                        </p:attrNameLst>
                                      </p:cBhvr>
                                      <p:to>
                                        <p:strVal val="visible"/>
                                      </p:to>
                                    </p:set>
                                    <p:anim calcmode="lin" valueType="num">
                                      <p:cBhvr additive="base">
                                        <p:cTn dur="1000"/>
                                        <p:tgtEl>
                                          <p:spTgt spid="444"/>
                                        </p:tgtEl>
                                        <p:attrNameLst>
                                          <p:attrName>ppt_w</p:attrName>
                                        </p:attrNameLst>
                                      </p:cBhvr>
                                      <p:tavLst>
                                        <p:tav fmla="" tm="0">
                                          <p:val>
                                            <p:strVal val="0"/>
                                          </p:val>
                                        </p:tav>
                                        <p:tav fmla="" tm="100000">
                                          <p:val>
                                            <p:strVal val="#ppt_w"/>
                                          </p:val>
                                        </p:tav>
                                      </p:tavLst>
                                    </p:anim>
                                    <p:anim calcmode="lin" valueType="num">
                                      <p:cBhvr additive="base">
                                        <p:cTn dur="1000"/>
                                        <p:tgtEl>
                                          <p:spTgt spid="444"/>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45"/>
                                        </p:tgtEl>
                                        <p:attrNameLst>
                                          <p:attrName>style.visibility</p:attrName>
                                        </p:attrNameLst>
                                      </p:cBhvr>
                                      <p:to>
                                        <p:strVal val="visible"/>
                                      </p:to>
                                    </p:set>
                                    <p:anim calcmode="lin" valueType="num">
                                      <p:cBhvr additive="base">
                                        <p:cTn dur="1000"/>
                                        <p:tgtEl>
                                          <p:spTgt spid="445"/>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41"/>
          <p:cNvSpPr txBox="1"/>
          <p:nvPr>
            <p:ph type="title"/>
          </p:nvPr>
        </p:nvSpPr>
        <p:spPr>
          <a:xfrm>
            <a:off x="819150" y="6325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Results and Discussion</a:t>
            </a:r>
            <a:endParaRPr/>
          </a:p>
        </p:txBody>
      </p:sp>
      <p:sp>
        <p:nvSpPr>
          <p:cNvPr id="451" name="Google Shape;451;p41"/>
          <p:cNvSpPr txBox="1"/>
          <p:nvPr>
            <p:ph idx="1" type="body"/>
          </p:nvPr>
        </p:nvSpPr>
        <p:spPr>
          <a:xfrm>
            <a:off x="604500" y="1430650"/>
            <a:ext cx="7935000" cy="2390700"/>
          </a:xfrm>
          <a:prstGeom prst="rect">
            <a:avLst/>
          </a:prstGeom>
        </p:spPr>
        <p:txBody>
          <a:bodyPr anchorCtr="0" anchor="t" bIns="91425" lIns="91425" spcFirstLastPara="1" rIns="91425" wrap="square" tIns="91425">
            <a:normAutofit/>
          </a:bodyPr>
          <a:lstStyle/>
          <a:p>
            <a:pPr indent="-323850" lvl="0" marL="457200" rtl="0" algn="l">
              <a:spcBef>
                <a:spcPts val="1500"/>
              </a:spcBef>
              <a:spcAft>
                <a:spcPts val="0"/>
              </a:spcAft>
              <a:buClr>
                <a:srgbClr val="374151"/>
              </a:buClr>
              <a:buSzPts val="1500"/>
              <a:buFont typeface="Roboto"/>
              <a:buChar char="●"/>
            </a:pPr>
            <a:r>
              <a:rPr lang="en" sz="1500">
                <a:solidFill>
                  <a:srgbClr val="374151"/>
                </a:solidFill>
                <a:latin typeface="Roboto"/>
                <a:ea typeface="Roboto"/>
                <a:cs typeface="Roboto"/>
                <a:sym typeface="Roboto"/>
              </a:rPr>
              <a:t>Present the model's performance metrics obtained during evaluation.</a:t>
            </a:r>
            <a:endParaRPr sz="1500">
              <a:solidFill>
                <a:srgbClr val="374151"/>
              </a:solidFill>
              <a:latin typeface="Roboto"/>
              <a:ea typeface="Roboto"/>
              <a:cs typeface="Roboto"/>
              <a:sym typeface="Roboto"/>
            </a:endParaRPr>
          </a:p>
          <a:p>
            <a:pPr indent="-323850" lvl="0" marL="457200" rtl="0" algn="l">
              <a:spcBef>
                <a:spcPts val="0"/>
              </a:spcBef>
              <a:spcAft>
                <a:spcPts val="0"/>
              </a:spcAft>
              <a:buClr>
                <a:srgbClr val="374151"/>
              </a:buClr>
              <a:buSzPts val="1500"/>
              <a:buFont typeface="Roboto"/>
              <a:buChar char="●"/>
            </a:pPr>
            <a:r>
              <a:rPr lang="en" sz="1500">
                <a:solidFill>
                  <a:srgbClr val="374151"/>
                </a:solidFill>
                <a:latin typeface="Roboto"/>
                <a:ea typeface="Roboto"/>
                <a:cs typeface="Roboto"/>
                <a:sym typeface="Roboto"/>
              </a:rPr>
              <a:t>Discuss the implications of the results and potential areas for improvement</a:t>
            </a:r>
            <a:endParaRPr sz="1500">
              <a:solidFill>
                <a:srgbClr val="374151"/>
              </a:solidFill>
              <a:latin typeface="Roboto"/>
              <a:ea typeface="Roboto"/>
              <a:cs typeface="Roboto"/>
              <a:sym typeface="Roboto"/>
            </a:endParaRPr>
          </a:p>
          <a:p>
            <a:pPr indent="-323850" lvl="0" marL="457200" rtl="0" algn="l">
              <a:spcBef>
                <a:spcPts val="0"/>
              </a:spcBef>
              <a:spcAft>
                <a:spcPts val="0"/>
              </a:spcAft>
              <a:buClr>
                <a:srgbClr val="374151"/>
              </a:buClr>
              <a:buSzPts val="1500"/>
              <a:buFont typeface="Roboto"/>
              <a:buChar char="●"/>
            </a:pPr>
            <a:r>
              <a:rPr lang="en" sz="1500">
                <a:solidFill>
                  <a:srgbClr val="374151"/>
                </a:solidFill>
                <a:latin typeface="Roboto"/>
                <a:ea typeface="Roboto"/>
                <a:cs typeface="Roboto"/>
                <a:sym typeface="Roboto"/>
              </a:rPr>
              <a:t>Performance Metrics: Discuss the model's effectiveness in distinguishing between spam and non-spam.</a:t>
            </a:r>
            <a:endParaRPr sz="1500">
              <a:solidFill>
                <a:srgbClr val="374151"/>
              </a:solidFill>
              <a:latin typeface="Roboto"/>
              <a:ea typeface="Roboto"/>
              <a:cs typeface="Roboto"/>
              <a:sym typeface="Roboto"/>
            </a:endParaRPr>
          </a:p>
          <a:p>
            <a:pPr indent="-323850" lvl="0" marL="457200" rtl="0" algn="l">
              <a:spcBef>
                <a:spcPts val="0"/>
              </a:spcBef>
              <a:spcAft>
                <a:spcPts val="0"/>
              </a:spcAft>
              <a:buClr>
                <a:srgbClr val="374151"/>
              </a:buClr>
              <a:buSzPts val="1500"/>
              <a:buFont typeface="Roboto"/>
              <a:buChar char="●"/>
            </a:pPr>
            <a:r>
              <a:rPr lang="en" sz="1500">
                <a:solidFill>
                  <a:srgbClr val="374151"/>
                </a:solidFill>
                <a:latin typeface="Roboto"/>
                <a:ea typeface="Roboto"/>
                <a:cs typeface="Roboto"/>
                <a:sym typeface="Roboto"/>
              </a:rPr>
              <a:t>Improvements and Challenges: Address areas for potential enhancement and difficulties faced in the process.</a:t>
            </a:r>
            <a:endParaRPr sz="1500">
              <a:solidFill>
                <a:srgbClr val="374151"/>
              </a:solidFill>
              <a:latin typeface="Roboto"/>
              <a:ea typeface="Roboto"/>
              <a:cs typeface="Roboto"/>
              <a:sym typeface="Roboto"/>
            </a:endParaRPr>
          </a:p>
          <a:p>
            <a:pPr indent="-323850" lvl="0" marL="457200" rtl="0" algn="l">
              <a:spcBef>
                <a:spcPts val="0"/>
              </a:spcBef>
              <a:spcAft>
                <a:spcPts val="0"/>
              </a:spcAft>
              <a:buClr>
                <a:srgbClr val="374151"/>
              </a:buClr>
              <a:buSzPts val="1500"/>
              <a:buFont typeface="Roboto"/>
              <a:buChar char="●"/>
            </a:pPr>
            <a:r>
              <a:rPr lang="en" sz="1500">
                <a:solidFill>
                  <a:srgbClr val="374151"/>
                </a:solidFill>
                <a:latin typeface="Roboto"/>
                <a:ea typeface="Roboto"/>
                <a:cs typeface="Roboto"/>
                <a:sym typeface="Roboto"/>
              </a:rPr>
              <a:t>Display the model's performance metrics (accuracy, precision, recall).</a:t>
            </a:r>
            <a:endParaRPr sz="1500">
              <a:solidFill>
                <a:srgbClr val="374151"/>
              </a:solidFill>
              <a:latin typeface="Roboto"/>
              <a:ea typeface="Roboto"/>
              <a:cs typeface="Roboto"/>
              <a:sym typeface="Roboto"/>
            </a:endParaRPr>
          </a:p>
          <a:p>
            <a:pPr indent="-323850" lvl="0" marL="457200" rtl="0" algn="l">
              <a:spcBef>
                <a:spcPts val="0"/>
              </a:spcBef>
              <a:spcAft>
                <a:spcPts val="0"/>
              </a:spcAft>
              <a:buClr>
                <a:srgbClr val="374151"/>
              </a:buClr>
              <a:buSzPts val="1500"/>
              <a:buFont typeface="Roboto"/>
              <a:buChar char="●"/>
            </a:pPr>
            <a:r>
              <a:rPr lang="en" sz="1500">
                <a:solidFill>
                  <a:srgbClr val="374151"/>
                </a:solidFill>
                <a:latin typeface="Roboto"/>
                <a:ea typeface="Roboto"/>
                <a:cs typeface="Roboto"/>
                <a:sym typeface="Roboto"/>
              </a:rPr>
              <a:t>Discuss the outcomes and potential improvements.</a:t>
            </a:r>
            <a:endParaRPr sz="1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450"/>
                                        </p:tgtEl>
                                        <p:attrNameLst>
                                          <p:attrName>style.visibility</p:attrName>
                                        </p:attrNameLst>
                                      </p:cBhvr>
                                      <p:to>
                                        <p:strVal val="visible"/>
                                      </p:to>
                                    </p:set>
                                    <p:anim calcmode="lin" valueType="num">
                                      <p:cBhvr additive="base">
                                        <p:cTn dur="1000"/>
                                        <p:tgtEl>
                                          <p:spTgt spid="450"/>
                                        </p:tgtEl>
                                        <p:attrNameLst>
                                          <p:attrName>ppt_w</p:attrName>
                                        </p:attrNameLst>
                                      </p:cBhvr>
                                      <p:tavLst>
                                        <p:tav fmla="" tm="0">
                                          <p:val>
                                            <p:strVal val="0"/>
                                          </p:val>
                                        </p:tav>
                                        <p:tav fmla="" tm="100000">
                                          <p:val>
                                            <p:strVal val="#ppt_w"/>
                                          </p:val>
                                        </p:tav>
                                      </p:tavLst>
                                    </p:anim>
                                    <p:anim calcmode="lin" valueType="num">
                                      <p:cBhvr additive="base">
                                        <p:cTn dur="1000"/>
                                        <p:tgtEl>
                                          <p:spTgt spid="450"/>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1"/>
                                        </p:tgtEl>
                                        <p:attrNameLst>
                                          <p:attrName>style.visibility</p:attrName>
                                        </p:attrNameLst>
                                      </p:cBhvr>
                                      <p:to>
                                        <p:strVal val="visible"/>
                                      </p:to>
                                    </p:set>
                                    <p:animEffect filter="fade" transition="in">
                                      <p:cBhvr>
                                        <p:cTn dur="1000"/>
                                        <p:tgtEl>
                                          <p:spTgt spid="4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42"/>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References</a:t>
            </a:r>
            <a:endParaRPr/>
          </a:p>
        </p:txBody>
      </p:sp>
      <p:sp>
        <p:nvSpPr>
          <p:cNvPr id="457" name="Google Shape;457;p42"/>
          <p:cNvSpPr txBox="1"/>
          <p:nvPr>
            <p:ph idx="1" type="body"/>
          </p:nvPr>
        </p:nvSpPr>
        <p:spPr>
          <a:xfrm>
            <a:off x="346200" y="1551450"/>
            <a:ext cx="8797800" cy="1987500"/>
          </a:xfrm>
          <a:prstGeom prst="rect">
            <a:avLst/>
          </a:prstGeom>
        </p:spPr>
        <p:txBody>
          <a:bodyPr anchorCtr="0" anchor="t" bIns="91425" lIns="91425" spcFirstLastPara="1" rIns="91425" wrap="square" tIns="91425">
            <a:noAutofit/>
          </a:bodyPr>
          <a:lstStyle/>
          <a:p>
            <a:pPr indent="-290195" lvl="0" marL="457200" rtl="0" algn="l">
              <a:lnSpc>
                <a:spcPct val="150000"/>
              </a:lnSpc>
              <a:spcBef>
                <a:spcPts val="0"/>
              </a:spcBef>
              <a:spcAft>
                <a:spcPts val="0"/>
              </a:spcAft>
              <a:buClr>
                <a:srgbClr val="374151"/>
              </a:buClr>
              <a:buSzPts val="970"/>
              <a:buFont typeface="Times New Roman"/>
              <a:buChar char="●"/>
            </a:pPr>
            <a:r>
              <a:rPr lang="en" sz="970">
                <a:solidFill>
                  <a:srgbClr val="374151"/>
                </a:solidFill>
                <a:highlight>
                  <a:schemeClr val="dk1"/>
                </a:highlight>
                <a:latin typeface="Times New Roman"/>
                <a:ea typeface="Times New Roman"/>
                <a:cs typeface="Times New Roman"/>
                <a:sym typeface="Times New Roman"/>
              </a:rPr>
              <a:t>Hopkins,Mark, Reeber,Erik, Forman,George, and Suermondt,Jaap. (1999). Spambase. UCI Machine Learning Repository. </a:t>
            </a:r>
            <a:r>
              <a:rPr lang="en" sz="970" u="sng">
                <a:solidFill>
                  <a:schemeClr val="hlink"/>
                </a:solidFill>
                <a:highlight>
                  <a:schemeClr val="dk1"/>
                </a:highlight>
                <a:latin typeface="Times New Roman"/>
                <a:ea typeface="Times New Roman"/>
                <a:cs typeface="Times New Roman"/>
                <a:sym typeface="Times New Roman"/>
                <a:hlinkClick r:id="rId3"/>
              </a:rPr>
              <a:t>https://doi.org/10.24432/C53G6X</a:t>
            </a:r>
            <a:r>
              <a:rPr lang="en" sz="970">
                <a:solidFill>
                  <a:srgbClr val="374151"/>
                </a:solidFill>
                <a:highlight>
                  <a:schemeClr val="dk1"/>
                </a:highlight>
                <a:latin typeface="Times New Roman"/>
                <a:ea typeface="Times New Roman"/>
                <a:cs typeface="Times New Roman"/>
                <a:sym typeface="Times New Roman"/>
              </a:rPr>
              <a:t>.</a:t>
            </a:r>
            <a:endParaRPr sz="970">
              <a:solidFill>
                <a:srgbClr val="374151"/>
              </a:solidFill>
              <a:highlight>
                <a:schemeClr val="dk1"/>
              </a:highlight>
              <a:latin typeface="Times New Roman"/>
              <a:ea typeface="Times New Roman"/>
              <a:cs typeface="Times New Roman"/>
              <a:sym typeface="Times New Roman"/>
            </a:endParaRPr>
          </a:p>
          <a:p>
            <a:pPr indent="-290195" lvl="0" marL="457200" rtl="0" algn="l">
              <a:lnSpc>
                <a:spcPct val="150000"/>
              </a:lnSpc>
              <a:spcBef>
                <a:spcPts val="0"/>
              </a:spcBef>
              <a:spcAft>
                <a:spcPts val="0"/>
              </a:spcAft>
              <a:buClr>
                <a:srgbClr val="374151"/>
              </a:buClr>
              <a:buSzPts val="970"/>
              <a:buFont typeface="Times New Roman"/>
              <a:buChar char="●"/>
            </a:pPr>
            <a:r>
              <a:rPr i="1" lang="en" sz="1041">
                <a:solidFill>
                  <a:srgbClr val="2C3E50"/>
                </a:solidFill>
                <a:highlight>
                  <a:schemeClr val="dk1"/>
                </a:highlight>
                <a:latin typeface="Times New Roman"/>
                <a:ea typeface="Times New Roman"/>
                <a:cs typeface="Times New Roman"/>
                <a:sym typeface="Times New Roman"/>
              </a:rPr>
              <a:t>Naive Bayes text classification</a:t>
            </a:r>
            <a:r>
              <a:rPr lang="en" sz="1041">
                <a:solidFill>
                  <a:srgbClr val="2C3E50"/>
                </a:solidFill>
                <a:highlight>
                  <a:schemeClr val="dk1"/>
                </a:highlight>
                <a:latin typeface="Times New Roman"/>
                <a:ea typeface="Times New Roman"/>
                <a:cs typeface="Times New Roman"/>
                <a:sym typeface="Times New Roman"/>
              </a:rPr>
              <a:t>. (2009). Stanford.edu.</a:t>
            </a:r>
            <a:endParaRPr sz="1041">
              <a:solidFill>
                <a:srgbClr val="2C3E50"/>
              </a:solidFill>
              <a:highlight>
                <a:schemeClr val="dk1"/>
              </a:highlight>
              <a:latin typeface="Times New Roman"/>
              <a:ea typeface="Times New Roman"/>
              <a:cs typeface="Times New Roman"/>
              <a:sym typeface="Times New Roman"/>
            </a:endParaRPr>
          </a:p>
          <a:p>
            <a:pPr indent="-294719" lvl="0" marL="457200" rtl="0" algn="l">
              <a:lnSpc>
                <a:spcPct val="150000"/>
              </a:lnSpc>
              <a:spcBef>
                <a:spcPts val="0"/>
              </a:spcBef>
              <a:spcAft>
                <a:spcPts val="0"/>
              </a:spcAft>
              <a:buClr>
                <a:srgbClr val="2C3E50"/>
              </a:buClr>
              <a:buSzPts val="1041"/>
              <a:buFont typeface="Times New Roman"/>
              <a:buChar char="●"/>
            </a:pPr>
            <a:r>
              <a:rPr lang="en" sz="1041">
                <a:solidFill>
                  <a:srgbClr val="2C3E50"/>
                </a:solidFill>
                <a:highlight>
                  <a:schemeClr val="dk1"/>
                </a:highlight>
                <a:latin typeface="Times New Roman"/>
                <a:ea typeface="Times New Roman"/>
                <a:cs typeface="Times New Roman"/>
                <a:sym typeface="Times New Roman"/>
              </a:rPr>
              <a:t>Scikit-learn: Machine Learning in Python, Pedregosa et al., JMLR 12, pp. 2825-2830, 2011.</a:t>
            </a:r>
            <a:endParaRPr sz="1041">
              <a:solidFill>
                <a:srgbClr val="2C3E50"/>
              </a:solidFill>
              <a:highlight>
                <a:schemeClr val="dk1"/>
              </a:highlight>
              <a:latin typeface="Times New Roman"/>
              <a:ea typeface="Times New Roman"/>
              <a:cs typeface="Times New Roman"/>
              <a:sym typeface="Times New Roman"/>
            </a:endParaRPr>
          </a:p>
          <a:p>
            <a:pPr indent="-294719" lvl="0" marL="457200" rtl="0" algn="l">
              <a:lnSpc>
                <a:spcPct val="150000"/>
              </a:lnSpc>
              <a:spcBef>
                <a:spcPts val="0"/>
              </a:spcBef>
              <a:spcAft>
                <a:spcPts val="0"/>
              </a:spcAft>
              <a:buClr>
                <a:srgbClr val="2C3E50"/>
              </a:buClr>
              <a:buSzPts val="1041"/>
              <a:buFont typeface="Times New Roman"/>
              <a:buChar char="●"/>
            </a:pPr>
            <a:r>
              <a:rPr lang="en" sz="970">
                <a:solidFill>
                  <a:srgbClr val="000000"/>
                </a:solidFill>
                <a:highlight>
                  <a:schemeClr val="dk1"/>
                </a:highlight>
                <a:latin typeface="Times New Roman"/>
                <a:ea typeface="Times New Roman"/>
                <a:cs typeface="Times New Roman"/>
                <a:sym typeface="Times New Roman"/>
              </a:rPr>
              <a:t>“Naive Bayes, Clearly Explained!!!” </a:t>
            </a:r>
            <a:r>
              <a:rPr i="1" lang="en" sz="970">
                <a:solidFill>
                  <a:srgbClr val="000000"/>
                </a:solidFill>
                <a:highlight>
                  <a:schemeClr val="dk1"/>
                </a:highlight>
                <a:latin typeface="Times New Roman"/>
                <a:ea typeface="Times New Roman"/>
                <a:cs typeface="Times New Roman"/>
                <a:sym typeface="Times New Roman"/>
              </a:rPr>
              <a:t>Www.youtube.com</a:t>
            </a:r>
            <a:r>
              <a:rPr lang="en" sz="970">
                <a:solidFill>
                  <a:srgbClr val="000000"/>
                </a:solidFill>
                <a:highlight>
                  <a:schemeClr val="dk1"/>
                </a:highlight>
                <a:latin typeface="Times New Roman"/>
                <a:ea typeface="Times New Roman"/>
                <a:cs typeface="Times New Roman"/>
                <a:sym typeface="Times New Roman"/>
              </a:rPr>
              <a:t>, </a:t>
            </a:r>
            <a:r>
              <a:rPr lang="en" sz="970" u="sng">
                <a:solidFill>
                  <a:schemeClr val="hlink"/>
                </a:solidFill>
                <a:highlight>
                  <a:schemeClr val="dk1"/>
                </a:highlight>
                <a:latin typeface="Times New Roman"/>
                <a:ea typeface="Times New Roman"/>
                <a:cs typeface="Times New Roman"/>
                <a:sym typeface="Times New Roman"/>
                <a:hlinkClick r:id="rId4"/>
              </a:rPr>
              <a:t>www.youtube.com/watch?v=O2L2Uv9pdDA&amp;t=429s&amp;ab_channel=StatQuestwithJoshStarmer</a:t>
            </a:r>
            <a:r>
              <a:rPr lang="en" sz="970">
                <a:solidFill>
                  <a:srgbClr val="000000"/>
                </a:solidFill>
                <a:highlight>
                  <a:schemeClr val="dk1"/>
                </a:highlight>
                <a:latin typeface="Times New Roman"/>
                <a:ea typeface="Times New Roman"/>
                <a:cs typeface="Times New Roman"/>
                <a:sym typeface="Times New Roman"/>
              </a:rPr>
              <a:t>.</a:t>
            </a:r>
            <a:endParaRPr sz="970">
              <a:solidFill>
                <a:srgbClr val="000000"/>
              </a:solidFill>
              <a:highlight>
                <a:schemeClr val="dk1"/>
              </a:highlight>
              <a:latin typeface="Times New Roman"/>
              <a:ea typeface="Times New Roman"/>
              <a:cs typeface="Times New Roman"/>
              <a:sym typeface="Times New Roman"/>
            </a:endParaRPr>
          </a:p>
          <a:p>
            <a:pPr indent="-290195" lvl="0" marL="457200" rtl="0" algn="l">
              <a:lnSpc>
                <a:spcPct val="150000"/>
              </a:lnSpc>
              <a:spcBef>
                <a:spcPts val="0"/>
              </a:spcBef>
              <a:spcAft>
                <a:spcPts val="0"/>
              </a:spcAft>
              <a:buClr>
                <a:srgbClr val="000000"/>
              </a:buClr>
              <a:buSzPts val="970"/>
              <a:buFont typeface="Times New Roman"/>
              <a:buChar char="●"/>
            </a:pPr>
            <a:r>
              <a:rPr lang="en" sz="1100" u="sng">
                <a:solidFill>
                  <a:schemeClr val="hlink"/>
                </a:solidFill>
                <a:latin typeface="Arial"/>
                <a:ea typeface="Arial"/>
                <a:cs typeface="Arial"/>
                <a:sym typeface="Arial"/>
                <a:hlinkClick r:id="rId5"/>
              </a:rPr>
              <a:t>Laplace smoothing in Naïve Bayes algorithm | by Vaibhav Jayaswal | Towards Data Science</a:t>
            </a:r>
            <a:endParaRPr sz="970">
              <a:solidFill>
                <a:srgbClr val="000000"/>
              </a:solidFill>
              <a:highlight>
                <a:schemeClr val="dk1"/>
              </a:highlight>
              <a:latin typeface="Times New Roman"/>
              <a:ea typeface="Times New Roman"/>
              <a:cs typeface="Times New Roman"/>
              <a:sym typeface="Times New Roman"/>
            </a:endParaRPr>
          </a:p>
          <a:p>
            <a:pPr indent="-290195" lvl="0" marL="457200" rtl="0" algn="l">
              <a:lnSpc>
                <a:spcPct val="150000"/>
              </a:lnSpc>
              <a:spcBef>
                <a:spcPts val="0"/>
              </a:spcBef>
              <a:spcAft>
                <a:spcPts val="0"/>
              </a:spcAft>
              <a:buClr>
                <a:srgbClr val="000000"/>
              </a:buClr>
              <a:buSzPts val="970"/>
              <a:buFont typeface="Times New Roman"/>
              <a:buChar char="●"/>
            </a:pPr>
            <a:r>
              <a:rPr lang="en" sz="1100" u="sng">
                <a:solidFill>
                  <a:schemeClr val="hlink"/>
                </a:solidFill>
                <a:latin typeface="Arial"/>
                <a:ea typeface="Arial"/>
                <a:cs typeface="Arial"/>
                <a:sym typeface="Arial"/>
                <a:hlinkClick r:id="rId6"/>
              </a:rPr>
              <a:t>Understanding Naïve Bayes algorithm | by Vaibhav Jayaswal | Towards Data Science</a:t>
            </a:r>
            <a:endParaRPr sz="1041">
              <a:solidFill>
                <a:srgbClr val="2C3E50"/>
              </a:solidFill>
              <a:highlight>
                <a:schemeClr val="dk1"/>
              </a:highlight>
              <a:latin typeface="Times New Roman"/>
              <a:ea typeface="Times New Roman"/>
              <a:cs typeface="Times New Roman"/>
              <a:sym typeface="Times New Roman"/>
            </a:endParaRPr>
          </a:p>
          <a:p>
            <a:pPr indent="-294719" lvl="0" marL="457200" rtl="0" algn="l">
              <a:lnSpc>
                <a:spcPct val="150000"/>
              </a:lnSpc>
              <a:spcBef>
                <a:spcPts val="0"/>
              </a:spcBef>
              <a:spcAft>
                <a:spcPts val="0"/>
              </a:spcAft>
              <a:buClr>
                <a:srgbClr val="2C3E50"/>
              </a:buClr>
              <a:buSzPts val="1041"/>
              <a:buFont typeface="Times New Roman"/>
              <a:buChar char="●"/>
            </a:pPr>
            <a:r>
              <a:rPr lang="en" sz="1100" u="sng">
                <a:solidFill>
                  <a:schemeClr val="hlink"/>
                </a:solidFill>
                <a:latin typeface="Arial"/>
                <a:ea typeface="Arial"/>
                <a:cs typeface="Arial"/>
                <a:sym typeface="Arial"/>
                <a:hlinkClick r:id="rId7"/>
              </a:rPr>
              <a:t>Spam Filter in Python: Naive Bayes from Scratch - KDnuggets</a:t>
            </a:r>
            <a:endParaRPr sz="1041">
              <a:solidFill>
                <a:srgbClr val="2C3E50"/>
              </a:solidFill>
              <a:highlight>
                <a:schemeClr val="dk1"/>
              </a:highlight>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